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1" r:id="rId2"/>
    <p:sldId id="272" r:id="rId3"/>
    <p:sldId id="273" r:id="rId4"/>
    <p:sldId id="274" r:id="rId5"/>
    <p:sldId id="275" r:id="rId6"/>
    <p:sldId id="276" r:id="rId7"/>
    <p:sldId id="278" r:id="rId8"/>
    <p:sldId id="279" r:id="rId9"/>
    <p:sldId id="283" r:id="rId10"/>
    <p:sldId id="280" r:id="rId11"/>
    <p:sldId id="281" r:id="rId12"/>
    <p:sldId id="256" r:id="rId13"/>
    <p:sldId id="257" r:id="rId14"/>
    <p:sldId id="259" r:id="rId15"/>
    <p:sldId id="258" r:id="rId16"/>
    <p:sldId id="260" r:id="rId17"/>
    <p:sldId id="268" r:id="rId18"/>
    <p:sldId id="269" r:id="rId19"/>
    <p:sldId id="264" r:id="rId20"/>
    <p:sldId id="266" r:id="rId21"/>
    <p:sldId id="267" r:id="rId22"/>
    <p:sldId id="265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w vEr" id="{4A9BECDF-EE26-5447-A2C3-5ADEDE16B4F4}">
          <p14:sldIdLst>
            <p14:sldId id="271"/>
            <p14:sldId id="272"/>
            <p14:sldId id="273"/>
            <p14:sldId id="274"/>
            <p14:sldId id="275"/>
            <p14:sldId id="276"/>
            <p14:sldId id="278"/>
            <p14:sldId id="279"/>
            <p14:sldId id="283"/>
            <p14:sldId id="280"/>
            <p14:sldId id="281"/>
          </p14:sldIdLst>
        </p14:section>
        <p14:section name="Old VEr" id="{40F3F946-A73A-954C-A5FE-D6B6EB8A99F1}">
          <p14:sldIdLst>
            <p14:sldId id="256"/>
            <p14:sldId id="257"/>
            <p14:sldId id="259"/>
            <p14:sldId id="258"/>
            <p14:sldId id="260"/>
            <p14:sldId id="268"/>
            <p14:sldId id="269"/>
            <p14:sldId id="264"/>
            <p14:sldId id="266"/>
            <p14:sldId id="267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A91006-BE89-4D97-A6DF-BA8EC548553F}" v="2605" dt="2026-03-07T23:36:42.385"/>
    <p1510:client id="{D5A19685-C609-814B-92D5-C4ABF1CB05F1}" v="3047" dt="2026-03-07T09:24:22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52" d="100"/>
          <a:sy n="152" d="100"/>
        </p:scale>
        <p:origin x="604" y="1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09:22:34.9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4642 83 24575,'-72'0'0,"27"0"0,-6 0 0,0 0 0,-8 0-413,-1-4 0,-1-2 413,-17 4-505,28-3 0,-8-3 0,8 1 505,-28-3-594,29 6 1,-7 0-1,2 0 594,-3 0 0,0 1 0,-18-3 0,0 2-608,25 3 0,0 0 608,-14-4 0,-1 1 0,13 3 0,1 2 0,1-2 0,-2 2 0,-14 1 0,3 5 0,-9 12 0,9-4 0,2 2 0,-2 9 0,9-7 0,0-1 0,-7 8 0,9 2 0,-3 3 0,5-5 0,1 1 0,9 1 0,-2 1 0,-12 1 0,-1-2 0,10-4 0,-2 0 0,-19 6 0,-5 3 0,18-6 0,0 1 0,-1-3 0,-1-3 0,1-4 0,-1 2-502,0 4 1,-1 0 0,5-3 501,-5-5 0,2-1 0,-8 4 0,4 1 410,-14 7-410,34-13 0,-1 0 0,-3-1 0,4 0 0,-2 0 0,-32 12 0,15 1 1711,10-3-1711,-14 9 0,14-9 0,-19 19 1265,24-17-1265,-12 21 0,11-3 0,-12 18 0,12-12 1860,-7 25-1860,20-19 393,6-10 1,1 0-394,-3 16 0,-9 11 0,9-20 0,1 0 373,4-11-373,16-11 0,0-12 0,4 5 436,-2-6-436,3-1 0,0 0 0,0-3 0,-2 3 0,1-3 0,-2 3 0,3 7 0,0-5 0,0 5 0,3-10 0,-2-1 0,-1-8 0,-12 0 0,1-8 0,-1 3 0,7-2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09:22:34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24575,'7'13'0,"3"9"0,-2-7 0,10 26 0,-6-13 0,5 28 0,2-4 0,0 3 0,5 30 0,-5-23 0,0-1 0,-1 9 0,-7-11 0,-2-20 0,-3-4 0,-1-22 0,-4-1 0,2-4 0,0-3 0,-3 2 0,6-3 0,-2 1 0,2 2 0,0-6 0,3 3 0,1-4 0,55-38 0,-5-15-465,-20 20 1,3-2 464,5-8 0,-2-1 0,-14 6 0,-2 3 0,34-21 0,-31 21 0,-1 0 0,13-11-133,-2 11 133,1-9 0,-30 35 0,1-2 0,-9 8 0,-3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09:22:34.9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78 24575,'10'0'0,"26"-15"0,31 1-935,-13 1 0,2-1 935,-10 7 0,1 2-1215,26 0 1,2 1 1214,-14 3 0,2 2 0,-8-1 0,3 0 0,2 0 0,3 0 0,0 0 0,0 0 0,-4-1 0,-1 1 0,-2 1 0,11 1 0,-1 3 0,-13 1 0,2 1 0,-4 2 0,7 5 0,-1 4 0,-3-2 0,3 2 0,0 2-746,3 1 0,1 2 1,-2 1 745,-6-3 0,-1 2 0,0 0 0,5 6 0,0 1 0,-5-3-1003,-5-6 0,-3 2 1003,16 14 0,-1 2-323,-17-13 1,1 1 322,19 9 0,2 2 0,-7-2 0,-2-1 0,1-4 0,-4-2 1282,16 8-1282,-22-5 0,-1-1 0,17 0 768,-14 1 1,2 2-769,-7-9 0,0-2 0,-3 1 0,-3-1 2372,12 9-2372,1-3 1795,-28-2-1795,13-5 394,-10 13-394,-2-18 1807,-8 7-1807,0-6 0,7 11 0,-1 2 0,8 20 0,-4-11 0,-3 15 0,-10-27 0,4 7 0,-9-19 0,3 1 0,-10-8 0,3-2 0,-6-7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09:22:34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548 1 24575,'6'7'0,"1"9"0,7 21 0,-3 9 0,18 25 0,-14 2 0,1-25 0,0 2-358,-5 0 0,0 0 358,3 1 0,0-1 0,7 47 0,-4-35 0,-8-13 0,-4-26 0,-5-14 0,-4-2 0,-2-7 716,-3 0-716,-24-7 0,-19-12 0,3-2-1011,1-1 0,-2-3 1011,9 3 0,0-1 0,-17-7 0,-3-1 0,1 0 0,3 0 0,16 7 0,3 2 0,-21-8 0,27 7 0,21 17 0,0 0 0,8 3 0,3 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09:22:34.9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2451 4490 24575,'-5'-8'0,"-8"-6"0,-15-5 0,-7-7 0,-19-13 0,-3-3-804,-8-9 804,-1-1 0,0 1 0,1 0 0,5-9-683,22 29 0,0-4 683,9-3 0,-1-5-862,-7-1 0,-5-3 1,3 0 861,0-12 0,1-1 0,0 11 0,-2-2 0,4 1 0,1-9 0,0 0 0,2 6 0,-3-2 0,1 2 0,-4-9 0,1 1 0,-5-14 0,-3-2 0,9 19 0,-3 0 0,6 3 0,8 4 0,-1-3 0,-15-22 0,-8-12 0,9 12 0,16 23 0,1 1 0,-10-19 0,-4-8 0,3 4 0,1-1 0,1-1 0,2 4 0,-2-6 0,3 7 0,0 1 0,2 1 0,6 6 0,1-3 0,1 4-613,-3 0 0,2 4 613,1-6 0,1-2 0,-8-12 0,1 3 0,9 28 0,0 1 0,-7-26 0,1-3 0,4 10 0,0 4 0,2 9 0,0 2 0,3-3 0,1 1-138,-7-33 138,-4-3 1053,14 22-1053,-11 1 2534,18 38-2534,-10-15 1518,12 22-1518,-5 6 0,5 11 0,-2 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09:22:34.9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 0 24575,'0'13'0,"0"3"0,-6 39 0,4-21 0,-9 45 0,10-32 0,-9 11 0,-5 37 0,3-39 0,-2 23 0,10-47 0,4-8 0,-8 25 0,6-26 0,-8 12 0,9-24 0,-2-10 0,3 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09:22:34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91 24575,'18'-9'0,"1"2"0,5-13 0,0 3 0,-7 2 0,0 1 0,-10 9 0,2 2 0,-3 3 0,4 3 0,-1 5 0,22 21 0,-9-7 0,27 26 0,-9-10 0,10 3 0,-2-2 0,-18-19 0,7 13 0,-17-19 0,0 10 0,-8-19 0,-9-1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09:22:34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3512 17579,'12'8'0,"6"1"3134,1 1-3134,14 2 1198,12-6-1198,3 7 0,15-11 0,-12-8 0,1-2 6,25-4-6,-20-5 0,-1-3 0,10-7 0,-30 10 0,2-2 70,19-10 1,1-1-71,-15 10 0,1-2 0,8-7 0,6-5 0,-8 4 0,19-11 0,-20 2 0,6-8 0,-7 8 0,9-5 0,-9-6 0,2-4 0,-2 12 0,-2 4 0,-11 5 0,0-2 0,9-7 0,5-3 0,-6 7 0,22-13 0,-6 0 0,-3 2 0,-13 18-266,6-8 1,-4 2 265,-18 15 0,12-18 0,-2-1 0,-17 19 0,15-23 0,0-1 0,-15 20 0,12-29 0,0-1 0,-14 25 0,11-29 0,-1-1 0,-12 26 0,12-19 0,0-2 0,-10 15 0,16-42 0,3-3 0,-15 18-404,4-5 0,0-1 404,-5 4 0,-2-7 0,-1-2 1660,-4-4-1660,4 10 0,1 0 0,-4-7 0,0 19 0,-1 3 0,-8 12 0,7-44 557,-12 66-557,8-23 0,-9 34 0,6 1 1609,-5 4-1609,2-1 30,-3 1-30,0-4 0,0 3 0,0-14 0,0-10 0,0 5 0,0-14 0,0 24 0,0-1 0,-3 3 0,2 3 0,-2-3 0,3 3 0,-2-3 0,1 7 0,-2-3 0,3 4 0,0-1 0,0 1 0,0 0 0,0-4 0,0 2 0,-3-2 0,3 1 0,-3-2 0,3-4 0,-3 8 0,2-2 0,-1 6 0,2 1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09:22:34.9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0 300 24575,'9'-5'0,"1"-2"0,3 2 0,32-24 0,9-6 0,-16 9 0,1-2 0,-2 0 0,-5 2 0,6-10 0,-3 2 0,-24 17 0,4 2 0,-6 7 0,1 8 0,4 27 0,0-10 0,4 25 0,0-6 0,6 4 0,-3 7 0,1 2 0,10 13 0,5 17 0,-19-37 0,7-1 0,-8-12 0,2 7 0,-10-24 0,-9-4 0,6 0 0,-2-4 0,2 0 0,0 0 0,3-3 0,-1 2 0,1-3 0,-6 4 0,3-3 0,-5 2 0,1-3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9566D-361B-48AE-B81F-F222499529FE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B1E5A-B5D9-45C1-AC92-8CF1D009CD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241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To.</a:t>
            </a:r>
            <a:r>
              <a:rPr lang="ko-KR" altLang="en-US"/>
              <a:t> </a:t>
            </a:r>
            <a:r>
              <a:rPr lang="ko-KR" altLang="en-US" err="1"/>
              <a:t>클로드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여기서부터 다음 장표로 이동할 때에는</a:t>
            </a:r>
            <a:r>
              <a:rPr lang="en-US" altLang="ko-KR"/>
              <a:t>, ppt</a:t>
            </a:r>
            <a:r>
              <a:rPr lang="ko-KR" altLang="en-US"/>
              <a:t>에서 슬라이드 </a:t>
            </a:r>
            <a:r>
              <a:rPr lang="ko-KR" altLang="en-US" err="1"/>
              <a:t>모핑</a:t>
            </a:r>
            <a:r>
              <a:rPr lang="ko-KR" altLang="en-US"/>
              <a:t> 전환 효과처럼 보여줘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B1E5A-B5D9-45C1-AC92-8CF1D009CD1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300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472E5-E764-6BA4-51A4-9CD2A955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540965-C1FF-E167-B0CF-C6AFC3889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CD52C7-D997-FB82-7193-7F4A36C2A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To. </a:t>
            </a:r>
            <a:r>
              <a:rPr lang="ko-KR" altLang="en-US" err="1"/>
              <a:t>클로드</a:t>
            </a:r>
            <a:endParaRPr lang="en-US" altLang="ko-KR"/>
          </a:p>
          <a:p>
            <a:pPr marL="171450" indent="-171450">
              <a:buFontTx/>
              <a:buChar char="-"/>
            </a:pPr>
            <a:r>
              <a:rPr lang="ko-KR" altLang="en-US"/>
              <a:t>위에 </a:t>
            </a:r>
            <a:r>
              <a:rPr lang="en-US" altLang="ko-KR"/>
              <a:t>01, 02, 03</a:t>
            </a:r>
            <a:r>
              <a:rPr lang="ko-KR" altLang="en-US"/>
              <a:t>은 목차에 있는 내용이야</a:t>
            </a:r>
            <a:r>
              <a:rPr lang="en-US" altLang="ko-KR"/>
              <a:t>, </a:t>
            </a:r>
            <a:r>
              <a:rPr lang="ko-KR" altLang="en-US"/>
              <a:t>지금 내가 어느 순서의 내용을 보고 있는지 알려주는 지표야</a:t>
            </a:r>
            <a:r>
              <a:rPr lang="en-US" altLang="ko-KR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/>
              <a:t>그래서 내가 보고 있는 페이지인 경우</a:t>
            </a:r>
            <a:r>
              <a:rPr lang="en-US" altLang="ko-KR"/>
              <a:t>, </a:t>
            </a:r>
            <a:r>
              <a:rPr lang="ko-KR" altLang="en-US"/>
              <a:t>해당 번호가 눈에 띄게 보여줬으면 좋겠고</a:t>
            </a:r>
            <a:endParaRPr lang="en-US" altLang="ko-KR"/>
          </a:p>
          <a:p>
            <a:pPr marL="171450" indent="-171450">
              <a:buFontTx/>
              <a:buChar char="-"/>
            </a:pPr>
            <a:r>
              <a:rPr lang="ko-KR" altLang="en-US"/>
              <a:t>각 버튼을 클릭하면 해당하는 목차 내용의 첫번째 슬라이드가 나오게 이동해줘</a:t>
            </a:r>
            <a:endParaRPr lang="en-US" altLang="ko-KR"/>
          </a:p>
          <a:p>
            <a:pPr marL="171450" indent="-171450">
              <a:buFontTx/>
              <a:buChar char="-"/>
            </a:pPr>
            <a:r>
              <a:rPr lang="ko-KR" altLang="en-US"/>
              <a:t>이 장표를 포함해서 앞으로 빨간색 글씨</a:t>
            </a:r>
            <a:r>
              <a:rPr lang="en-US" altLang="ko-KR"/>
              <a:t>, </a:t>
            </a:r>
            <a:r>
              <a:rPr lang="ko-KR" altLang="en-US"/>
              <a:t>또는 빨간색 도형이 있다면 그것은 강조를 주고 싶은 내용이니까 눈에 띄는 색으로 바꾸고 화려한 애니메이션 효과를 넣어줘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8FB26-FB0F-85FE-671F-88172F212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B1E5A-B5D9-45C1-AC92-8CF1D009CD1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010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To. </a:t>
            </a:r>
            <a:r>
              <a:rPr lang="ko-KR" altLang="en-US" err="1"/>
              <a:t>클로드</a:t>
            </a:r>
            <a:endParaRPr lang="en-US" altLang="ko-KR"/>
          </a:p>
          <a:p>
            <a:pPr marL="171450" indent="-171450">
              <a:buFontTx/>
              <a:buChar char="-"/>
            </a:pPr>
            <a:r>
              <a:rPr lang="ko-KR" altLang="en-US"/>
              <a:t>위에 </a:t>
            </a:r>
            <a:r>
              <a:rPr lang="en-US" altLang="ko-KR"/>
              <a:t>01, 02, 03</a:t>
            </a:r>
            <a:r>
              <a:rPr lang="ko-KR" altLang="en-US"/>
              <a:t>은 목차에 있는 내용이야</a:t>
            </a:r>
            <a:r>
              <a:rPr lang="en-US" altLang="ko-KR"/>
              <a:t>, </a:t>
            </a:r>
            <a:r>
              <a:rPr lang="ko-KR" altLang="en-US"/>
              <a:t>지금 내가 어느 순서의 내용을 보고 있는지 알려주는 지표야</a:t>
            </a:r>
            <a:r>
              <a:rPr lang="en-US" altLang="ko-KR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/>
              <a:t>그래서 내가 보고 있는 페이지인 경우</a:t>
            </a:r>
            <a:r>
              <a:rPr lang="en-US" altLang="ko-KR"/>
              <a:t>, </a:t>
            </a:r>
            <a:r>
              <a:rPr lang="ko-KR" altLang="en-US"/>
              <a:t>해당 번호가 눈에 띄게 보여줬으면 좋겠고</a:t>
            </a:r>
            <a:endParaRPr lang="en-US" altLang="ko-KR"/>
          </a:p>
          <a:p>
            <a:pPr marL="171450" indent="-171450">
              <a:buFontTx/>
              <a:buChar char="-"/>
            </a:pPr>
            <a:r>
              <a:rPr lang="ko-KR" altLang="en-US"/>
              <a:t>각 버튼을 클릭하면 해당하는 목차 내용의 첫번째 슬라이드가 나오게 이동해줘</a:t>
            </a:r>
            <a:endParaRPr lang="en-US" altLang="ko-KR"/>
          </a:p>
          <a:p>
            <a:pPr marL="171450" indent="-171450">
              <a:buFontTx/>
              <a:buChar char="-"/>
            </a:pPr>
            <a:r>
              <a:rPr lang="ko-KR" altLang="en-US"/>
              <a:t>이 장표를 포함해서 앞으로 빨간색 글씨</a:t>
            </a:r>
            <a:r>
              <a:rPr lang="en-US" altLang="ko-KR"/>
              <a:t>, </a:t>
            </a:r>
            <a:r>
              <a:rPr lang="ko-KR" altLang="en-US"/>
              <a:t>또는 빨간색 도형이 있다면 그것은 강조를 주고 싶은 내용이니까 눈에 띄는 색으로 바꾸고 화려한 애니메이션 효과를 넣어줘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B1E5A-B5D9-45C1-AC92-8CF1D009CD1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035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F8E3D-689C-B6B3-BEC5-9DEFD8647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5862FE-79F5-48A7-6E06-81B2CEC64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C87E1A-E865-778B-958E-B47B60CA4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F8A436-2588-71D9-5AC5-3AC61F26F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A3A1-CA83-4D81-9C50-567CBD9AD87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433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A3A1-CA83-4D81-9C50-567CBD9AD87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060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0A02B-AF3B-D3F4-6751-3B27E42C1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EA361B-CB70-EDF1-5A90-3A6B1D88B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90D84B-DE4E-8162-3C3D-F1FD64BFF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D34969-2703-4C64-3373-C53E16FE7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A3A1-CA83-4D81-9C50-567CBD9AD87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936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B58B-466C-A022-78F7-C054D3D8F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829355-4809-7CF8-E2AF-0B9A5B1FB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297927-5825-104A-8113-D939382B0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8B56BE-ABF3-4CF5-F232-75B79C0F6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A3A1-CA83-4D81-9C50-567CBD9AD87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01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B58B-466C-A022-78F7-C054D3D8F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829355-4809-7CF8-E2AF-0B9A5B1FB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297927-5825-104A-8113-D939382B0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8B56BE-ABF3-4CF5-F232-75B79C0F6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A3A1-CA83-4D81-9C50-567CBD9AD87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998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To.</a:t>
            </a:r>
            <a:r>
              <a:rPr lang="ko-KR" altLang="en-US"/>
              <a:t> </a:t>
            </a:r>
            <a:r>
              <a:rPr lang="ko-KR" altLang="en-US" err="1"/>
              <a:t>클로드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여기서부터 다음 장표로 이동할 때에는</a:t>
            </a:r>
            <a:r>
              <a:rPr lang="en-US" altLang="ko-KR"/>
              <a:t>, ppt</a:t>
            </a:r>
            <a:r>
              <a:rPr lang="ko-KR" altLang="en-US"/>
              <a:t>에서 슬라이드 </a:t>
            </a:r>
            <a:r>
              <a:rPr lang="ko-KR" altLang="en-US" err="1"/>
              <a:t>모핑</a:t>
            </a:r>
            <a:r>
              <a:rPr lang="ko-KR" altLang="en-US"/>
              <a:t> 전환 효과처럼 보여줘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B1E5A-B5D9-45C1-AC92-8CF1D009CD1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477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472E5-E764-6BA4-51A4-9CD2A955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540965-C1FF-E167-B0CF-C6AFC3889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CD52C7-D997-FB82-7193-7F4A36C2A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To. </a:t>
            </a:r>
            <a:r>
              <a:rPr lang="ko-KR" altLang="en-US" err="1"/>
              <a:t>클로드</a:t>
            </a:r>
            <a:endParaRPr lang="en-US" altLang="ko-KR"/>
          </a:p>
          <a:p>
            <a:pPr marL="171450" indent="-171450">
              <a:buFontTx/>
              <a:buChar char="-"/>
            </a:pPr>
            <a:r>
              <a:rPr lang="ko-KR" altLang="en-US"/>
              <a:t>위에 </a:t>
            </a:r>
            <a:r>
              <a:rPr lang="en-US" altLang="ko-KR"/>
              <a:t>01, 02, 03</a:t>
            </a:r>
            <a:r>
              <a:rPr lang="ko-KR" altLang="en-US"/>
              <a:t>은 목차에 있는 내용이야</a:t>
            </a:r>
            <a:r>
              <a:rPr lang="en-US" altLang="ko-KR"/>
              <a:t>, </a:t>
            </a:r>
            <a:r>
              <a:rPr lang="ko-KR" altLang="en-US"/>
              <a:t>지금 내가 어느 순서의 내용을 보고 있는지 알려주는 지표야</a:t>
            </a:r>
            <a:r>
              <a:rPr lang="en-US" altLang="ko-KR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/>
              <a:t>그래서 내가 보고 있는 페이지인 경우</a:t>
            </a:r>
            <a:r>
              <a:rPr lang="en-US" altLang="ko-KR"/>
              <a:t>, </a:t>
            </a:r>
            <a:r>
              <a:rPr lang="ko-KR" altLang="en-US"/>
              <a:t>해당 번호가 눈에 띄게 보여줬으면 좋겠고</a:t>
            </a:r>
            <a:endParaRPr lang="en-US" altLang="ko-KR"/>
          </a:p>
          <a:p>
            <a:pPr marL="171450" indent="-171450">
              <a:buFontTx/>
              <a:buChar char="-"/>
            </a:pPr>
            <a:r>
              <a:rPr lang="ko-KR" altLang="en-US"/>
              <a:t>각 버튼을 클릭하면 해당하는 목차 내용의 첫번째 슬라이드가 나오게 이동해줘</a:t>
            </a:r>
            <a:endParaRPr lang="en-US" altLang="ko-KR"/>
          </a:p>
          <a:p>
            <a:pPr marL="171450" indent="-171450">
              <a:buFontTx/>
              <a:buChar char="-"/>
            </a:pPr>
            <a:r>
              <a:rPr lang="ko-KR" altLang="en-US"/>
              <a:t>이 장표를 포함해서 앞으로 빨간색 글씨</a:t>
            </a:r>
            <a:r>
              <a:rPr lang="en-US" altLang="ko-KR"/>
              <a:t>, </a:t>
            </a:r>
            <a:r>
              <a:rPr lang="ko-KR" altLang="en-US"/>
              <a:t>또는 빨간색 도형이 있다면 그것은 강조를 주고 싶은 내용이니까 눈에 띄는 색으로 바꾸고 화려한 애니메이션 효과를 넣어줘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8FB26-FB0F-85FE-671F-88172F212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B1E5A-B5D9-45C1-AC92-8CF1D009CD1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913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To. </a:t>
            </a:r>
            <a:r>
              <a:rPr lang="ko-KR" altLang="en-US" err="1"/>
              <a:t>클로드</a:t>
            </a:r>
            <a:endParaRPr lang="en-US" altLang="ko-KR"/>
          </a:p>
          <a:p>
            <a:pPr marL="171450" indent="-171450">
              <a:buFontTx/>
              <a:buChar char="-"/>
            </a:pPr>
            <a:r>
              <a:rPr lang="ko-KR" altLang="en-US"/>
              <a:t>위에 </a:t>
            </a:r>
            <a:r>
              <a:rPr lang="en-US" altLang="ko-KR"/>
              <a:t>01, 02, 03</a:t>
            </a:r>
            <a:r>
              <a:rPr lang="ko-KR" altLang="en-US"/>
              <a:t>은 목차에 있는 내용이야</a:t>
            </a:r>
            <a:r>
              <a:rPr lang="en-US" altLang="ko-KR"/>
              <a:t>, </a:t>
            </a:r>
            <a:r>
              <a:rPr lang="ko-KR" altLang="en-US"/>
              <a:t>지금 내가 어느 순서의 내용을 보고 있는지 알려주는 지표야</a:t>
            </a:r>
            <a:r>
              <a:rPr lang="en-US" altLang="ko-KR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/>
              <a:t>그래서 내가 보고 있는 페이지인 경우</a:t>
            </a:r>
            <a:r>
              <a:rPr lang="en-US" altLang="ko-KR"/>
              <a:t>, </a:t>
            </a:r>
            <a:r>
              <a:rPr lang="ko-KR" altLang="en-US"/>
              <a:t>해당 번호가 눈에 띄게 보여줬으면 좋겠고</a:t>
            </a:r>
            <a:endParaRPr lang="en-US" altLang="ko-KR"/>
          </a:p>
          <a:p>
            <a:pPr marL="171450" indent="-171450">
              <a:buFontTx/>
              <a:buChar char="-"/>
            </a:pPr>
            <a:r>
              <a:rPr lang="ko-KR" altLang="en-US"/>
              <a:t>각 버튼을 클릭하면 해당하는 목차 내용의 첫번째 슬라이드가 나오게 이동해줘</a:t>
            </a:r>
            <a:endParaRPr lang="en-US" altLang="ko-KR"/>
          </a:p>
          <a:p>
            <a:pPr marL="171450" indent="-171450">
              <a:buFontTx/>
              <a:buChar char="-"/>
            </a:pPr>
            <a:r>
              <a:rPr lang="ko-KR" altLang="en-US"/>
              <a:t>이 장표를 포함해서 앞으로 빨간색 글씨</a:t>
            </a:r>
            <a:r>
              <a:rPr lang="en-US" altLang="ko-KR"/>
              <a:t>, </a:t>
            </a:r>
            <a:r>
              <a:rPr lang="ko-KR" altLang="en-US"/>
              <a:t>또는 빨간색 도형이 있다면 그것은 강조를 주고 싶은 내용이니까 눈에 띄는 색으로 바꾸고 화려한 애니메이션 효과를 넣어줘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B1E5A-B5D9-45C1-AC92-8CF1D009CD1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467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F8E3D-689C-B6B3-BEC5-9DEFD8647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5862FE-79F5-48A7-6E06-81B2CEC64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C87E1A-E865-778B-958E-B47B60CA4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F8A436-2588-71D9-5AC5-3AC61F26F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A3A1-CA83-4D81-9C50-567CBD9AD87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7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A3A1-CA83-4D81-9C50-567CBD9AD87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706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0A02B-AF3B-D3F4-6751-3B27E42C1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EA361B-CB70-EDF1-5A90-3A6B1D88B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90D84B-DE4E-8162-3C3D-F1FD64BFF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D34969-2703-4C64-3373-C53E16FE7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A3A1-CA83-4D81-9C50-567CBD9AD87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1033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B58B-466C-A022-78F7-C054D3D8F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829355-4809-7CF8-E2AF-0B9A5B1FB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297927-5825-104A-8113-D939382B0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8B56BE-ABF3-4CF5-F232-75B79C0F6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EA3A1-CA83-4D81-9C50-567CBD9AD87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459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6.xml"/><Relationship Id="rId18" Type="http://schemas.openxmlformats.org/officeDocument/2006/relationships/image" Target="../media/image1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3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2.png"/><Relationship Id="rId19" Type="http://schemas.openxmlformats.org/officeDocument/2006/relationships/customXml" Target="../ink/ink9.xml"/><Relationship Id="rId4" Type="http://schemas.openxmlformats.org/officeDocument/2006/relationships/image" Target="../media/image9.png"/><Relationship Id="rId9" Type="http://schemas.openxmlformats.org/officeDocument/2006/relationships/customXml" Target="../ink/ink4.xml"/><Relationship Id="rId1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6B2D723-9023-A10F-1B11-E3585E8CC1D8}"/>
              </a:ext>
            </a:extLst>
          </p:cNvPr>
          <p:cNvSpPr/>
          <p:nvPr/>
        </p:nvSpPr>
        <p:spPr>
          <a:xfrm>
            <a:off x="1815736" y="2209800"/>
            <a:ext cx="8299269" cy="1219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/>
              <a:t>2026 </a:t>
            </a:r>
            <a:r>
              <a:rPr lang="ko-KR" altLang="en-US" sz="4400"/>
              <a:t>게임 서비스 기획</a:t>
            </a:r>
            <a:r>
              <a:rPr lang="en-US" altLang="ko-KR" sz="4400"/>
              <a:t>(</a:t>
            </a:r>
            <a:r>
              <a:rPr lang="ko-KR" altLang="en-US" sz="4400"/>
              <a:t>안</a:t>
            </a:r>
            <a:r>
              <a:rPr lang="en-US" altLang="ko-KR" sz="4400"/>
              <a:t>)</a:t>
            </a:r>
            <a:endParaRPr lang="ko-KR" altLang="en-US" sz="4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76EA4F-DB03-0F86-995C-6464607AD90C}"/>
              </a:ext>
            </a:extLst>
          </p:cNvPr>
          <p:cNvSpPr/>
          <p:nvPr/>
        </p:nvSpPr>
        <p:spPr>
          <a:xfrm>
            <a:off x="3622765" y="4182292"/>
            <a:ext cx="4685212" cy="415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에듀테크 플랫폼 기획 </a:t>
            </a:r>
            <a:r>
              <a:rPr lang="en-US" altLang="ko-KR"/>
              <a:t>Core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593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BBE984B-633D-212F-58B6-1F3705698CB1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870CD-4B23-FC41-986E-B11F925A4697}"/>
              </a:ext>
            </a:extLst>
          </p:cNvPr>
          <p:cNvSpPr txBox="1"/>
          <p:nvPr/>
        </p:nvSpPr>
        <p:spPr>
          <a:xfrm>
            <a:off x="130629" y="775063"/>
            <a:ext cx="4525598" cy="1666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/>
              <a:t>Why – </a:t>
            </a:r>
            <a:r>
              <a:rPr lang="ko-KR" altLang="en-US"/>
              <a:t>현 </a:t>
            </a:r>
            <a:r>
              <a:rPr lang="ko-KR" altLang="en-US" err="1"/>
              <a:t>게이미피케이션</a:t>
            </a:r>
            <a:r>
              <a:rPr lang="ko-KR" altLang="en-US"/>
              <a:t> 시장의 경향</a:t>
            </a:r>
            <a:endParaRPr lang="en-US" altLang="ko-KR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/>
              <a:t>What – </a:t>
            </a:r>
            <a:r>
              <a:rPr lang="ko-KR" altLang="en-US"/>
              <a:t>교사에게 필요한 게임 서비스</a:t>
            </a:r>
            <a:endParaRPr lang="en-US" altLang="ko-KR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/>
              <a:t>When – </a:t>
            </a:r>
            <a:r>
              <a:rPr lang="ko-KR" altLang="en-US"/>
              <a:t>액션 플랜</a:t>
            </a:r>
          </a:p>
        </p:txBody>
      </p:sp>
    </p:spTree>
    <p:extLst>
      <p:ext uri="{BB962C8B-B14F-4D97-AF65-F5344CB8AC3E}">
        <p14:creationId xmlns:p14="http://schemas.microsoft.com/office/powerpoint/2010/main" val="865595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8C322-BB47-BE8D-1DE8-A120203D5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5C2C856-D453-73DA-F824-0C47655375B5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 </a:t>
            </a:r>
            <a:r>
              <a:rPr lang="ko-KR" altLang="en-US"/>
              <a:t>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C8946B-98D4-D1D4-FAC4-2672310DDEF2}"/>
              </a:ext>
            </a:extLst>
          </p:cNvPr>
          <p:cNvSpPr/>
          <p:nvPr/>
        </p:nvSpPr>
        <p:spPr>
          <a:xfrm>
            <a:off x="5103452" y="121918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709B34-FE15-5A0A-85EA-71C2E16D1EA8}"/>
              </a:ext>
            </a:extLst>
          </p:cNvPr>
          <p:cNvSpPr/>
          <p:nvPr/>
        </p:nvSpPr>
        <p:spPr>
          <a:xfrm>
            <a:off x="9984377" y="121919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B3DCBA9-C363-2510-A379-35C344143917}"/>
              </a:ext>
            </a:extLst>
          </p:cNvPr>
          <p:cNvSpPr/>
          <p:nvPr/>
        </p:nvSpPr>
        <p:spPr>
          <a:xfrm>
            <a:off x="130629" y="842211"/>
            <a:ext cx="11852824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01. </a:t>
            </a:r>
            <a:r>
              <a:rPr lang="ko-KR" altLang="en-US"/>
              <a:t>현 학습용 게임 시장의 경향 </a:t>
            </a:r>
            <a:r>
              <a:rPr lang="en-US" altLang="ko-KR"/>
              <a:t>[1] AIDT </a:t>
            </a:r>
            <a:r>
              <a:rPr lang="ko-KR" altLang="en-US"/>
              <a:t>운영 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1922D06-0C58-DA94-5A6F-37D537C44B01}"/>
              </a:ext>
            </a:extLst>
          </p:cNvPr>
          <p:cNvCxnSpPr>
            <a:endCxn id="5" idx="1"/>
          </p:cNvCxnSpPr>
          <p:nvPr/>
        </p:nvCxnSpPr>
        <p:spPr>
          <a:xfrm>
            <a:off x="2037806" y="404947"/>
            <a:ext cx="3065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6D4008B-3DB5-2631-88AD-B9091FEE47E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10629" y="404947"/>
            <a:ext cx="297374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BEEBFBD-9F0B-B1CD-0C95-112E712DF8AE}"/>
              </a:ext>
            </a:extLst>
          </p:cNvPr>
          <p:cNvSpPr/>
          <p:nvPr/>
        </p:nvSpPr>
        <p:spPr>
          <a:xfrm>
            <a:off x="130629" y="1636295"/>
            <a:ext cx="5394272" cy="4993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AIDT </a:t>
            </a:r>
            <a:r>
              <a:rPr lang="ko-KR" altLang="en-US"/>
              <a:t>내 게임의 모습</a:t>
            </a:r>
            <a:endParaRPr lang="en-US" altLang="ko-KR"/>
          </a:p>
          <a:p>
            <a:pPr algn="ctr"/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AIDT </a:t>
            </a:r>
            <a:r>
              <a:rPr lang="ko-KR" altLang="en-US"/>
              <a:t>교과서 </a:t>
            </a:r>
            <a:r>
              <a:rPr lang="en-US" altLang="ko-KR"/>
              <a:t>-&gt; </a:t>
            </a:r>
            <a:r>
              <a:rPr lang="ko-KR" altLang="en-US"/>
              <a:t>게임 </a:t>
            </a:r>
            <a:r>
              <a:rPr lang="ko-KR" altLang="en-US" err="1"/>
              <a:t>팝업창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4F20D8-AAA4-9621-2B25-2AE168AB833E}"/>
              </a:ext>
            </a:extLst>
          </p:cNvPr>
          <p:cNvSpPr/>
          <p:nvPr/>
        </p:nvSpPr>
        <p:spPr>
          <a:xfrm>
            <a:off x="5707781" y="1636296"/>
            <a:ext cx="6275672" cy="4993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bg1"/>
                </a:solidFill>
              </a:rPr>
              <a:t>    </a:t>
            </a:r>
            <a:r>
              <a:rPr lang="en-US" altLang="ko-KR" b="1">
                <a:solidFill>
                  <a:schemeClr val="bg1"/>
                </a:solidFill>
                <a:highlight>
                  <a:srgbClr val="00FF00"/>
                </a:highlight>
              </a:rPr>
              <a:t>AIDT </a:t>
            </a:r>
            <a:r>
              <a:rPr lang="ko-KR" altLang="en-US" b="1">
                <a:solidFill>
                  <a:schemeClr val="bg1"/>
                </a:solidFill>
                <a:highlight>
                  <a:srgbClr val="00FF00"/>
                </a:highlight>
              </a:rPr>
              <a:t>사용 패턴</a:t>
            </a:r>
            <a:endParaRPr lang="en-US" altLang="ko-KR" b="1">
              <a:solidFill>
                <a:schemeClr val="bg1"/>
              </a:solidFill>
              <a:highlight>
                <a:srgbClr val="00FF00"/>
              </a:highlight>
            </a:endParaRPr>
          </a:p>
          <a:p>
            <a:pPr marL="285750" indent="-285750">
              <a:buFontTx/>
              <a:buChar char="-"/>
            </a:pPr>
            <a:r>
              <a:rPr lang="ko-KR" altLang="en-US">
                <a:solidFill>
                  <a:schemeClr val="bg1"/>
                </a:solidFill>
              </a:rPr>
              <a:t>진입 경로 </a:t>
            </a:r>
            <a:r>
              <a:rPr lang="en-US" altLang="ko-KR">
                <a:solidFill>
                  <a:schemeClr val="bg1"/>
                </a:solidFill>
              </a:rPr>
              <a:t>: </a:t>
            </a:r>
            <a:r>
              <a:rPr lang="ko-KR" altLang="en-US"/>
              <a:t>홈 </a:t>
            </a:r>
            <a:r>
              <a:rPr lang="en-US" altLang="ko-KR"/>
              <a:t>&gt; </a:t>
            </a:r>
            <a:r>
              <a:rPr lang="ko-KR" altLang="en-US"/>
              <a:t>교과서 </a:t>
            </a:r>
            <a:r>
              <a:rPr lang="en-US" altLang="ko-KR"/>
              <a:t>&gt; </a:t>
            </a:r>
            <a:r>
              <a:rPr lang="ko-KR" altLang="en-US"/>
              <a:t>수업 시작 </a:t>
            </a:r>
            <a:r>
              <a:rPr lang="en-US" altLang="ko-KR"/>
              <a:t>&gt; </a:t>
            </a:r>
            <a:r>
              <a:rPr lang="ko-KR" altLang="en-US"/>
              <a:t>게임 진입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>
                <a:solidFill>
                  <a:schemeClr val="bg1"/>
                </a:solidFill>
              </a:rPr>
              <a:t>게임 진입 시점 </a:t>
            </a:r>
            <a:r>
              <a:rPr lang="en-US" altLang="ko-KR">
                <a:solidFill>
                  <a:schemeClr val="bg1"/>
                </a:solidFill>
              </a:rPr>
              <a:t>: </a:t>
            </a:r>
            <a:r>
              <a:rPr lang="ko-KR" altLang="en-US"/>
              <a:t>수업 시작 직후 </a:t>
            </a:r>
            <a:r>
              <a:rPr lang="en-US" altLang="ko-KR"/>
              <a:t>44.2%</a:t>
            </a:r>
          </a:p>
          <a:p>
            <a:pPr marL="285750" indent="-285750">
              <a:buFontTx/>
              <a:buChar char="-"/>
            </a:pPr>
            <a:r>
              <a:rPr lang="ko-KR" altLang="en-US">
                <a:solidFill>
                  <a:schemeClr val="bg1"/>
                </a:solidFill>
              </a:rPr>
              <a:t>사용 시간대</a:t>
            </a:r>
            <a:r>
              <a:rPr lang="en-US" altLang="ko-KR">
                <a:solidFill>
                  <a:schemeClr val="bg1"/>
                </a:solidFill>
              </a:rPr>
              <a:t>: </a:t>
            </a:r>
            <a:r>
              <a:rPr lang="ko-KR" altLang="en-US"/>
              <a:t>오전 </a:t>
            </a:r>
            <a:r>
              <a:rPr lang="en-US" altLang="ko-KR"/>
              <a:t>9</a:t>
            </a:r>
            <a:r>
              <a:rPr lang="ko-KR" altLang="en-US"/>
              <a:t>시 </a:t>
            </a:r>
            <a:r>
              <a:rPr lang="en-US" altLang="ko-KR"/>
              <a:t>~ </a:t>
            </a:r>
            <a:r>
              <a:rPr lang="ko-KR" altLang="en-US"/>
              <a:t>오후 </a:t>
            </a:r>
            <a:r>
              <a:rPr lang="en-US" altLang="ko-KR"/>
              <a:t>3</a:t>
            </a:r>
            <a:r>
              <a:rPr lang="ko-KR" altLang="en-US"/>
              <a:t>시 집중</a:t>
            </a:r>
            <a:r>
              <a:rPr lang="en-US" altLang="ko-KR"/>
              <a:t> </a:t>
            </a:r>
            <a:r>
              <a:rPr lang="ko-KR" altLang="en-US"/>
              <a:t>사용</a:t>
            </a:r>
            <a:br>
              <a:rPr lang="en-US" altLang="ko-KR">
                <a:solidFill>
                  <a:schemeClr val="bg1"/>
                </a:solidFill>
              </a:rPr>
            </a:br>
            <a:endParaRPr lang="en-US" altLang="ko-KR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b="1" err="1">
                <a:solidFill>
                  <a:schemeClr val="bg1"/>
                </a:solidFill>
                <a:highlight>
                  <a:srgbClr val="00FF00"/>
                </a:highlight>
              </a:rPr>
              <a:t>자문단</a:t>
            </a:r>
            <a:r>
              <a:rPr lang="ko-KR" altLang="en-US" b="1">
                <a:solidFill>
                  <a:schemeClr val="bg1"/>
                </a:solidFill>
                <a:highlight>
                  <a:srgbClr val="00FF00"/>
                </a:highlight>
              </a:rPr>
              <a:t> 선생님 의견</a:t>
            </a:r>
            <a:br>
              <a:rPr lang="en-US" altLang="ko-KR">
                <a:solidFill>
                  <a:schemeClr val="bg1"/>
                </a:solidFill>
              </a:rPr>
            </a:br>
            <a:r>
              <a:rPr lang="en-US" altLang="ko-KR">
                <a:solidFill>
                  <a:schemeClr val="bg1"/>
                </a:solidFill>
              </a:rPr>
              <a:t>- </a:t>
            </a:r>
            <a:r>
              <a:rPr lang="ko-KR" altLang="en-US">
                <a:solidFill>
                  <a:schemeClr val="bg1"/>
                </a:solidFill>
              </a:rPr>
              <a:t>학생 집중도가 낮아지는 시점</a:t>
            </a:r>
            <a:r>
              <a:rPr lang="en-US" altLang="ko-KR">
                <a:solidFill>
                  <a:schemeClr val="bg1"/>
                </a:solidFill>
              </a:rPr>
              <a:t>, </a:t>
            </a:r>
            <a:r>
              <a:rPr lang="ko-KR" altLang="en-US">
                <a:solidFill>
                  <a:schemeClr val="bg1"/>
                </a:solidFill>
              </a:rPr>
              <a:t>이목을 끄는 용도로 주요 사용</a:t>
            </a:r>
            <a:r>
              <a:rPr lang="en-US" altLang="ko-KR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>
                <a:solidFill>
                  <a:schemeClr val="bg1"/>
                </a:solidFill>
              </a:rPr>
              <a:t>교사가 직접 게임 문제를 저작하고 싶어함</a:t>
            </a:r>
            <a:r>
              <a:rPr lang="en-US" altLang="ko-KR">
                <a:solidFill>
                  <a:schemeClr val="bg1"/>
                </a:solidFill>
              </a:rPr>
              <a:t>. </a:t>
            </a:r>
            <a:br>
              <a:rPr lang="en-US" altLang="ko-KR">
                <a:solidFill>
                  <a:schemeClr val="bg1"/>
                </a:solidFill>
              </a:rPr>
            </a:br>
            <a:br>
              <a:rPr lang="en-US" altLang="ko-KR">
                <a:solidFill>
                  <a:schemeClr val="bg1"/>
                </a:solidFill>
              </a:rPr>
            </a:br>
            <a:r>
              <a:rPr lang="en-US" altLang="ko-KR" b="1">
                <a:solidFill>
                  <a:srgbClr val="FF0000"/>
                </a:solidFill>
                <a:highlight>
                  <a:srgbClr val="FFFF00"/>
                </a:highlight>
              </a:rPr>
              <a:t>**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현황</a:t>
            </a:r>
            <a:r>
              <a:rPr lang="en-US" altLang="ko-KR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분석 </a:t>
            </a:r>
            <a:r>
              <a:rPr lang="en-US" altLang="ko-KR" b="1">
                <a:solidFill>
                  <a:srgbClr val="FF0000"/>
                </a:solidFill>
                <a:highlight>
                  <a:srgbClr val="FFFF00"/>
                </a:highlight>
              </a:rPr>
              <a:t>**</a:t>
            </a:r>
          </a:p>
          <a:p>
            <a:pPr marL="285750" indent="-285750">
              <a:buFontTx/>
              <a:buChar char="-"/>
            </a:pPr>
            <a:r>
              <a:rPr lang="ko-KR" altLang="en-US">
                <a:solidFill>
                  <a:schemeClr val="bg1"/>
                </a:solidFill>
              </a:rPr>
              <a:t>게임까지의 진입 경로가 길어 수업 중 즉시 활용이 어려움</a:t>
            </a:r>
            <a:r>
              <a:rPr lang="en-US" altLang="ko-KR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>
                <a:solidFill>
                  <a:schemeClr val="bg1"/>
                </a:solidFill>
              </a:rPr>
              <a:t>수업 집중이 필요한 시간대임에도 학생 집중력 유지 수단 부족</a:t>
            </a:r>
            <a:endParaRPr lang="en-US" altLang="ko-KR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BE014C-EA81-A123-403C-104959F93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71" y="1741772"/>
            <a:ext cx="5169783" cy="253902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608CB56-F0A0-D5E7-20A4-23A94F865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63" y="4280794"/>
            <a:ext cx="4919578" cy="249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633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2D53051-92C4-FF16-9211-8F96F1EE4464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 </a:t>
            </a:r>
            <a:r>
              <a:rPr lang="ko-KR" altLang="en-US"/>
              <a:t>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357E87-EAC0-B744-2992-6B72F3185B85}"/>
              </a:ext>
            </a:extLst>
          </p:cNvPr>
          <p:cNvSpPr/>
          <p:nvPr/>
        </p:nvSpPr>
        <p:spPr>
          <a:xfrm>
            <a:off x="5103452" y="121918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5CA429-488D-52CE-22C3-B8A22A9714AD}"/>
              </a:ext>
            </a:extLst>
          </p:cNvPr>
          <p:cNvSpPr/>
          <p:nvPr/>
        </p:nvSpPr>
        <p:spPr>
          <a:xfrm>
            <a:off x="9984377" y="121919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688489D-72C5-34D9-B31C-832390EB076C}"/>
              </a:ext>
            </a:extLst>
          </p:cNvPr>
          <p:cNvSpPr/>
          <p:nvPr/>
        </p:nvSpPr>
        <p:spPr>
          <a:xfrm>
            <a:off x="130629" y="842211"/>
            <a:ext cx="11852824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01. </a:t>
            </a:r>
            <a:r>
              <a:rPr lang="ko-KR" altLang="en-US"/>
              <a:t>현 학습용 게임 시장의 경향 </a:t>
            </a:r>
            <a:r>
              <a:rPr lang="en-US" altLang="ko-KR"/>
              <a:t>[2] Kahoot</a:t>
            </a:r>
            <a:r>
              <a:rPr lang="ko-KR" altLang="en-US"/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F954E97-76FC-95EF-5CDE-6AF2E82E1475}"/>
              </a:ext>
            </a:extLst>
          </p:cNvPr>
          <p:cNvCxnSpPr>
            <a:endCxn id="5" idx="1"/>
          </p:cNvCxnSpPr>
          <p:nvPr/>
        </p:nvCxnSpPr>
        <p:spPr>
          <a:xfrm>
            <a:off x="2037806" y="404947"/>
            <a:ext cx="3065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37D913E-D82A-F1E5-3A62-E9878F06D6F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10629" y="404947"/>
            <a:ext cx="297374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C4A7862-A37A-23D2-F41A-AAAD782B7969}"/>
              </a:ext>
            </a:extLst>
          </p:cNvPr>
          <p:cNvSpPr/>
          <p:nvPr/>
        </p:nvSpPr>
        <p:spPr>
          <a:xfrm>
            <a:off x="130629" y="1636295"/>
            <a:ext cx="5412332" cy="4993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err="1"/>
              <a:t>카훗</a:t>
            </a:r>
            <a:r>
              <a:rPr lang="ko-KR" altLang="en-US"/>
              <a:t> 이미지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09827AD-42CE-36C6-A5C5-4B9E686C4FD4}"/>
              </a:ext>
            </a:extLst>
          </p:cNvPr>
          <p:cNvSpPr/>
          <p:nvPr/>
        </p:nvSpPr>
        <p:spPr>
          <a:xfrm>
            <a:off x="5707781" y="1636296"/>
            <a:ext cx="6275672" cy="4993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err="1">
                <a:solidFill>
                  <a:schemeClr val="bg1"/>
                </a:solidFill>
                <a:highlight>
                  <a:srgbClr val="00FF00"/>
                </a:highlight>
              </a:rPr>
              <a:t>카훗</a:t>
            </a:r>
            <a:r>
              <a:rPr lang="ko-KR" altLang="en-US" sz="1600" b="1">
                <a:solidFill>
                  <a:schemeClr val="bg1"/>
                </a:solidFill>
                <a:highlight>
                  <a:srgbClr val="00FF00"/>
                </a:highlight>
              </a:rPr>
              <a:t> 벤치마킹 포인트 </a:t>
            </a:r>
            <a:r>
              <a:rPr lang="en-US" altLang="ko-KR" sz="1600" b="1">
                <a:solidFill>
                  <a:schemeClr val="bg1"/>
                </a:solidFill>
                <a:highlight>
                  <a:srgbClr val="00FF00"/>
                </a:highlight>
              </a:rPr>
              <a:t>01</a:t>
            </a:r>
            <a:r>
              <a:rPr lang="ko-KR" altLang="en-US" sz="1600">
                <a:highlight>
                  <a:srgbClr val="00FF00"/>
                </a:highlight>
              </a:rPr>
              <a:t> </a:t>
            </a:r>
            <a:r>
              <a:rPr lang="ko-KR" altLang="en-US" sz="1600"/>
              <a:t>낮은 진입장벽</a:t>
            </a:r>
            <a:br>
              <a:rPr lang="en-US" altLang="ko-KR" sz="1600">
                <a:solidFill>
                  <a:schemeClr val="bg1"/>
                </a:solidFill>
              </a:rPr>
            </a:br>
            <a:r>
              <a:rPr lang="en-US" altLang="ko-KR" sz="1600">
                <a:solidFill>
                  <a:schemeClr val="bg1"/>
                </a:solidFill>
              </a:rPr>
              <a:t>- </a:t>
            </a:r>
            <a:r>
              <a:rPr lang="en-US" altLang="ko-KR" sz="1600"/>
              <a:t>PIN </a:t>
            </a:r>
            <a:r>
              <a:rPr lang="ko-KR" altLang="en-US" sz="1600"/>
              <a:t>코드 또는 </a:t>
            </a:r>
            <a:r>
              <a:rPr lang="en-US" altLang="ko-KR" sz="1600"/>
              <a:t>QR </a:t>
            </a:r>
            <a:r>
              <a:rPr lang="ko-KR" altLang="en-US" sz="1600"/>
              <a:t>코드로 별도 가입 없이 즉시 입장</a:t>
            </a:r>
            <a:br>
              <a:rPr lang="en-US" altLang="ko-KR" sz="1600">
                <a:solidFill>
                  <a:schemeClr val="bg1"/>
                </a:solidFill>
              </a:rPr>
            </a:br>
            <a:br>
              <a:rPr lang="en-US" altLang="ko-KR" sz="1600">
                <a:solidFill>
                  <a:schemeClr val="bg1"/>
                </a:solidFill>
              </a:rPr>
            </a:br>
            <a:r>
              <a:rPr lang="ko-KR" altLang="en-US" sz="1600" b="1" err="1">
                <a:solidFill>
                  <a:schemeClr val="bg1"/>
                </a:solidFill>
                <a:highlight>
                  <a:srgbClr val="00FF00"/>
                </a:highlight>
              </a:rPr>
              <a:t>카훗</a:t>
            </a:r>
            <a:r>
              <a:rPr lang="ko-KR" altLang="en-US" sz="1600" b="1">
                <a:solidFill>
                  <a:schemeClr val="bg1"/>
                </a:solidFill>
                <a:highlight>
                  <a:srgbClr val="00FF00"/>
                </a:highlight>
              </a:rPr>
              <a:t> 벤치마킹 포인트 </a:t>
            </a:r>
            <a:r>
              <a:rPr lang="en-US" altLang="ko-KR" sz="1600" b="1">
                <a:solidFill>
                  <a:schemeClr val="bg1"/>
                </a:solidFill>
                <a:highlight>
                  <a:srgbClr val="00FF00"/>
                </a:highlight>
              </a:rPr>
              <a:t>02</a:t>
            </a:r>
            <a:r>
              <a:rPr lang="ko-KR" altLang="en-US" sz="1600">
                <a:highlight>
                  <a:srgbClr val="00FF00"/>
                </a:highlight>
              </a:rPr>
              <a:t> </a:t>
            </a:r>
            <a:r>
              <a:rPr lang="ko-KR" altLang="en-US" sz="1600"/>
              <a:t>콘텐츠 공유 </a:t>
            </a:r>
            <a:r>
              <a:rPr lang="ko-KR" altLang="en-US" sz="1600" err="1"/>
              <a:t>마켓플레이스</a:t>
            </a:r>
            <a:br>
              <a:rPr lang="en-US" altLang="ko-KR" sz="1600">
                <a:solidFill>
                  <a:schemeClr val="bg1"/>
                </a:solidFill>
              </a:rPr>
            </a:br>
            <a:r>
              <a:rPr lang="en-US" altLang="ko-KR" sz="1600">
                <a:solidFill>
                  <a:schemeClr val="bg1"/>
                </a:solidFill>
              </a:rPr>
              <a:t>- </a:t>
            </a:r>
            <a:r>
              <a:rPr lang="ko-KR" altLang="en-US" sz="1600"/>
              <a:t>여러 교사가 만든 콘텐츠를 공유</a:t>
            </a:r>
            <a:r>
              <a:rPr lang="en-US" altLang="ko-KR" sz="1600"/>
              <a:t>·</a:t>
            </a:r>
            <a:r>
              <a:rPr lang="ko-KR" altLang="en-US" sz="1600"/>
              <a:t>사용</a:t>
            </a:r>
            <a:r>
              <a:rPr lang="en-US" altLang="ko-KR" sz="1600"/>
              <a:t>,</a:t>
            </a:r>
            <a:r>
              <a:rPr lang="ko-KR" altLang="en-US" sz="1600"/>
              <a:t> 바로 수업에 활용</a:t>
            </a:r>
            <a:endParaRPr lang="en-US" altLang="ko-KR" sz="1600"/>
          </a:p>
          <a:p>
            <a:br>
              <a:rPr lang="en-US" altLang="ko-KR" sz="1600">
                <a:solidFill>
                  <a:schemeClr val="bg1"/>
                </a:solidFill>
              </a:rPr>
            </a:br>
            <a:r>
              <a:rPr lang="ko-KR" altLang="en-US" sz="1600" b="1" err="1">
                <a:solidFill>
                  <a:schemeClr val="bg1"/>
                </a:solidFill>
                <a:highlight>
                  <a:srgbClr val="00FF00"/>
                </a:highlight>
              </a:rPr>
              <a:t>카훗</a:t>
            </a:r>
            <a:r>
              <a:rPr lang="ko-KR" altLang="en-US" sz="1600" b="1">
                <a:solidFill>
                  <a:schemeClr val="bg1"/>
                </a:solidFill>
                <a:highlight>
                  <a:srgbClr val="00FF00"/>
                </a:highlight>
              </a:rPr>
              <a:t> 아쉬운 포인트 </a:t>
            </a:r>
            <a:r>
              <a:rPr lang="en-US" altLang="ko-KR" sz="1600" b="1">
                <a:solidFill>
                  <a:schemeClr val="bg1"/>
                </a:solidFill>
                <a:highlight>
                  <a:srgbClr val="00FF00"/>
                </a:highlight>
              </a:rPr>
              <a:t>01</a:t>
            </a:r>
            <a:r>
              <a:rPr lang="ko-KR" altLang="en-US" sz="1600">
                <a:highlight>
                  <a:srgbClr val="00FF00"/>
                </a:highlight>
              </a:rPr>
              <a:t> </a:t>
            </a:r>
            <a:r>
              <a:rPr lang="ko-KR" altLang="en-US" sz="1600"/>
              <a:t>결과 중심</a:t>
            </a:r>
            <a:r>
              <a:rPr lang="en-US" altLang="ko-KR" sz="1600"/>
              <a:t>, </a:t>
            </a:r>
            <a:r>
              <a:rPr lang="ko-KR" altLang="en-US" sz="1600"/>
              <a:t>데이터 단절</a:t>
            </a:r>
            <a:br>
              <a:rPr lang="en-US" altLang="ko-KR" sz="1600">
                <a:solidFill>
                  <a:schemeClr val="bg1"/>
                </a:solidFill>
              </a:rPr>
            </a:br>
            <a:r>
              <a:rPr lang="en-US" altLang="ko-KR" sz="1600">
                <a:solidFill>
                  <a:schemeClr val="bg1"/>
                </a:solidFill>
              </a:rPr>
              <a:t>-</a:t>
            </a:r>
            <a:r>
              <a:rPr lang="ko-KR" altLang="en-US" sz="1600"/>
              <a:t> </a:t>
            </a:r>
            <a:r>
              <a:rPr lang="ko-KR" altLang="en-US" sz="1600" err="1"/>
              <a:t>정오답</a:t>
            </a:r>
            <a:r>
              <a:rPr lang="ko-KR" altLang="en-US" sz="1600"/>
              <a:t> 결과만 제공</a:t>
            </a:r>
            <a:r>
              <a:rPr lang="en-US" altLang="ko-KR" sz="1600"/>
              <a:t>, </a:t>
            </a:r>
            <a:r>
              <a:rPr lang="ko-KR" altLang="en-US" sz="1600"/>
              <a:t>교사는 누가 어디서 막혔는지 알 수 없음</a:t>
            </a:r>
            <a:br>
              <a:rPr lang="en-US" altLang="ko-KR" sz="1600">
                <a:solidFill>
                  <a:schemeClr val="bg1"/>
                </a:solidFill>
              </a:rPr>
            </a:br>
            <a:br>
              <a:rPr lang="en-US" altLang="ko-KR" sz="1600">
                <a:solidFill>
                  <a:schemeClr val="bg1"/>
                </a:solidFill>
              </a:rPr>
            </a:br>
            <a:r>
              <a:rPr lang="ko-KR" altLang="en-US" sz="1600" b="1" err="1">
                <a:solidFill>
                  <a:schemeClr val="bg1"/>
                </a:solidFill>
                <a:highlight>
                  <a:srgbClr val="00FF00"/>
                </a:highlight>
              </a:rPr>
              <a:t>카훗</a:t>
            </a:r>
            <a:r>
              <a:rPr lang="ko-KR" altLang="en-US" sz="1600" b="1">
                <a:solidFill>
                  <a:schemeClr val="bg1"/>
                </a:solidFill>
                <a:highlight>
                  <a:srgbClr val="00FF00"/>
                </a:highlight>
              </a:rPr>
              <a:t> 아쉬운 포인트</a:t>
            </a:r>
            <a:r>
              <a:rPr lang="en-US" altLang="ko-KR" sz="1600" b="1">
                <a:solidFill>
                  <a:schemeClr val="bg1"/>
                </a:solidFill>
                <a:highlight>
                  <a:srgbClr val="00FF00"/>
                </a:highlight>
              </a:rPr>
              <a:t>02</a:t>
            </a:r>
            <a:r>
              <a:rPr lang="ko-KR" altLang="en-US" sz="1600">
                <a:highlight>
                  <a:srgbClr val="00FF00"/>
                </a:highlight>
              </a:rPr>
              <a:t> </a:t>
            </a:r>
            <a:r>
              <a:rPr lang="ko-KR" altLang="en-US" sz="1600"/>
              <a:t>검증되지 않은 콘텐츠</a:t>
            </a:r>
            <a:br>
              <a:rPr lang="en-US" altLang="ko-KR" sz="1600">
                <a:solidFill>
                  <a:schemeClr val="bg1"/>
                </a:solidFill>
              </a:rPr>
            </a:br>
            <a:r>
              <a:rPr lang="en-US" altLang="ko-KR" sz="1600">
                <a:solidFill>
                  <a:schemeClr val="bg1"/>
                </a:solidFill>
              </a:rPr>
              <a:t>- </a:t>
            </a:r>
            <a:r>
              <a:rPr lang="ko-KR" altLang="en-US" sz="1600"/>
              <a:t>한국 교육과정과 무관</a:t>
            </a:r>
            <a:r>
              <a:rPr lang="en-US" altLang="ko-KR" sz="1600"/>
              <a:t>, </a:t>
            </a:r>
            <a:r>
              <a:rPr lang="ko-KR" altLang="en-US" sz="1600"/>
              <a:t>교사가 수업 전 직접 내용을 검토</a:t>
            </a:r>
            <a:br>
              <a:rPr lang="en-US" altLang="ko-KR" sz="1600">
                <a:solidFill>
                  <a:schemeClr val="bg1"/>
                </a:solidFill>
              </a:rPr>
            </a:br>
            <a:br>
              <a:rPr lang="en-US" altLang="ko-KR" sz="1600">
                <a:solidFill>
                  <a:schemeClr val="bg1"/>
                </a:solidFill>
              </a:rPr>
            </a:br>
            <a:r>
              <a:rPr lang="en-US" altLang="ko-KR" sz="1600" b="1">
                <a:solidFill>
                  <a:srgbClr val="FF0000"/>
                </a:solidFill>
                <a:highlight>
                  <a:srgbClr val="FFFF00"/>
                </a:highlight>
              </a:rPr>
              <a:t>** </a:t>
            </a:r>
            <a:r>
              <a:rPr lang="ko-KR" altLang="en-US" sz="1600" b="1">
                <a:solidFill>
                  <a:srgbClr val="FF0000"/>
                </a:solidFill>
                <a:highlight>
                  <a:srgbClr val="FFFF00"/>
                </a:highlight>
              </a:rPr>
              <a:t>현황</a:t>
            </a:r>
            <a:r>
              <a:rPr lang="en-US" altLang="ko-KR" sz="160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600" b="1">
                <a:solidFill>
                  <a:srgbClr val="FF0000"/>
                </a:solidFill>
                <a:highlight>
                  <a:srgbClr val="FFFF00"/>
                </a:highlight>
              </a:rPr>
              <a:t>분석 </a:t>
            </a:r>
            <a:r>
              <a:rPr lang="en-US" altLang="ko-KR" sz="1600" b="1">
                <a:solidFill>
                  <a:srgbClr val="FF0000"/>
                </a:solidFill>
                <a:highlight>
                  <a:srgbClr val="FFFF00"/>
                </a:highlight>
              </a:rPr>
              <a:t>**</a:t>
            </a:r>
            <a:br>
              <a:rPr lang="en-US" altLang="ko-KR" sz="1600">
                <a:solidFill>
                  <a:schemeClr val="bg1"/>
                </a:solidFill>
              </a:rPr>
            </a:br>
            <a:r>
              <a:rPr lang="en-US" altLang="ko-KR" sz="1600">
                <a:solidFill>
                  <a:schemeClr val="bg1"/>
                </a:solidFill>
              </a:rPr>
              <a:t>-</a:t>
            </a:r>
            <a:r>
              <a:rPr lang="ko-KR" altLang="en-US" sz="1600">
                <a:solidFill>
                  <a:schemeClr val="bg1"/>
                </a:solidFill>
              </a:rPr>
              <a:t> </a:t>
            </a:r>
            <a:r>
              <a:rPr lang="ko-KR" altLang="en-US" sz="1600"/>
              <a:t>단순 흥미 유발이 아닌</a:t>
            </a:r>
            <a:r>
              <a:rPr lang="en-US" altLang="ko-KR" sz="1600"/>
              <a:t>, </a:t>
            </a:r>
            <a:r>
              <a:rPr lang="ko-KR" altLang="en-US" sz="1600"/>
              <a:t>학습 데이터가 연결되는 의미 있는 게임 서비스가 필요하다</a:t>
            </a:r>
            <a:endParaRPr lang="en-US" altLang="ko-KR" sz="1600"/>
          </a:p>
          <a:p>
            <a:r>
              <a:rPr lang="en-US" altLang="ko-KR" sz="1600"/>
              <a:t>- </a:t>
            </a:r>
            <a:r>
              <a:rPr lang="ko-KR" altLang="en-US" sz="1600"/>
              <a:t>교사가 신뢰할 수 있는 교육과정 기반 콘텐츠가 필요하다</a:t>
            </a:r>
            <a:endParaRPr lang="en-US" altLang="ko-KR" sz="1600"/>
          </a:p>
          <a:p>
            <a:endParaRPr lang="en-US" altLang="ko-KR">
              <a:solidFill>
                <a:schemeClr val="bg1"/>
              </a:solidFill>
            </a:endParaRPr>
          </a:p>
        </p:txBody>
      </p:sp>
      <p:pic>
        <p:nvPicPr>
          <p:cNvPr id="1026" name="Picture 2" descr="텍스트, 스크린샷, 웹사이트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B90950-D37D-5E27-0AC0-F0B723BC5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47" y="1356302"/>
            <a:ext cx="4866833" cy="335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텍스트, 스크린샷, 웹사이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F0F233-97CD-1AC7-D144-4D868774A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55" y="4543563"/>
            <a:ext cx="5083626" cy="28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499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B705E-4B50-959E-61EA-08D856358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757479-3054-D9B2-5C54-005C4F5470CC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 </a:t>
            </a:r>
            <a:r>
              <a:rPr lang="ko-KR" altLang="en-US"/>
              <a:t>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CDAAE3-B634-F890-CF3B-BEF4E8143269}"/>
              </a:ext>
            </a:extLst>
          </p:cNvPr>
          <p:cNvSpPr/>
          <p:nvPr/>
        </p:nvSpPr>
        <p:spPr>
          <a:xfrm>
            <a:off x="5103452" y="121918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09453B-3791-3CD3-8920-AA2756C476BB}"/>
              </a:ext>
            </a:extLst>
          </p:cNvPr>
          <p:cNvSpPr/>
          <p:nvPr/>
        </p:nvSpPr>
        <p:spPr>
          <a:xfrm>
            <a:off x="9984377" y="121919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BFA565-75C3-65B1-B886-B0DCC0B0A07A}"/>
              </a:ext>
            </a:extLst>
          </p:cNvPr>
          <p:cNvSpPr/>
          <p:nvPr/>
        </p:nvSpPr>
        <p:spPr>
          <a:xfrm>
            <a:off x="130629" y="842211"/>
            <a:ext cx="11852824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01. </a:t>
            </a:r>
            <a:r>
              <a:rPr lang="ko-KR" altLang="en-US"/>
              <a:t>현 학습용 게임 시장의 경향 </a:t>
            </a:r>
            <a:r>
              <a:rPr lang="en-US" altLang="ko-KR"/>
              <a:t>[3] </a:t>
            </a:r>
            <a:r>
              <a:rPr lang="ko-KR" altLang="en-US"/>
              <a:t>종합 분석 결과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FCFC2C0-7C87-0138-5767-AB90D4C025A7}"/>
              </a:ext>
            </a:extLst>
          </p:cNvPr>
          <p:cNvCxnSpPr>
            <a:endCxn id="5" idx="1"/>
          </p:cNvCxnSpPr>
          <p:nvPr/>
        </p:nvCxnSpPr>
        <p:spPr>
          <a:xfrm>
            <a:off x="2037806" y="404947"/>
            <a:ext cx="3065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1F9079D-94EE-E4AF-E8A2-ECD62F1308D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10629" y="404947"/>
            <a:ext cx="297374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35C67A7-82CD-A6B5-6965-6E7DD78A6DB1}"/>
              </a:ext>
            </a:extLst>
          </p:cNvPr>
          <p:cNvSpPr/>
          <p:nvPr/>
        </p:nvSpPr>
        <p:spPr>
          <a:xfrm>
            <a:off x="130629" y="5565837"/>
            <a:ext cx="11898165" cy="122963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ko-KR" altLang="en-US" b="1"/>
              <a:t>기대 효과 </a:t>
            </a:r>
            <a:r>
              <a:rPr lang="en-US" altLang="ko-KR" b="1"/>
              <a:t>: </a:t>
            </a:r>
            <a:r>
              <a:rPr lang="ko-KR" altLang="en-US" b="1"/>
              <a:t>교사가 덜 준비하고</a:t>
            </a:r>
            <a:r>
              <a:rPr lang="en-US" altLang="ko-KR" b="1"/>
              <a:t>, </a:t>
            </a:r>
            <a:r>
              <a:rPr lang="ko-KR" altLang="en-US" b="1"/>
              <a:t>더 많이 파악하고</a:t>
            </a:r>
            <a:r>
              <a:rPr lang="en-US" altLang="ko-KR" b="1"/>
              <a:t>, </a:t>
            </a:r>
            <a:r>
              <a:rPr lang="ko-KR" altLang="en-US" b="1"/>
              <a:t>계속 쓰게 된다</a:t>
            </a:r>
            <a:endParaRPr lang="ko-KR" altLang="en-US" sz="3200" b="1">
              <a:ea typeface="맑은 고딕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00CCDE-6F04-5029-B8C2-2642BD981763}"/>
              </a:ext>
            </a:extLst>
          </p:cNvPr>
          <p:cNvSpPr/>
          <p:nvPr/>
        </p:nvSpPr>
        <p:spPr>
          <a:xfrm>
            <a:off x="130629" y="1562503"/>
            <a:ext cx="11913161" cy="38490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ko-KR" sz="1400" b="1">
                <a:solidFill>
                  <a:srgbClr val="FF0000"/>
                </a:solidFill>
                <a:highlight>
                  <a:srgbClr val="FFFF00"/>
                </a:highlight>
              </a:rPr>
              <a:t>[1] </a:t>
            </a:r>
            <a:r>
              <a:rPr lang="ko-KR" altLang="en-US" sz="1400" b="1">
                <a:solidFill>
                  <a:srgbClr val="FF0000"/>
                </a:solidFill>
                <a:highlight>
                  <a:srgbClr val="FFFF00"/>
                </a:highlight>
              </a:rPr>
              <a:t>교사에게 편리한 게임 서비스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낮은 진입 장벽 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교사가 문항 구성 부담 없이 직접 저작 가능</a:t>
            </a:r>
            <a:endParaRPr lang="en-US" altLang="ko-KR" sz="1400"/>
          </a:p>
          <a:p>
            <a:endParaRPr lang="en-US" altLang="ko-KR" sz="1400"/>
          </a:p>
          <a:p>
            <a:r>
              <a:rPr lang="en-US" altLang="ko-KR" sz="1400" b="1">
                <a:solidFill>
                  <a:srgbClr val="FF0000"/>
                </a:solidFill>
                <a:highlight>
                  <a:srgbClr val="FFFF00"/>
                </a:highlight>
              </a:rPr>
              <a:t>[2] </a:t>
            </a:r>
            <a:r>
              <a:rPr lang="ko-KR" altLang="en-US" sz="1400" b="1">
                <a:solidFill>
                  <a:srgbClr val="FF0000"/>
                </a:solidFill>
                <a:highlight>
                  <a:srgbClr val="FFFF00"/>
                </a:highlight>
              </a:rPr>
              <a:t>의미가 있는 게임 서비스 </a:t>
            </a:r>
            <a:endParaRPr lang="en-US" altLang="ko-KR" sz="140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285750" indent="-285750">
              <a:buFontTx/>
              <a:buChar char="-"/>
            </a:pPr>
            <a:r>
              <a:rPr lang="ko-KR" altLang="en-US" sz="1400"/>
              <a:t>플레이 중 모니터링으로 느린 학습자를 실시간 관찰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플레이 종료 후 행동 데이터 기반으로 코칭이 필요한 학습자 파악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학생의 자기주도학습을 유도</a:t>
            </a:r>
            <a:endParaRPr lang="en-US" altLang="ko-KR" sz="1400"/>
          </a:p>
          <a:p>
            <a:pPr marL="285750" indent="-285750">
              <a:buFontTx/>
              <a:buChar char="-"/>
            </a:pPr>
            <a:endParaRPr lang="en-US" altLang="ko-KR" sz="1400"/>
          </a:p>
          <a:p>
            <a:r>
              <a:rPr lang="en-US" altLang="ko-KR" sz="1400" b="1">
                <a:solidFill>
                  <a:srgbClr val="FF0000"/>
                </a:solidFill>
                <a:highlight>
                  <a:srgbClr val="FFFF00"/>
                </a:highlight>
              </a:rPr>
              <a:t>[3]</a:t>
            </a:r>
            <a:r>
              <a:rPr lang="ko-KR" altLang="en-US" sz="1400" b="1">
                <a:solidFill>
                  <a:srgbClr val="FF0000"/>
                </a:solidFill>
                <a:highlight>
                  <a:srgbClr val="FFFF00"/>
                </a:highlight>
              </a:rPr>
              <a:t> 정교하고 풍성한 문항</a:t>
            </a:r>
            <a:endParaRPr lang="en-US" altLang="ko-KR" sz="140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285750" indent="-285750">
              <a:buFontTx/>
              <a:buChar char="-"/>
            </a:pPr>
            <a:r>
              <a:rPr lang="ko-KR" altLang="en-US" sz="1400"/>
              <a:t>콘텐츠 내 메타정보 기반으로 학습자에게는 처방용 게임 서비스를</a:t>
            </a:r>
            <a:r>
              <a:rPr lang="en-US" altLang="ko-KR" sz="1400"/>
              <a:t>,</a:t>
            </a:r>
            <a:r>
              <a:rPr lang="ko-KR" altLang="en-US" sz="1400"/>
              <a:t> 교사에게는 검증된 문항을 제공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공신력 있는 전과목 문항을 바로 사용할 수 있게 제공</a:t>
            </a:r>
            <a:endParaRPr lang="en-US" altLang="ko-KR" sz="1400" b="1"/>
          </a:p>
          <a:p>
            <a:pPr marL="285750" indent="-285750">
              <a:buFontTx/>
              <a:buChar char="-"/>
            </a:pPr>
            <a:endParaRPr lang="en-US" altLang="ko-KR" sz="1400"/>
          </a:p>
          <a:p>
            <a:r>
              <a:rPr lang="en-US" altLang="ko-KR" sz="1400" b="1">
                <a:solidFill>
                  <a:srgbClr val="FF0000"/>
                </a:solidFill>
                <a:highlight>
                  <a:srgbClr val="FFFF00"/>
                </a:highlight>
              </a:rPr>
              <a:t>[3] </a:t>
            </a:r>
            <a:r>
              <a:rPr lang="ko-KR" altLang="en-US" sz="1400" b="1">
                <a:solidFill>
                  <a:srgbClr val="FF0000"/>
                </a:solidFill>
                <a:highlight>
                  <a:srgbClr val="FFFF00"/>
                </a:highlight>
              </a:rPr>
              <a:t>독립적 가치 </a:t>
            </a:r>
            <a:r>
              <a:rPr lang="en-US" altLang="ko-KR" sz="1400" b="1">
                <a:solidFill>
                  <a:srgbClr val="FF0000"/>
                </a:solidFill>
                <a:highlight>
                  <a:srgbClr val="FFFF00"/>
                </a:highlight>
              </a:rPr>
              <a:t>+ </a:t>
            </a:r>
            <a:r>
              <a:rPr lang="ko-KR" altLang="en-US" sz="1400" b="1">
                <a:solidFill>
                  <a:srgbClr val="FF0000"/>
                </a:solidFill>
                <a:highlight>
                  <a:srgbClr val="FFFF00"/>
                </a:highlight>
              </a:rPr>
              <a:t>결합된 시너지</a:t>
            </a:r>
            <a:br>
              <a:rPr lang="en-US" altLang="ko-KR" sz="1400"/>
            </a:br>
            <a:r>
              <a:rPr lang="en-US" altLang="ko-KR" sz="1400"/>
              <a:t>- </a:t>
            </a:r>
            <a:r>
              <a:rPr lang="ko-KR" altLang="en-US" sz="1400"/>
              <a:t>원하는 서비스만 따로 사용 가능</a:t>
            </a:r>
            <a:r>
              <a:rPr lang="en-US" altLang="ko-KR" sz="1400"/>
              <a:t>(1) </a:t>
            </a:r>
            <a:r>
              <a:rPr lang="ko-KR" altLang="en-US" sz="1400"/>
              <a:t>수업용 실시간 </a:t>
            </a:r>
            <a:r>
              <a:rPr lang="en-US" altLang="ko-KR" sz="1400"/>
              <a:t>(2) </a:t>
            </a:r>
            <a:r>
              <a:rPr lang="ko-KR" altLang="en-US" sz="1400"/>
              <a:t>과제용 </a:t>
            </a:r>
            <a:r>
              <a:rPr lang="en-US" altLang="ko-KR" sz="1400"/>
              <a:t>(3) </a:t>
            </a:r>
            <a:r>
              <a:rPr lang="ko-KR" altLang="en-US" sz="1400"/>
              <a:t>복습용 </a:t>
            </a:r>
            <a:r>
              <a:rPr lang="en-US" altLang="ko-KR" sz="1400"/>
              <a:t>Solo Play (4) </a:t>
            </a:r>
            <a:r>
              <a:rPr lang="ko-KR" altLang="en-US" sz="1400"/>
              <a:t>공유 자료실</a:t>
            </a: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같이 쓰면 학습 경험이 개선되는 결합 시너지 확보 </a:t>
            </a:r>
            <a:r>
              <a:rPr lang="en-US" altLang="ko-KR" sz="1400"/>
              <a:t>(1)</a:t>
            </a:r>
            <a:r>
              <a:rPr lang="ko-KR" altLang="en-US" sz="1400"/>
              <a:t> 연동되는 보상체계 </a:t>
            </a:r>
            <a:r>
              <a:rPr lang="en-US" altLang="ko-KR" sz="1400"/>
              <a:t>(2)</a:t>
            </a:r>
            <a:r>
              <a:rPr lang="ko-KR" altLang="en-US" sz="1400"/>
              <a:t> 커뮤니티 확장 </a:t>
            </a:r>
            <a:r>
              <a:rPr lang="en-US" altLang="ko-KR" sz="1400"/>
              <a:t>(</a:t>
            </a:r>
            <a:r>
              <a:rPr lang="ko-KR" altLang="en-US" sz="1400"/>
              <a:t>교사와 학생 모두를 위함</a:t>
            </a:r>
            <a:r>
              <a:rPr lang="en-US" altLang="ko-KR" sz="14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6685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009F605-5B17-F06A-4875-1EBB175BFCB6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891B49B-9BB6-7F0B-DE6A-46B5CF33BD94}"/>
              </a:ext>
            </a:extLst>
          </p:cNvPr>
          <p:cNvSpPr/>
          <p:nvPr/>
        </p:nvSpPr>
        <p:spPr>
          <a:xfrm>
            <a:off x="5103452" y="121918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 </a:t>
            </a:r>
            <a:r>
              <a:rPr lang="ko-KR" altLang="en-US"/>
              <a:t>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1DA4AB-B51B-E3F8-EA3C-988A99A11FE2}"/>
              </a:ext>
            </a:extLst>
          </p:cNvPr>
          <p:cNvSpPr/>
          <p:nvPr/>
        </p:nvSpPr>
        <p:spPr>
          <a:xfrm>
            <a:off x="9984377" y="121919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DCADA3-3FC5-AD8C-1DD0-21EB8DC15F4E}"/>
              </a:ext>
            </a:extLst>
          </p:cNvPr>
          <p:cNvSpPr/>
          <p:nvPr/>
        </p:nvSpPr>
        <p:spPr>
          <a:xfrm>
            <a:off x="130629" y="842211"/>
            <a:ext cx="11852824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02. </a:t>
            </a:r>
            <a:r>
              <a:rPr lang="ko-KR" altLang="en-US"/>
              <a:t>교사에게 필요한 게임 서비스 </a:t>
            </a:r>
            <a:r>
              <a:rPr lang="en-US" altLang="ko-KR"/>
              <a:t>[0]</a:t>
            </a:r>
            <a:r>
              <a:rPr lang="ko-KR" altLang="en-US"/>
              <a:t>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게임 종류 소개</a:t>
            </a:r>
            <a:endParaRPr lang="ko-KR" altLang="en-US"/>
          </a:p>
        </p:txBody>
      </p:sp>
      <p:cxnSp>
        <p:nvCxnSpPr>
          <p:cNvPr id="12" name="직선 연결선 7">
            <a:extLst>
              <a:ext uri="{FF2B5EF4-FFF2-40B4-BE49-F238E27FC236}">
                <a16:creationId xmlns:a16="http://schemas.microsoft.com/office/drawing/2014/main" id="{DF57B13F-36B9-29DF-B8EC-6CC8A8605196}"/>
              </a:ext>
            </a:extLst>
          </p:cNvPr>
          <p:cNvCxnSpPr>
            <a:endCxn id="3" idx="1"/>
          </p:cNvCxnSpPr>
          <p:nvPr/>
        </p:nvCxnSpPr>
        <p:spPr>
          <a:xfrm>
            <a:off x="2037806" y="404947"/>
            <a:ext cx="3065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8">
            <a:extLst>
              <a:ext uri="{FF2B5EF4-FFF2-40B4-BE49-F238E27FC236}">
                <a16:creationId xmlns:a16="http://schemas.microsoft.com/office/drawing/2014/main" id="{D0D7766D-D345-DB6A-915C-931FE19A116E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7010629" y="404947"/>
            <a:ext cx="297374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C3BE3DC-7F91-2221-14B6-18E754B18857}"/>
              </a:ext>
            </a:extLst>
          </p:cNvPr>
          <p:cNvSpPr/>
          <p:nvPr/>
        </p:nvSpPr>
        <p:spPr>
          <a:xfrm>
            <a:off x="130628" y="1705811"/>
            <a:ext cx="11852824" cy="16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[1]</a:t>
            </a:r>
            <a:r>
              <a:rPr lang="ko-KR" altLang="en-US"/>
              <a:t> </a:t>
            </a:r>
            <a:r>
              <a:rPr lang="en-US" altLang="ko-KR"/>
              <a:t>Quiz Party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수업용으로 사용 가능 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교사</a:t>
            </a:r>
            <a:r>
              <a:rPr lang="en-US" altLang="ko-KR"/>
              <a:t>/</a:t>
            </a:r>
            <a:r>
              <a:rPr lang="ko-KR" altLang="en-US"/>
              <a:t>학생 </a:t>
            </a:r>
            <a:r>
              <a:rPr lang="ko-KR" altLang="en-US" err="1"/>
              <a:t>여러명이</a:t>
            </a:r>
            <a:r>
              <a:rPr lang="ko-KR" altLang="en-US"/>
              <a:t> 동시에 참여가 가능한 게임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교사 중심으로 필요한 기능을 추가할 예정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B04DAF7-CC79-E5CA-BEAB-FA35E4BE2EAD}"/>
              </a:ext>
            </a:extLst>
          </p:cNvPr>
          <p:cNvSpPr/>
          <p:nvPr/>
        </p:nvSpPr>
        <p:spPr>
          <a:xfrm>
            <a:off x="130628" y="3429000"/>
            <a:ext cx="11852824" cy="16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[2]</a:t>
            </a:r>
            <a:r>
              <a:rPr lang="ko-KR" altLang="en-US"/>
              <a:t> 빛나는 </a:t>
            </a:r>
            <a:r>
              <a:rPr lang="en-US" altLang="ko-KR"/>
              <a:t>Solo Party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수업 외 시간용으로 사용 가능 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</a:t>
            </a:r>
            <a:r>
              <a:rPr lang="ko-KR" altLang="en-US"/>
              <a:t> 예습 또는 복습</a:t>
            </a:r>
            <a:r>
              <a:rPr lang="en-US" altLang="ko-KR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학생이 혼자서 </a:t>
            </a:r>
            <a:r>
              <a:rPr lang="en-US" altLang="ko-KR"/>
              <a:t>NPC</a:t>
            </a:r>
            <a:r>
              <a:rPr lang="ko-KR" altLang="en-US"/>
              <a:t>와 함께 참여가 가능한 게임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학습 효과를 높이기 위하여 오답노트 및 처방용 게임도 추가할 예정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72EFEB5-7AC3-368F-1F8A-C2CFD092C9B3}"/>
              </a:ext>
            </a:extLst>
          </p:cNvPr>
          <p:cNvSpPr/>
          <p:nvPr/>
        </p:nvSpPr>
        <p:spPr>
          <a:xfrm>
            <a:off x="8346898" y="1705811"/>
            <a:ext cx="3636554" cy="163428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/>
              <a:t>이미지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79CCEB-FF9E-88AD-422F-7BE105C98472}"/>
              </a:ext>
            </a:extLst>
          </p:cNvPr>
          <p:cNvSpPr/>
          <p:nvPr/>
        </p:nvSpPr>
        <p:spPr>
          <a:xfrm>
            <a:off x="8346898" y="3429000"/>
            <a:ext cx="3636554" cy="163428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/>
              <a:t>이미지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3507DDA-D943-7BBC-C744-4A0006BC12FE}"/>
              </a:ext>
            </a:extLst>
          </p:cNvPr>
          <p:cNvSpPr/>
          <p:nvPr/>
        </p:nvSpPr>
        <p:spPr>
          <a:xfrm>
            <a:off x="130628" y="5152189"/>
            <a:ext cx="11852824" cy="1634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[3]</a:t>
            </a:r>
            <a:r>
              <a:rPr lang="ko-KR" altLang="en-US"/>
              <a:t> 모두 모여요 </a:t>
            </a:r>
            <a:r>
              <a:rPr lang="en-US" altLang="ko-KR"/>
              <a:t>Home</a:t>
            </a:r>
            <a:r>
              <a:rPr lang="ko-KR" altLang="en-US"/>
              <a:t> </a:t>
            </a:r>
            <a:r>
              <a:rPr lang="en-US" altLang="ko-KR"/>
              <a:t>Party</a:t>
            </a:r>
          </a:p>
          <a:p>
            <a:pPr marL="285750" indent="-285750">
              <a:buFontTx/>
              <a:buChar char="-"/>
            </a:pPr>
            <a:r>
              <a:rPr lang="ko-KR" altLang="en-US" err="1"/>
              <a:t>게이미피케이션은</a:t>
            </a:r>
            <a:r>
              <a:rPr lang="ko-KR" altLang="en-US"/>
              <a:t> 꼭 문제를 풀어야 하는 것이 아니라는 고정 관념을 깨기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교사와 학생의 </a:t>
            </a:r>
            <a:r>
              <a:rPr lang="ko-KR" altLang="en-US" err="1"/>
              <a:t>라포</a:t>
            </a:r>
            <a:r>
              <a:rPr lang="ko-KR" altLang="en-US"/>
              <a:t> 형성을 위한 </a:t>
            </a:r>
            <a:r>
              <a:rPr lang="en-US" altLang="ko-KR"/>
              <a:t>＂</a:t>
            </a:r>
            <a:r>
              <a:rPr lang="ko-KR" altLang="en-US"/>
              <a:t>나의 방</a:t>
            </a:r>
            <a:r>
              <a:rPr lang="en-US" altLang="ko-KR"/>
              <a:t>”</a:t>
            </a:r>
            <a:r>
              <a:rPr lang="ko-KR" altLang="en-US" err="1"/>
              <a:t>으로</a:t>
            </a:r>
            <a:r>
              <a:rPr lang="ko-KR" altLang="en-US"/>
              <a:t> 놀러 오세요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집에서 공부할 때 함께 하면 좋은 메타버스 세계관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C91A1D-0D89-6538-F149-555C5ACEB997}"/>
              </a:ext>
            </a:extLst>
          </p:cNvPr>
          <p:cNvSpPr/>
          <p:nvPr/>
        </p:nvSpPr>
        <p:spPr>
          <a:xfrm>
            <a:off x="8346898" y="5152189"/>
            <a:ext cx="3636554" cy="163428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/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1248176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DE24D-B742-3BE1-4453-1AAA3BF13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D1FACD0-1456-4722-395D-DDCC76C71361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26AE9B-81B3-2466-6EE1-8014945E147A}"/>
              </a:ext>
            </a:extLst>
          </p:cNvPr>
          <p:cNvSpPr/>
          <p:nvPr/>
        </p:nvSpPr>
        <p:spPr>
          <a:xfrm>
            <a:off x="5103452" y="121918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 </a:t>
            </a:r>
            <a:r>
              <a:rPr lang="ko-KR" altLang="en-US"/>
              <a:t>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345BD7-FA6E-7B1A-F31A-25D00E63AB6C}"/>
              </a:ext>
            </a:extLst>
          </p:cNvPr>
          <p:cNvSpPr/>
          <p:nvPr/>
        </p:nvSpPr>
        <p:spPr>
          <a:xfrm>
            <a:off x="9984377" y="121919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E1D8AF-7062-23E4-5646-9DC5851C6955}"/>
              </a:ext>
            </a:extLst>
          </p:cNvPr>
          <p:cNvSpPr/>
          <p:nvPr/>
        </p:nvSpPr>
        <p:spPr>
          <a:xfrm>
            <a:off x="130629" y="842211"/>
            <a:ext cx="11852824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02. </a:t>
            </a:r>
            <a:r>
              <a:rPr lang="ko-KR" altLang="en-US"/>
              <a:t>교사에게 필요한 게임 서비스 </a:t>
            </a:r>
            <a:r>
              <a:rPr lang="en-US" altLang="ko-KR"/>
              <a:t>[1]</a:t>
            </a:r>
            <a:r>
              <a:rPr lang="ko-KR" altLang="en-US"/>
              <a:t>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교사에게 편리한 게임 서비스</a:t>
            </a:r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99776A8-D7E3-DBE2-7CCA-0E0766862123}"/>
              </a:ext>
            </a:extLst>
          </p:cNvPr>
          <p:cNvCxnSpPr>
            <a:endCxn id="5" idx="1"/>
          </p:cNvCxnSpPr>
          <p:nvPr/>
        </p:nvCxnSpPr>
        <p:spPr>
          <a:xfrm>
            <a:off x="2037806" y="404947"/>
            <a:ext cx="3065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E122F17-A146-E9BD-E7FD-E303E1927C5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10629" y="404947"/>
            <a:ext cx="297374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C43596AB-FEAE-9048-E6C5-0765F51AF473}"/>
              </a:ext>
            </a:extLst>
          </p:cNvPr>
          <p:cNvSpPr/>
          <p:nvPr/>
        </p:nvSpPr>
        <p:spPr>
          <a:xfrm>
            <a:off x="208548" y="1845531"/>
            <a:ext cx="2346036" cy="66342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(</a:t>
            </a:r>
            <a:r>
              <a:rPr lang="ko-KR" altLang="en-US" sz="1400"/>
              <a:t>구</a:t>
            </a:r>
            <a:r>
              <a:rPr lang="en-US" altLang="ko-KR" sz="1400"/>
              <a:t>) </a:t>
            </a:r>
            <a:r>
              <a:rPr lang="ko-KR" altLang="en-US" sz="1400"/>
              <a:t>높은 진입장벽</a:t>
            </a:r>
            <a:r>
              <a:rPr lang="en-US" altLang="ko-KR" sz="1400"/>
              <a:t>, </a:t>
            </a:r>
          </a:p>
          <a:p>
            <a:pPr algn="ctr"/>
            <a:r>
              <a:rPr lang="ko-KR" altLang="en-US" sz="1400"/>
              <a:t>저작 기능 부재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346F04-8705-9873-3B57-7543B2487AE8}"/>
              </a:ext>
            </a:extLst>
          </p:cNvPr>
          <p:cNvSpPr/>
          <p:nvPr/>
        </p:nvSpPr>
        <p:spPr>
          <a:xfrm>
            <a:off x="129427" y="3389647"/>
            <a:ext cx="2346036" cy="100676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낮은 진입장벽</a:t>
            </a:r>
            <a:endParaRPr lang="en-US" altLang="ko-KR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A98BE238-D4FF-F680-FC27-A345F5FD5F90}"/>
              </a:ext>
            </a:extLst>
          </p:cNvPr>
          <p:cNvSpPr/>
          <p:nvPr/>
        </p:nvSpPr>
        <p:spPr>
          <a:xfrm rot="5400000">
            <a:off x="1115792" y="2763453"/>
            <a:ext cx="406400" cy="350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1F3130-CF0D-22EC-4113-B9382E4305AD}"/>
              </a:ext>
            </a:extLst>
          </p:cNvPr>
          <p:cNvSpPr/>
          <p:nvPr/>
        </p:nvSpPr>
        <p:spPr>
          <a:xfrm>
            <a:off x="130628" y="5512407"/>
            <a:ext cx="2346036" cy="100676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쉽고 자유로운 </a:t>
            </a:r>
            <a:endParaRPr lang="en-US" altLang="ko-KR"/>
          </a:p>
          <a:p>
            <a:pPr algn="ctr"/>
            <a:r>
              <a:rPr lang="ko-KR" altLang="en-US"/>
              <a:t>문항 구성 </a:t>
            </a:r>
            <a:endParaRPr lang="en-US" altLang="ko-KR"/>
          </a:p>
        </p:txBody>
      </p:sp>
      <p:sp>
        <p:nvSpPr>
          <p:cNvPr id="15" name="십자형 14">
            <a:extLst>
              <a:ext uri="{FF2B5EF4-FFF2-40B4-BE49-F238E27FC236}">
                <a16:creationId xmlns:a16="http://schemas.microsoft.com/office/drawing/2014/main" id="{E9C61837-1DF8-378B-B23F-5F84B840A37F}"/>
              </a:ext>
            </a:extLst>
          </p:cNvPr>
          <p:cNvSpPr/>
          <p:nvPr/>
        </p:nvSpPr>
        <p:spPr>
          <a:xfrm>
            <a:off x="1053049" y="4710425"/>
            <a:ext cx="500413" cy="451945"/>
          </a:xfrm>
          <a:prstGeom prst="plus">
            <a:avLst>
              <a:gd name="adj" fmla="val 389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4F3570-8D2E-5B44-4098-031D2B923B2C}"/>
              </a:ext>
            </a:extLst>
          </p:cNvPr>
          <p:cNvSpPr/>
          <p:nvPr/>
        </p:nvSpPr>
        <p:spPr>
          <a:xfrm>
            <a:off x="2779235" y="1867344"/>
            <a:ext cx="9204217" cy="46075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(1) </a:t>
            </a:r>
            <a:r>
              <a:rPr lang="ko-KR" altLang="ko-KR"/>
              <a:t>PIN·QR 하나로 가입 없이 즉시 입장 </a:t>
            </a:r>
            <a:r>
              <a:rPr lang="en-US" altLang="ko-KR"/>
              <a:t>-&gt; </a:t>
            </a:r>
            <a:r>
              <a:rPr lang="ko-KR" altLang="ko-KR"/>
              <a:t>수업 진입 장벽 제로</a:t>
            </a:r>
          </a:p>
          <a:p>
            <a:pPr algn="ctr"/>
            <a:endParaRPr lang="en-US" altLang="ko-KR"/>
          </a:p>
          <a:p>
            <a:pPr algn="ctr"/>
            <a:endParaRPr lang="en-US" altLang="ko-KR"/>
          </a:p>
          <a:p>
            <a:pPr algn="ctr"/>
            <a:r>
              <a:rPr lang="en-US" altLang="ko-KR"/>
              <a:t>(2) CBS </a:t>
            </a:r>
            <a:r>
              <a:rPr lang="ko-KR" altLang="en-US"/>
              <a:t>게임 템플릿 이용한 저작 방식 </a:t>
            </a:r>
            <a:endParaRPr lang="en-US" altLang="ko-KR"/>
          </a:p>
          <a:p>
            <a:pPr algn="ctr"/>
            <a:endParaRPr lang="en-US" altLang="ko-KR"/>
          </a:p>
          <a:p>
            <a:pPr algn="ctr"/>
            <a:endParaRPr lang="en-US" altLang="ko-KR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796DDB5-EC22-F049-4B78-18423A253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155" y="1928023"/>
            <a:ext cx="4248189" cy="210288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E758392-7753-3F95-56E5-3FB5B44CD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344" y="3929925"/>
            <a:ext cx="5086656" cy="252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20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6B06D-E264-9C35-0FEF-2E2A5657D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7B62BA7-E470-A0E8-90DA-F1B92E9A8972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77BA36-52CD-8754-6386-259962075629}"/>
              </a:ext>
            </a:extLst>
          </p:cNvPr>
          <p:cNvSpPr/>
          <p:nvPr/>
        </p:nvSpPr>
        <p:spPr>
          <a:xfrm>
            <a:off x="5103452" y="121918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 </a:t>
            </a:r>
            <a:r>
              <a:rPr lang="ko-KR" altLang="en-US"/>
              <a:t>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2498FE-07B6-F7A5-0CF8-82A557447CDD}"/>
              </a:ext>
            </a:extLst>
          </p:cNvPr>
          <p:cNvSpPr/>
          <p:nvPr/>
        </p:nvSpPr>
        <p:spPr>
          <a:xfrm>
            <a:off x="9984377" y="121919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F84055-D630-301E-A9B9-4E3CA58CF3CF}"/>
              </a:ext>
            </a:extLst>
          </p:cNvPr>
          <p:cNvSpPr/>
          <p:nvPr/>
        </p:nvSpPr>
        <p:spPr>
          <a:xfrm>
            <a:off x="130629" y="842211"/>
            <a:ext cx="11852824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02. </a:t>
            </a:r>
            <a:r>
              <a:rPr lang="ko-KR" altLang="en-US"/>
              <a:t>교사에게 필요한 게임 서비스 </a:t>
            </a:r>
            <a:r>
              <a:rPr lang="en-US" altLang="ko-KR"/>
              <a:t>[2]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의미가 있는 게임 서비스 </a:t>
            </a:r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4DB1BB4-8728-AE3E-C8B6-248472FAE019}"/>
              </a:ext>
            </a:extLst>
          </p:cNvPr>
          <p:cNvCxnSpPr>
            <a:endCxn id="5" idx="1"/>
          </p:cNvCxnSpPr>
          <p:nvPr/>
        </p:nvCxnSpPr>
        <p:spPr>
          <a:xfrm>
            <a:off x="2037806" y="404947"/>
            <a:ext cx="3065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14304A3-DBB4-67B2-F17F-F6DBBF30AA4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10629" y="404947"/>
            <a:ext cx="297374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A56DB59F-90E4-E888-3BDE-45A0F9039CE2}"/>
              </a:ext>
            </a:extLst>
          </p:cNvPr>
          <p:cNvSpPr/>
          <p:nvPr/>
        </p:nvSpPr>
        <p:spPr>
          <a:xfrm>
            <a:off x="145974" y="1860838"/>
            <a:ext cx="2346036" cy="66342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(</a:t>
            </a:r>
            <a:r>
              <a:rPr lang="ko-KR" altLang="en-US" sz="1400"/>
              <a:t>구</a:t>
            </a:r>
            <a:r>
              <a:rPr lang="en-US" altLang="ko-KR" sz="1400"/>
              <a:t>) </a:t>
            </a:r>
            <a:r>
              <a:rPr lang="ko-KR" altLang="en-US" sz="1400"/>
              <a:t>단절된 데이터</a:t>
            </a:r>
            <a:r>
              <a:rPr lang="en-US" altLang="ko-KR" sz="1400"/>
              <a:t> </a:t>
            </a:r>
            <a:endParaRPr lang="ko-KR" altLang="en-US" sz="14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5A6E248-C3F9-DDBD-B0A2-FD3514D7F3A3}"/>
              </a:ext>
            </a:extLst>
          </p:cNvPr>
          <p:cNvSpPr/>
          <p:nvPr/>
        </p:nvSpPr>
        <p:spPr>
          <a:xfrm>
            <a:off x="129426" y="3389647"/>
            <a:ext cx="2524873" cy="100676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실시간 모니터링</a:t>
            </a:r>
            <a:r>
              <a:rPr lang="en-US" altLang="ko-KR" dirty="0"/>
              <a:t>,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2349E05A-85FE-6F7C-E258-E7D9C3A50C3D}"/>
              </a:ext>
            </a:extLst>
          </p:cNvPr>
          <p:cNvSpPr/>
          <p:nvPr/>
        </p:nvSpPr>
        <p:spPr>
          <a:xfrm rot="5400000">
            <a:off x="1115792" y="2763453"/>
            <a:ext cx="406400" cy="350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B5C1BEE-2C74-208A-4E24-D4878820C76F}"/>
              </a:ext>
            </a:extLst>
          </p:cNvPr>
          <p:cNvSpPr/>
          <p:nvPr/>
        </p:nvSpPr>
        <p:spPr>
          <a:xfrm>
            <a:off x="130628" y="5512407"/>
            <a:ext cx="2346036" cy="100676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행동 데이터 기반 코칭</a:t>
            </a:r>
            <a:endParaRPr lang="en-US" altLang="ko-KR" dirty="0"/>
          </a:p>
        </p:txBody>
      </p:sp>
      <p:sp>
        <p:nvSpPr>
          <p:cNvPr id="15" name="십자형 14">
            <a:extLst>
              <a:ext uri="{FF2B5EF4-FFF2-40B4-BE49-F238E27FC236}">
                <a16:creationId xmlns:a16="http://schemas.microsoft.com/office/drawing/2014/main" id="{ECD1EACA-1791-4D1C-178A-63D369202BC2}"/>
              </a:ext>
            </a:extLst>
          </p:cNvPr>
          <p:cNvSpPr/>
          <p:nvPr/>
        </p:nvSpPr>
        <p:spPr>
          <a:xfrm>
            <a:off x="1053049" y="4710425"/>
            <a:ext cx="500413" cy="451945"/>
          </a:xfrm>
          <a:prstGeom prst="plus">
            <a:avLst>
              <a:gd name="adj" fmla="val 389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D85EAD-F404-A59A-305A-FC7BEAA3E5A7}"/>
              </a:ext>
            </a:extLst>
          </p:cNvPr>
          <p:cNvSpPr/>
          <p:nvPr/>
        </p:nvSpPr>
        <p:spPr>
          <a:xfrm>
            <a:off x="2779235" y="1845531"/>
            <a:ext cx="9204217" cy="4710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(1) </a:t>
            </a:r>
            <a:r>
              <a:rPr lang="ko-KR" altLang="en-US"/>
              <a:t>학생 풀이 실시간 컨트롤 패널 </a:t>
            </a:r>
            <a:endParaRPr lang="en-US" altLang="ko-KR"/>
          </a:p>
          <a:p>
            <a:pPr algn="ctr"/>
            <a:endParaRPr lang="en-US" altLang="ko-KR"/>
          </a:p>
          <a:p>
            <a:pPr algn="ctr"/>
            <a:r>
              <a:rPr lang="en-US" altLang="ko-KR"/>
              <a:t>(2) </a:t>
            </a:r>
            <a:r>
              <a:rPr lang="ko-KR" altLang="en-US"/>
              <a:t>복습용 콘텐츠 와이어프레임  </a:t>
            </a:r>
            <a:endParaRPr lang="en-US" altLang="ko-KR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C8CBD54-47F9-D97A-2C44-AB330DCA1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369" y="1982007"/>
            <a:ext cx="4643556" cy="230830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DF850AF-3AA6-E434-0D20-4CF605E66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870" y="4339222"/>
            <a:ext cx="4366629" cy="216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891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F4285-7B17-F803-F48F-02B2F7F67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AAFF5DB-2D44-5EF4-E2B6-71DEFDDDD3D1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B32D3D-8465-0F8C-8181-95543D3C338E}"/>
              </a:ext>
            </a:extLst>
          </p:cNvPr>
          <p:cNvSpPr/>
          <p:nvPr/>
        </p:nvSpPr>
        <p:spPr>
          <a:xfrm>
            <a:off x="5103452" y="121918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 </a:t>
            </a:r>
            <a:r>
              <a:rPr lang="ko-KR" altLang="en-US"/>
              <a:t>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0B3977-F66D-BCD3-A29F-3AFA82CA43C7}"/>
              </a:ext>
            </a:extLst>
          </p:cNvPr>
          <p:cNvSpPr/>
          <p:nvPr/>
        </p:nvSpPr>
        <p:spPr>
          <a:xfrm>
            <a:off x="9984377" y="121919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51ED8F-B339-2ABE-11F1-7E65FEF4B49D}"/>
              </a:ext>
            </a:extLst>
          </p:cNvPr>
          <p:cNvSpPr/>
          <p:nvPr/>
        </p:nvSpPr>
        <p:spPr>
          <a:xfrm>
            <a:off x="130629" y="842211"/>
            <a:ext cx="11852824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02. </a:t>
            </a:r>
            <a:r>
              <a:rPr lang="ko-KR" altLang="en-US"/>
              <a:t>교사에게 필요한 게임 서비스 </a:t>
            </a:r>
            <a:r>
              <a:rPr lang="en-US" altLang="ko-KR"/>
              <a:t>[3]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정교하고 풍성한 문항</a:t>
            </a:r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09AA65D-824F-6897-E5D4-744B7BB24A47}"/>
              </a:ext>
            </a:extLst>
          </p:cNvPr>
          <p:cNvCxnSpPr>
            <a:endCxn id="5" idx="1"/>
          </p:cNvCxnSpPr>
          <p:nvPr/>
        </p:nvCxnSpPr>
        <p:spPr>
          <a:xfrm>
            <a:off x="2037806" y="404947"/>
            <a:ext cx="3065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B15B1C1-E5E0-CA8D-5B5E-F8CC2D6410D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10629" y="404947"/>
            <a:ext cx="297374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DE4329-F9E1-6505-664A-82B12F21DF73}"/>
              </a:ext>
            </a:extLst>
          </p:cNvPr>
          <p:cNvSpPr/>
          <p:nvPr/>
        </p:nvSpPr>
        <p:spPr>
          <a:xfrm>
            <a:off x="145974" y="1860838"/>
            <a:ext cx="2346036" cy="66342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(</a:t>
            </a:r>
            <a:r>
              <a:rPr lang="ko-KR" altLang="en-US" sz="1400"/>
              <a:t>구</a:t>
            </a:r>
            <a:r>
              <a:rPr lang="en-US" altLang="ko-KR" sz="1400"/>
              <a:t>)</a:t>
            </a:r>
            <a:r>
              <a:rPr lang="ko-KR" altLang="en-US" sz="1400"/>
              <a:t> 검증되지 않은 문항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C50D3D0-76E2-4AB1-D199-8F65B7A24E67}"/>
              </a:ext>
            </a:extLst>
          </p:cNvPr>
          <p:cNvSpPr/>
          <p:nvPr/>
        </p:nvSpPr>
        <p:spPr>
          <a:xfrm>
            <a:off x="129427" y="3389647"/>
            <a:ext cx="2346036" cy="100676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비상교육에서 만든</a:t>
            </a:r>
            <a:endParaRPr lang="en-US" altLang="ko-KR"/>
          </a:p>
          <a:p>
            <a:pPr algn="ctr"/>
            <a:r>
              <a:rPr lang="ko-KR" altLang="en-US"/>
              <a:t>정교한 문항을 전과목 확장해서 제공</a:t>
            </a:r>
            <a:endParaRPr lang="en-US" altLang="ko-KR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AA9297A6-1A81-B466-AEF7-85F5913BB4FF}"/>
              </a:ext>
            </a:extLst>
          </p:cNvPr>
          <p:cNvSpPr/>
          <p:nvPr/>
        </p:nvSpPr>
        <p:spPr>
          <a:xfrm rot="5400000">
            <a:off x="1115792" y="2763453"/>
            <a:ext cx="406400" cy="350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C2B853-8F01-44C8-B0ED-A92DFC059EA8}"/>
              </a:ext>
            </a:extLst>
          </p:cNvPr>
          <p:cNvSpPr/>
          <p:nvPr/>
        </p:nvSpPr>
        <p:spPr>
          <a:xfrm>
            <a:off x="129427" y="5225934"/>
            <a:ext cx="2346036" cy="149632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메타정보 기반으로</a:t>
            </a:r>
            <a:endParaRPr lang="en-US" altLang="ko-KR"/>
          </a:p>
          <a:p>
            <a:pPr algn="ctr"/>
            <a:r>
              <a:rPr lang="ko-KR" altLang="en-US"/>
              <a:t>학생에게 신뢰도 있는</a:t>
            </a:r>
            <a:r>
              <a:rPr lang="en-US" altLang="ko-KR"/>
              <a:t>,</a:t>
            </a:r>
            <a:r>
              <a:rPr lang="ko-KR" altLang="en-US"/>
              <a:t> 교사에게는 검증된 문항을 추천</a:t>
            </a:r>
            <a:endParaRPr lang="en-US" altLang="ko-KR"/>
          </a:p>
        </p:txBody>
      </p:sp>
      <p:sp>
        <p:nvSpPr>
          <p:cNvPr id="15" name="십자형 14">
            <a:extLst>
              <a:ext uri="{FF2B5EF4-FFF2-40B4-BE49-F238E27FC236}">
                <a16:creationId xmlns:a16="http://schemas.microsoft.com/office/drawing/2014/main" id="{B14418F6-A4B9-4BAE-0731-8D4444243C95}"/>
              </a:ext>
            </a:extLst>
          </p:cNvPr>
          <p:cNvSpPr/>
          <p:nvPr/>
        </p:nvSpPr>
        <p:spPr>
          <a:xfrm>
            <a:off x="1053049" y="4710425"/>
            <a:ext cx="500413" cy="451945"/>
          </a:xfrm>
          <a:prstGeom prst="plus">
            <a:avLst>
              <a:gd name="adj" fmla="val 389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C9AAFB3-F996-1AE5-359F-9D475661286D}"/>
              </a:ext>
            </a:extLst>
          </p:cNvPr>
          <p:cNvSpPr/>
          <p:nvPr/>
        </p:nvSpPr>
        <p:spPr>
          <a:xfrm>
            <a:off x="2779236" y="1860838"/>
            <a:ext cx="9204217" cy="4710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arenBoth"/>
            </a:pPr>
            <a:r>
              <a:rPr lang="en-US" altLang="ko-KR"/>
              <a:t>CBS </a:t>
            </a:r>
            <a:r>
              <a:rPr lang="ko-KR" altLang="en-US"/>
              <a:t>전과목 </a:t>
            </a:r>
            <a:r>
              <a:rPr lang="ko-KR" altLang="en-US" err="1"/>
              <a:t>컨버팅</a:t>
            </a:r>
            <a:r>
              <a:rPr lang="ko-KR" altLang="en-US"/>
              <a:t> 구조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ko-KR" altLang="en-US" err="1"/>
              <a:t>저작할때</a:t>
            </a:r>
            <a:r>
              <a:rPr lang="ko-KR" altLang="en-US"/>
              <a:t> 전과목 선택 되는 모습 이미지</a:t>
            </a:r>
            <a:endParaRPr lang="en-US" altLang="ko-KR"/>
          </a:p>
          <a:p>
            <a:pPr marL="342900" indent="-342900" algn="ctr">
              <a:buAutoNum type="arabicParenBoth"/>
            </a:pPr>
            <a:endParaRPr lang="en-US" altLang="ko-KR"/>
          </a:p>
          <a:p>
            <a:pPr marL="342900" indent="-342900" algn="ctr">
              <a:buAutoNum type="arabicParenBoth"/>
            </a:pPr>
            <a:r>
              <a:rPr lang="ko-KR" altLang="en-US"/>
              <a:t>학생용 추천 모습 이미지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9330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F4285-7B17-F803-F48F-02B2F7F67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AAFF5DB-2D44-5EF4-E2B6-71DEFDDDD3D1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B32D3D-8465-0F8C-8181-95543D3C338E}"/>
              </a:ext>
            </a:extLst>
          </p:cNvPr>
          <p:cNvSpPr/>
          <p:nvPr/>
        </p:nvSpPr>
        <p:spPr>
          <a:xfrm>
            <a:off x="5103452" y="121918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 </a:t>
            </a:r>
            <a:r>
              <a:rPr lang="ko-KR" altLang="en-US"/>
              <a:t>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0B3977-F66D-BCD3-A29F-3AFA82CA43C7}"/>
              </a:ext>
            </a:extLst>
          </p:cNvPr>
          <p:cNvSpPr/>
          <p:nvPr/>
        </p:nvSpPr>
        <p:spPr>
          <a:xfrm>
            <a:off x="9984377" y="121919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51ED8F-B339-2ABE-11F1-7E65FEF4B49D}"/>
              </a:ext>
            </a:extLst>
          </p:cNvPr>
          <p:cNvSpPr/>
          <p:nvPr/>
        </p:nvSpPr>
        <p:spPr>
          <a:xfrm>
            <a:off x="130629" y="842211"/>
            <a:ext cx="11852824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02. </a:t>
            </a:r>
            <a:r>
              <a:rPr lang="ko-KR" altLang="en-US"/>
              <a:t>교사에게 필요한 게임 서비스 </a:t>
            </a:r>
            <a:r>
              <a:rPr lang="en-US" altLang="ko-KR"/>
              <a:t>[4]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독립적 가치 </a:t>
            </a:r>
            <a:r>
              <a:rPr lang="en-US" altLang="ko-KR" b="1">
                <a:solidFill>
                  <a:srgbClr val="FF0000"/>
                </a:solidFill>
                <a:highlight>
                  <a:srgbClr val="FFFF00"/>
                </a:highlight>
              </a:rPr>
              <a:t>+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결합된 시너지</a:t>
            </a:r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09AA65D-824F-6897-E5D4-744B7BB24A47}"/>
              </a:ext>
            </a:extLst>
          </p:cNvPr>
          <p:cNvCxnSpPr>
            <a:endCxn id="5" idx="1"/>
          </p:cNvCxnSpPr>
          <p:nvPr/>
        </p:nvCxnSpPr>
        <p:spPr>
          <a:xfrm>
            <a:off x="2037806" y="404947"/>
            <a:ext cx="3065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B15B1C1-E5E0-CA8D-5B5E-F8CC2D6410D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10629" y="404947"/>
            <a:ext cx="297374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DE4329-F9E1-6505-664A-82B12F21DF73}"/>
              </a:ext>
            </a:extLst>
          </p:cNvPr>
          <p:cNvSpPr/>
          <p:nvPr/>
        </p:nvSpPr>
        <p:spPr>
          <a:xfrm>
            <a:off x="145974" y="1860838"/>
            <a:ext cx="2346036" cy="66342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(</a:t>
            </a:r>
            <a:r>
              <a:rPr lang="ko-KR" altLang="en-US" sz="1400"/>
              <a:t>구</a:t>
            </a:r>
            <a:r>
              <a:rPr lang="en-US" altLang="ko-KR" sz="1400"/>
              <a:t>) </a:t>
            </a:r>
            <a:r>
              <a:rPr lang="ko-KR" altLang="en-US" sz="1400"/>
              <a:t>게임을 쓰기 위해 넘어야 하는 허들이 많았음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C50D3D0-76E2-4AB1-D199-8F65B7A24E67}"/>
              </a:ext>
            </a:extLst>
          </p:cNvPr>
          <p:cNvSpPr/>
          <p:nvPr/>
        </p:nvSpPr>
        <p:spPr>
          <a:xfrm>
            <a:off x="129427" y="3389647"/>
            <a:ext cx="2346036" cy="100676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독립적 가치</a:t>
            </a:r>
            <a:endParaRPr lang="en-US" altLang="ko-KR" dirty="0"/>
          </a:p>
          <a:p>
            <a:pPr algn="ctr"/>
            <a:r>
              <a:rPr lang="en-US" altLang="ko-KR" dirty="0"/>
              <a:t>:</a:t>
            </a:r>
            <a:r>
              <a:rPr lang="ko-KR" altLang="en-US" dirty="0"/>
              <a:t> 원하는 서비스만 따로 사용 가능</a:t>
            </a:r>
            <a:endParaRPr lang="en-US" altLang="ko-KR" dirty="0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AA9297A6-1A81-B466-AEF7-85F5913BB4FF}"/>
              </a:ext>
            </a:extLst>
          </p:cNvPr>
          <p:cNvSpPr/>
          <p:nvPr/>
        </p:nvSpPr>
        <p:spPr>
          <a:xfrm rot="5400000">
            <a:off x="1115792" y="2763453"/>
            <a:ext cx="406400" cy="350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C2B853-8F01-44C8-B0ED-A92DFC059EA8}"/>
              </a:ext>
            </a:extLst>
          </p:cNvPr>
          <p:cNvSpPr/>
          <p:nvPr/>
        </p:nvSpPr>
        <p:spPr>
          <a:xfrm>
            <a:off x="129427" y="5225934"/>
            <a:ext cx="2346036" cy="149632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결합된 시너지</a:t>
            </a:r>
            <a:r>
              <a:rPr lang="en-US" altLang="ko-KR"/>
              <a:t>:</a:t>
            </a:r>
          </a:p>
          <a:p>
            <a:pPr algn="ctr"/>
            <a:r>
              <a:rPr lang="ko-KR" altLang="en-US"/>
              <a:t>데이터</a:t>
            </a:r>
            <a:r>
              <a:rPr lang="en-US" altLang="ko-KR"/>
              <a:t>·</a:t>
            </a:r>
            <a:r>
              <a:rPr lang="ko-KR" altLang="en-US"/>
              <a:t>보상체계 연동 및 커뮤니티 확장</a:t>
            </a:r>
            <a:endParaRPr lang="en-US" altLang="ko-KR"/>
          </a:p>
        </p:txBody>
      </p:sp>
      <p:sp>
        <p:nvSpPr>
          <p:cNvPr id="15" name="십자형 14">
            <a:extLst>
              <a:ext uri="{FF2B5EF4-FFF2-40B4-BE49-F238E27FC236}">
                <a16:creationId xmlns:a16="http://schemas.microsoft.com/office/drawing/2014/main" id="{B14418F6-A4B9-4BAE-0731-8D4444243C95}"/>
              </a:ext>
            </a:extLst>
          </p:cNvPr>
          <p:cNvSpPr/>
          <p:nvPr/>
        </p:nvSpPr>
        <p:spPr>
          <a:xfrm>
            <a:off x="1053049" y="4710425"/>
            <a:ext cx="500413" cy="451945"/>
          </a:xfrm>
          <a:prstGeom prst="plus">
            <a:avLst>
              <a:gd name="adj" fmla="val 389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C5F12F9-4B2D-0C6B-3297-220C6B942EAC}"/>
              </a:ext>
            </a:extLst>
          </p:cNvPr>
          <p:cNvGrpSpPr/>
          <p:nvPr/>
        </p:nvGrpSpPr>
        <p:grpSpPr>
          <a:xfrm>
            <a:off x="2717800" y="1752600"/>
            <a:ext cx="9265652" cy="4753831"/>
            <a:chOff x="130628" y="1845531"/>
            <a:chExt cx="11852824" cy="466090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2735BCB-037A-6FCD-0F91-1DD5776F58BC}"/>
                </a:ext>
              </a:extLst>
            </p:cNvPr>
            <p:cNvSpPr/>
            <p:nvPr/>
          </p:nvSpPr>
          <p:spPr>
            <a:xfrm>
              <a:off x="130628" y="1845531"/>
              <a:ext cx="11852824" cy="46609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ko-KR" sz="3600" b="1"/>
                <a:t>Home Party</a:t>
              </a:r>
              <a:endParaRPr kumimoji="1" lang="ko-KR" altLang="en-US" sz="3600" b="1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14177DF-79AD-696F-162F-F0C5C1405CB3}"/>
                </a:ext>
              </a:extLst>
            </p:cNvPr>
            <p:cNvSpPr/>
            <p:nvPr/>
          </p:nvSpPr>
          <p:spPr>
            <a:xfrm>
              <a:off x="637998" y="4347108"/>
              <a:ext cx="3636554" cy="163428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/>
                <a:t>[1]</a:t>
              </a:r>
              <a:r>
                <a:rPr kumimoji="1" lang="ko-KR" altLang="en-US"/>
                <a:t> </a:t>
              </a:r>
              <a:r>
                <a:rPr kumimoji="1" lang="en-US" altLang="ko-KR"/>
                <a:t>Quiz</a:t>
              </a:r>
              <a:r>
                <a:rPr kumimoji="1" lang="ko-KR" altLang="en-US"/>
                <a:t> </a:t>
              </a:r>
              <a:r>
                <a:rPr kumimoji="1" lang="en-US" altLang="ko-KR"/>
                <a:t>Party</a:t>
              </a:r>
              <a:endParaRPr kumimoji="1"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2AA96BF-1354-12EB-B37D-D6E2FB505985}"/>
                </a:ext>
              </a:extLst>
            </p:cNvPr>
            <p:cNvSpPr/>
            <p:nvPr/>
          </p:nvSpPr>
          <p:spPr>
            <a:xfrm>
              <a:off x="7817222" y="4347107"/>
              <a:ext cx="3636554" cy="163428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/>
                <a:t>[2] Solo Party</a:t>
              </a:r>
              <a:endParaRPr kumimoji="1"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AE6288D-2CB3-1E71-55CF-5048FD09F29A}"/>
                </a:ext>
              </a:extLst>
            </p:cNvPr>
            <p:cNvSpPr/>
            <p:nvPr/>
          </p:nvSpPr>
          <p:spPr>
            <a:xfrm>
              <a:off x="4238763" y="2712818"/>
              <a:ext cx="3636554" cy="163428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/>
                <a:t>[3]</a:t>
              </a:r>
              <a:r>
                <a:rPr kumimoji="1" lang="ko-KR" altLang="en-US"/>
                <a:t> 나의 공부방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D570965-1E46-9DCE-9533-D71ABFF2BCFF}"/>
                </a:ext>
              </a:extLst>
            </p:cNvPr>
            <p:cNvGrpSpPr/>
            <p:nvPr/>
          </p:nvGrpSpPr>
          <p:grpSpPr>
            <a:xfrm>
              <a:off x="2531740" y="3405060"/>
              <a:ext cx="2251800" cy="805320"/>
              <a:chOff x="2531740" y="3405060"/>
              <a:chExt cx="2251800" cy="805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20" name="잉크 19">
                    <a:extLst>
                      <a:ext uri="{FF2B5EF4-FFF2-40B4-BE49-F238E27FC236}">
                        <a16:creationId xmlns:a16="http://schemas.microsoft.com/office/drawing/2014/main" id="{E2148565-0B59-4872-B941-C63E1997E5DA}"/>
                      </a:ext>
                    </a:extLst>
                  </p14:cNvPr>
                  <p14:cNvContentPartPr/>
                  <p14:nvPr/>
                </p14:nvContentPartPr>
                <p14:xfrm>
                  <a:off x="2645500" y="3405060"/>
                  <a:ext cx="2138040" cy="716040"/>
                </p14:xfrm>
              </p:contentPart>
            </mc:Choice>
            <mc:Fallback xmlns="">
              <p:pic>
                <p:nvPicPr>
                  <p:cNvPr id="20" name="잉크 19">
                    <a:extLst>
                      <a:ext uri="{FF2B5EF4-FFF2-40B4-BE49-F238E27FC236}">
                        <a16:creationId xmlns:a16="http://schemas.microsoft.com/office/drawing/2014/main" id="{E2148565-0B59-4872-B941-C63E1997E5DA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2637670" y="3399061"/>
                    <a:ext cx="2153700" cy="72803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21" name="잉크 20">
                    <a:extLst>
                      <a:ext uri="{FF2B5EF4-FFF2-40B4-BE49-F238E27FC236}">
                        <a16:creationId xmlns:a16="http://schemas.microsoft.com/office/drawing/2014/main" id="{E59CF050-19C1-C267-6EC1-6164F0D0608A}"/>
                      </a:ext>
                    </a:extLst>
                  </p14:cNvPr>
                  <p14:cNvContentPartPr/>
                  <p14:nvPr/>
                </p14:nvContentPartPr>
                <p14:xfrm>
                  <a:off x="2531740" y="3942180"/>
                  <a:ext cx="429480" cy="268200"/>
                </p14:xfrm>
              </p:contentPart>
            </mc:Choice>
            <mc:Fallback xmlns="">
              <p:pic>
                <p:nvPicPr>
                  <p:cNvPr id="21" name="잉크 20">
                    <a:extLst>
                      <a:ext uri="{FF2B5EF4-FFF2-40B4-BE49-F238E27FC236}">
                        <a16:creationId xmlns:a16="http://schemas.microsoft.com/office/drawing/2014/main" id="{E59CF050-19C1-C267-6EC1-6164F0D0608A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523915" y="3936181"/>
                    <a:ext cx="445131" cy="28019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08D5E85D-9795-9500-0CB0-49DD7384C14C}"/>
                </a:ext>
              </a:extLst>
            </p:cNvPr>
            <p:cNvGrpSpPr/>
            <p:nvPr/>
          </p:nvGrpSpPr>
          <p:grpSpPr>
            <a:xfrm>
              <a:off x="7454020" y="3428100"/>
              <a:ext cx="1807200" cy="708480"/>
              <a:chOff x="7454020" y="3428100"/>
              <a:chExt cx="1807200" cy="7084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23" name="잉크 22">
                    <a:extLst>
                      <a:ext uri="{FF2B5EF4-FFF2-40B4-BE49-F238E27FC236}">
                        <a16:creationId xmlns:a16="http://schemas.microsoft.com/office/drawing/2014/main" id="{06A31DCC-3F5B-610E-B654-75F31D5E5DB7}"/>
                      </a:ext>
                    </a:extLst>
                  </p14:cNvPr>
                  <p14:cNvContentPartPr/>
                  <p14:nvPr/>
                </p14:nvContentPartPr>
                <p14:xfrm>
                  <a:off x="7454020" y="3428100"/>
                  <a:ext cx="1715400" cy="540000"/>
                </p14:xfrm>
              </p:contentPart>
            </mc:Choice>
            <mc:Fallback xmlns="">
              <p:pic>
                <p:nvPicPr>
                  <p:cNvPr id="23" name="잉크 22">
                    <a:extLst>
                      <a:ext uri="{FF2B5EF4-FFF2-40B4-BE49-F238E27FC236}">
                        <a16:creationId xmlns:a16="http://schemas.microsoft.com/office/drawing/2014/main" id="{06A31DCC-3F5B-610E-B654-75F31D5E5DB7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7446193" y="3422100"/>
                    <a:ext cx="1731053" cy="55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24" name="잉크 23">
                    <a:extLst>
                      <a:ext uri="{FF2B5EF4-FFF2-40B4-BE49-F238E27FC236}">
                        <a16:creationId xmlns:a16="http://schemas.microsoft.com/office/drawing/2014/main" id="{3C680486-802A-72FE-EB5B-B220EC0B8C2C}"/>
                      </a:ext>
                    </a:extLst>
                  </p14:cNvPr>
                  <p14:cNvContentPartPr/>
                  <p14:nvPr/>
                </p14:nvContentPartPr>
                <p14:xfrm>
                  <a:off x="8909140" y="3855060"/>
                  <a:ext cx="352080" cy="281520"/>
                </p14:xfrm>
              </p:contentPart>
            </mc:Choice>
            <mc:Fallback xmlns="">
              <p:pic>
                <p:nvPicPr>
                  <p:cNvPr id="24" name="잉크 23">
                    <a:extLst>
                      <a:ext uri="{FF2B5EF4-FFF2-40B4-BE49-F238E27FC236}">
                        <a16:creationId xmlns:a16="http://schemas.microsoft.com/office/drawing/2014/main" id="{3C680486-802A-72FE-EB5B-B220EC0B8C2C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8901316" y="3849055"/>
                    <a:ext cx="367728" cy="29353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6EFE0921-F12D-3180-0466-12F051D7748E}"/>
                </a:ext>
              </a:extLst>
            </p:cNvPr>
            <p:cNvGrpSpPr/>
            <p:nvPr/>
          </p:nvGrpSpPr>
          <p:grpSpPr>
            <a:xfrm>
              <a:off x="6438820" y="3869820"/>
              <a:ext cx="1189080" cy="1591200"/>
              <a:chOff x="6438820" y="3869820"/>
              <a:chExt cx="1189080" cy="1591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26" name="잉크 25">
                    <a:extLst>
                      <a:ext uri="{FF2B5EF4-FFF2-40B4-BE49-F238E27FC236}">
                        <a16:creationId xmlns:a16="http://schemas.microsoft.com/office/drawing/2014/main" id="{38749424-BB04-9340-EEBD-5EB5A8FF59DC}"/>
                      </a:ext>
                    </a:extLst>
                  </p14:cNvPr>
                  <p14:cNvContentPartPr/>
                  <p14:nvPr/>
                </p14:nvContentPartPr>
                <p14:xfrm>
                  <a:off x="6498940" y="3875940"/>
                  <a:ext cx="1128960" cy="1585080"/>
                </p14:xfrm>
              </p:contentPart>
            </mc:Choice>
            <mc:Fallback xmlns="">
              <p:pic>
                <p:nvPicPr>
                  <p:cNvPr id="26" name="잉크 25">
                    <a:extLst>
                      <a:ext uri="{FF2B5EF4-FFF2-40B4-BE49-F238E27FC236}">
                        <a16:creationId xmlns:a16="http://schemas.microsoft.com/office/drawing/2014/main" id="{38749424-BB04-9340-EEBD-5EB5A8FF59DC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6491113" y="3869940"/>
                    <a:ext cx="1144614" cy="1597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27" name="잉크 26">
                    <a:extLst>
                      <a:ext uri="{FF2B5EF4-FFF2-40B4-BE49-F238E27FC236}">
                        <a16:creationId xmlns:a16="http://schemas.microsoft.com/office/drawing/2014/main" id="{FB09D570-1C0B-C180-9B4E-46AB01DAC99C}"/>
                      </a:ext>
                    </a:extLst>
                  </p14:cNvPr>
                  <p14:cNvContentPartPr/>
                  <p14:nvPr/>
                </p14:nvContentPartPr>
                <p14:xfrm>
                  <a:off x="6438820" y="3869820"/>
                  <a:ext cx="46080" cy="251280"/>
                </p14:xfrm>
              </p:contentPart>
            </mc:Choice>
            <mc:Fallback xmlns="">
              <p:pic>
                <p:nvPicPr>
                  <p:cNvPr id="27" name="잉크 26">
                    <a:extLst>
                      <a:ext uri="{FF2B5EF4-FFF2-40B4-BE49-F238E27FC236}">
                        <a16:creationId xmlns:a16="http://schemas.microsoft.com/office/drawing/2014/main" id="{FB09D570-1C0B-C180-9B4E-46AB01DAC99C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6430986" y="3863820"/>
                    <a:ext cx="61747" cy="26327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28" name="잉크 27">
                    <a:extLst>
                      <a:ext uri="{FF2B5EF4-FFF2-40B4-BE49-F238E27FC236}">
                        <a16:creationId xmlns:a16="http://schemas.microsoft.com/office/drawing/2014/main" id="{AF936E1E-096A-DC4B-DF4B-FCE7D12BA1AC}"/>
                      </a:ext>
                    </a:extLst>
                  </p14:cNvPr>
                  <p14:cNvContentPartPr/>
                  <p14:nvPr/>
                </p14:nvContentPartPr>
                <p14:xfrm>
                  <a:off x="6463300" y="3997980"/>
                  <a:ext cx="240480" cy="116280"/>
                </p14:xfrm>
              </p:contentPart>
            </mc:Choice>
            <mc:Fallback xmlns="">
              <p:pic>
                <p:nvPicPr>
                  <p:cNvPr id="28" name="잉크 27">
                    <a:extLst>
                      <a:ext uri="{FF2B5EF4-FFF2-40B4-BE49-F238E27FC236}">
                        <a16:creationId xmlns:a16="http://schemas.microsoft.com/office/drawing/2014/main" id="{AF936E1E-096A-DC4B-DF4B-FCE7D12BA1AC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6455483" y="3991972"/>
                    <a:ext cx="256113" cy="12829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37E4787-F3AB-0149-0268-6074C8438B9B}"/>
                </a:ext>
              </a:extLst>
            </p:cNvPr>
            <p:cNvGrpSpPr/>
            <p:nvPr/>
          </p:nvGrpSpPr>
          <p:grpSpPr>
            <a:xfrm>
              <a:off x="3900100" y="3994020"/>
              <a:ext cx="1495080" cy="1303560"/>
              <a:chOff x="3900100" y="3994020"/>
              <a:chExt cx="1495080" cy="1303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30" name="잉크 29">
                    <a:extLst>
                      <a:ext uri="{FF2B5EF4-FFF2-40B4-BE49-F238E27FC236}">
                        <a16:creationId xmlns:a16="http://schemas.microsoft.com/office/drawing/2014/main" id="{3EDE8666-849A-5019-6B62-AF25ED5246B3}"/>
                      </a:ext>
                    </a:extLst>
                  </p14:cNvPr>
                  <p14:cNvContentPartPr/>
                  <p14:nvPr/>
                </p14:nvContentPartPr>
                <p14:xfrm>
                  <a:off x="3900100" y="4036860"/>
                  <a:ext cx="1292040" cy="1260720"/>
                </p14:xfrm>
              </p:contentPart>
            </mc:Choice>
            <mc:Fallback xmlns="">
              <p:pic>
                <p:nvPicPr>
                  <p:cNvPr id="30" name="잉크 29">
                    <a:extLst>
                      <a:ext uri="{FF2B5EF4-FFF2-40B4-BE49-F238E27FC236}">
                        <a16:creationId xmlns:a16="http://schemas.microsoft.com/office/drawing/2014/main" id="{3EDE8666-849A-5019-6B62-AF25ED5246B3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3892272" y="4030860"/>
                    <a:ext cx="1307696" cy="1272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31" name="잉크 30">
                    <a:extLst>
                      <a:ext uri="{FF2B5EF4-FFF2-40B4-BE49-F238E27FC236}">
                        <a16:creationId xmlns:a16="http://schemas.microsoft.com/office/drawing/2014/main" id="{FAE03166-92D6-57A3-3AA0-8833B71C7E3F}"/>
                      </a:ext>
                    </a:extLst>
                  </p14:cNvPr>
                  <p14:cNvContentPartPr/>
                  <p14:nvPr/>
                </p14:nvContentPartPr>
                <p14:xfrm>
                  <a:off x="5052460" y="3994020"/>
                  <a:ext cx="342720" cy="212040"/>
                </p14:xfrm>
              </p:contentPart>
            </mc:Choice>
            <mc:Fallback xmlns="">
              <p:pic>
                <p:nvPicPr>
                  <p:cNvPr id="31" name="잉크 30">
                    <a:extLst>
                      <a:ext uri="{FF2B5EF4-FFF2-40B4-BE49-F238E27FC236}">
                        <a16:creationId xmlns:a16="http://schemas.microsoft.com/office/drawing/2014/main" id="{FAE03166-92D6-57A3-3AA0-8833B71C7E3F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5044629" y="3988012"/>
                    <a:ext cx="358382" cy="224056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526F45CA-D782-EAB1-3D54-5F80F22DC13B}"/>
              </a:ext>
            </a:extLst>
          </p:cNvPr>
          <p:cNvSpPr txBox="1"/>
          <p:nvPr/>
        </p:nvSpPr>
        <p:spPr>
          <a:xfrm rot="19800000">
            <a:off x="8419480" y="257316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err="1"/>
              <a:t>재잘</a:t>
            </a:r>
            <a:r>
              <a:rPr kumimoji="1" lang="ko-KR" altLang="en-US"/>
              <a:t> </a:t>
            </a:r>
            <a:r>
              <a:rPr kumimoji="1" lang="ko-KR" altLang="en-US" err="1"/>
              <a:t>재잘</a:t>
            </a:r>
            <a:endParaRPr kumimoji="1"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F7FF9D-CEC6-171B-BF6B-0156424B1CB6}"/>
              </a:ext>
            </a:extLst>
          </p:cNvPr>
          <p:cNvSpPr txBox="1"/>
          <p:nvPr/>
        </p:nvSpPr>
        <p:spPr>
          <a:xfrm rot="19800000">
            <a:off x="5382352" y="3644132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/>
              <a:t>수다 수다</a:t>
            </a:r>
          </a:p>
        </p:txBody>
      </p:sp>
    </p:spTree>
    <p:extLst>
      <p:ext uri="{BB962C8B-B14F-4D97-AF65-F5344CB8AC3E}">
        <p14:creationId xmlns:p14="http://schemas.microsoft.com/office/powerpoint/2010/main" val="3562356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21F692F-85CA-D35E-C43B-E05201485F4D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F8777D-7338-F28E-62C1-A7CF1A1190A3}"/>
              </a:ext>
            </a:extLst>
          </p:cNvPr>
          <p:cNvSpPr/>
          <p:nvPr/>
        </p:nvSpPr>
        <p:spPr>
          <a:xfrm>
            <a:off x="5103452" y="121918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4B0152-D8FC-2BE0-4517-ECF54BD19A02}"/>
              </a:ext>
            </a:extLst>
          </p:cNvPr>
          <p:cNvSpPr/>
          <p:nvPr/>
        </p:nvSpPr>
        <p:spPr>
          <a:xfrm>
            <a:off x="9984377" y="121919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r>
              <a:rPr lang="ko-KR" altLang="en-US"/>
              <a:t> ✅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238891A-7669-1660-48DB-DAF1E0330929}"/>
              </a:ext>
            </a:extLst>
          </p:cNvPr>
          <p:cNvCxnSpPr>
            <a:endCxn id="5" idx="1"/>
          </p:cNvCxnSpPr>
          <p:nvPr/>
        </p:nvCxnSpPr>
        <p:spPr>
          <a:xfrm>
            <a:off x="2037806" y="404947"/>
            <a:ext cx="3065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1EE5B5A-E096-5298-73E7-AE6B74AA621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10629" y="404947"/>
            <a:ext cx="297374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C8B506-3D60-967D-C068-D214F79A950C}"/>
              </a:ext>
            </a:extLst>
          </p:cNvPr>
          <p:cNvSpPr/>
          <p:nvPr/>
        </p:nvSpPr>
        <p:spPr>
          <a:xfrm>
            <a:off x="130629" y="842211"/>
            <a:ext cx="11852824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03. </a:t>
            </a:r>
            <a:r>
              <a:rPr lang="ko-KR" altLang="en-US"/>
              <a:t>액션 플랜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00FD126-DC17-DF7A-3B2F-64A45D8D2F1C}"/>
              </a:ext>
            </a:extLst>
          </p:cNvPr>
          <p:cNvGrpSpPr/>
          <p:nvPr/>
        </p:nvGrpSpPr>
        <p:grpSpPr>
          <a:xfrm>
            <a:off x="130630" y="1636292"/>
            <a:ext cx="11852824" cy="4993910"/>
            <a:chOff x="130629" y="1636292"/>
            <a:chExt cx="12193197" cy="4993910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4BA7FF5-4AFC-8671-83B9-F89C5168927E}"/>
                </a:ext>
              </a:extLst>
            </p:cNvPr>
            <p:cNvGrpSpPr/>
            <p:nvPr/>
          </p:nvGrpSpPr>
          <p:grpSpPr>
            <a:xfrm>
              <a:off x="130629" y="1636293"/>
              <a:ext cx="9105968" cy="4993909"/>
              <a:chOff x="130629" y="1636293"/>
              <a:chExt cx="13760000" cy="4993909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F50F70D-099A-5A58-84FC-83B58FD43F66}"/>
                  </a:ext>
                </a:extLst>
              </p:cNvPr>
              <p:cNvSpPr/>
              <p:nvPr/>
            </p:nvSpPr>
            <p:spPr>
              <a:xfrm>
                <a:off x="130629" y="1636295"/>
                <a:ext cx="4429796" cy="49939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/>
                  <a:t>3~4</a:t>
                </a:r>
                <a:r>
                  <a:rPr lang="ko-KR" altLang="en-US"/>
                  <a:t>월 </a:t>
                </a:r>
                <a:r>
                  <a:rPr lang="en-US" altLang="ko-KR"/>
                  <a:t>MVP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200"/>
                  <a:t>수업용 </a:t>
                </a:r>
                <a:r>
                  <a:rPr lang="en-US" altLang="ko-KR" sz="1200"/>
                  <a:t>LITE</a:t>
                </a:r>
                <a:endParaRPr lang="ko-KR" altLang="en-US" sz="1200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8CCDFD6B-F34E-4B36-3D69-E83EAD6D88AA}"/>
                  </a:ext>
                </a:extLst>
              </p:cNvPr>
              <p:cNvSpPr/>
              <p:nvPr/>
            </p:nvSpPr>
            <p:spPr>
              <a:xfrm>
                <a:off x="4795731" y="1636294"/>
                <a:ext cx="4429796" cy="49939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/>
                  <a:t>5</a:t>
                </a:r>
                <a:r>
                  <a:rPr lang="ko-KR" altLang="en-US"/>
                  <a:t>월</a:t>
                </a:r>
                <a:br>
                  <a:rPr lang="en-US" altLang="ko-KR"/>
                </a:br>
                <a:r>
                  <a:rPr lang="en-US" altLang="ko-KR" sz="1400"/>
                  <a:t>- </a:t>
                </a:r>
                <a:r>
                  <a:rPr lang="ko-KR" altLang="en-US" sz="1200"/>
                  <a:t>복습용</a:t>
                </a:r>
                <a:r>
                  <a:rPr lang="en-US" altLang="ko-KR" sz="1200"/>
                  <a:t> LITE</a:t>
                </a: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28D31070-CC98-E090-6357-86291B7F1229}"/>
                  </a:ext>
                </a:extLst>
              </p:cNvPr>
              <p:cNvSpPr/>
              <p:nvPr/>
            </p:nvSpPr>
            <p:spPr>
              <a:xfrm>
                <a:off x="9460833" y="1636293"/>
                <a:ext cx="4429796" cy="49939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/>
                  <a:t>6</a:t>
                </a:r>
                <a:r>
                  <a:rPr lang="ko-KR" altLang="en-US"/>
                  <a:t>월</a:t>
                </a:r>
                <a:endParaRPr lang="en-US" altLang="ko-KR"/>
              </a:p>
              <a:p>
                <a:r>
                  <a:rPr lang="en-US" altLang="ko-KR" sz="1200"/>
                  <a:t>- </a:t>
                </a:r>
                <a:r>
                  <a:rPr lang="ko-KR" altLang="en-US" sz="1200"/>
                  <a:t>공부방</a:t>
                </a:r>
                <a:r>
                  <a:rPr lang="en-US" altLang="ko-KR" sz="1200"/>
                  <a:t> LITE</a:t>
                </a:r>
                <a:endParaRPr lang="en-US" altLang="ko-KR" sz="1400"/>
              </a:p>
              <a:p>
                <a:endParaRPr lang="ko-KR" altLang="en-US" sz="1400"/>
              </a:p>
            </p:txBody>
          </p:sp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34072EE-9794-F54E-FFA7-9CE924960FC7}"/>
                </a:ext>
              </a:extLst>
            </p:cNvPr>
            <p:cNvSpPr/>
            <p:nvPr/>
          </p:nvSpPr>
          <p:spPr>
            <a:xfrm>
              <a:off x="9392316" y="1636292"/>
              <a:ext cx="2931510" cy="49939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/>
                <a:t>7</a:t>
              </a:r>
              <a:r>
                <a:rPr lang="ko-KR" altLang="en-US"/>
                <a:t>월 </a:t>
              </a:r>
              <a:r>
                <a:rPr lang="en-US" altLang="ko-KR"/>
                <a:t>~</a:t>
              </a:r>
              <a:r>
                <a:rPr lang="ko-KR" altLang="en-US"/>
                <a:t> </a:t>
              </a:r>
              <a:r>
                <a:rPr lang="en-US" altLang="ko-KR"/>
                <a:t>9</a:t>
              </a:r>
              <a:r>
                <a:rPr lang="ko-KR" altLang="en-US"/>
                <a:t>월</a:t>
              </a:r>
              <a:endParaRPr lang="en-US" altLang="ko-KR"/>
            </a:p>
            <a:p>
              <a:pPr marL="285750" indent="-285750">
                <a:buFontTx/>
                <a:buChar char="-"/>
              </a:pPr>
              <a:r>
                <a:rPr lang="ko-KR" altLang="en-US" sz="1200"/>
                <a:t>사용자 테스트 후 고도화</a:t>
              </a:r>
              <a:endParaRPr lang="en-US" altLang="ko-KR" sz="1200"/>
            </a:p>
            <a:p>
              <a:pPr marL="285750" indent="-285750">
                <a:buFontTx/>
                <a:buChar char="-"/>
              </a:pPr>
              <a:r>
                <a:rPr lang="ko-KR" altLang="en-US" sz="1200"/>
                <a:t>안정화 후 소프트 런칭</a:t>
              </a:r>
              <a:endParaRPr lang="en-US" altLang="ko-KR" sz="1200"/>
            </a:p>
          </p:txBody>
        </p:sp>
      </p:grpSp>
    </p:spTree>
    <p:extLst>
      <p:ext uri="{BB962C8B-B14F-4D97-AF65-F5344CB8AC3E}">
        <p14:creationId xmlns:p14="http://schemas.microsoft.com/office/powerpoint/2010/main" val="3746175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6B2D723-9023-A10F-1B11-E3585E8CC1D8}"/>
              </a:ext>
            </a:extLst>
          </p:cNvPr>
          <p:cNvSpPr/>
          <p:nvPr/>
        </p:nvSpPr>
        <p:spPr>
          <a:xfrm>
            <a:off x="1815736" y="2209800"/>
            <a:ext cx="8299269" cy="1219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/>
              <a:t>2026 </a:t>
            </a:r>
            <a:r>
              <a:rPr lang="ko-KR" altLang="en-US" sz="4400"/>
              <a:t>게임 서비스 기획</a:t>
            </a:r>
            <a:r>
              <a:rPr lang="en-US" altLang="ko-KR" sz="4400"/>
              <a:t>(</a:t>
            </a:r>
            <a:r>
              <a:rPr lang="ko-KR" altLang="en-US" sz="4400"/>
              <a:t>안</a:t>
            </a:r>
            <a:r>
              <a:rPr lang="en-US" altLang="ko-KR" sz="4400"/>
              <a:t>)</a:t>
            </a:r>
            <a:endParaRPr lang="ko-KR" altLang="en-US" sz="4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76EA4F-DB03-0F86-995C-6464607AD90C}"/>
              </a:ext>
            </a:extLst>
          </p:cNvPr>
          <p:cNvSpPr/>
          <p:nvPr/>
        </p:nvSpPr>
        <p:spPr>
          <a:xfrm>
            <a:off x="3622765" y="4182292"/>
            <a:ext cx="4685212" cy="415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에듀테크 플랫폼 기획 </a:t>
            </a:r>
            <a:r>
              <a:rPr lang="en-US" altLang="ko-KR"/>
              <a:t>Core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BBE984B-633D-212F-58B6-1F3705698CB1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870CD-4B23-FC41-986E-B11F925A4697}"/>
              </a:ext>
            </a:extLst>
          </p:cNvPr>
          <p:cNvSpPr txBox="1"/>
          <p:nvPr/>
        </p:nvSpPr>
        <p:spPr>
          <a:xfrm>
            <a:off x="130629" y="775063"/>
            <a:ext cx="4525598" cy="1666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/>
              <a:t>Why – </a:t>
            </a:r>
            <a:r>
              <a:rPr lang="ko-KR" altLang="en-US"/>
              <a:t>현 </a:t>
            </a:r>
            <a:r>
              <a:rPr lang="ko-KR" altLang="en-US" err="1"/>
              <a:t>게이미피케이션</a:t>
            </a:r>
            <a:r>
              <a:rPr lang="ko-KR" altLang="en-US"/>
              <a:t> 시장의 경향</a:t>
            </a:r>
            <a:endParaRPr lang="en-US" altLang="ko-KR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/>
              <a:t>What – </a:t>
            </a:r>
            <a:r>
              <a:rPr lang="ko-KR" altLang="en-US"/>
              <a:t>교사에게 필요한 게임 서비스</a:t>
            </a:r>
            <a:endParaRPr lang="en-US" altLang="ko-KR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/>
              <a:t>When – </a:t>
            </a:r>
            <a:r>
              <a:rPr lang="ko-KR" altLang="en-US"/>
              <a:t>액션 플랜</a:t>
            </a:r>
          </a:p>
        </p:txBody>
      </p:sp>
    </p:spTree>
    <p:extLst>
      <p:ext uri="{BB962C8B-B14F-4D97-AF65-F5344CB8AC3E}">
        <p14:creationId xmlns:p14="http://schemas.microsoft.com/office/powerpoint/2010/main" val="3385993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8C322-BB47-BE8D-1DE8-A120203D5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5C2C856-D453-73DA-F824-0C47655375B5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 </a:t>
            </a:r>
            <a:r>
              <a:rPr lang="ko-KR" altLang="en-US"/>
              <a:t>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C8946B-98D4-D1D4-FAC4-2672310DDEF2}"/>
              </a:ext>
            </a:extLst>
          </p:cNvPr>
          <p:cNvSpPr/>
          <p:nvPr/>
        </p:nvSpPr>
        <p:spPr>
          <a:xfrm>
            <a:off x="5103452" y="121918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709B34-FE15-5A0A-85EA-71C2E16D1EA8}"/>
              </a:ext>
            </a:extLst>
          </p:cNvPr>
          <p:cNvSpPr/>
          <p:nvPr/>
        </p:nvSpPr>
        <p:spPr>
          <a:xfrm>
            <a:off x="9984377" y="121919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B3DCBA9-C363-2510-A379-35C344143917}"/>
              </a:ext>
            </a:extLst>
          </p:cNvPr>
          <p:cNvSpPr/>
          <p:nvPr/>
        </p:nvSpPr>
        <p:spPr>
          <a:xfrm>
            <a:off x="130629" y="842211"/>
            <a:ext cx="11852824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01. </a:t>
            </a:r>
            <a:r>
              <a:rPr lang="ko-KR" altLang="en-US"/>
              <a:t>현 학습용 게임 시장의 경향 </a:t>
            </a:r>
            <a:r>
              <a:rPr lang="en-US" altLang="ko-KR"/>
              <a:t>[1] AIDT </a:t>
            </a:r>
            <a:r>
              <a:rPr lang="ko-KR" altLang="en-US"/>
              <a:t>운영 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1922D06-0C58-DA94-5A6F-37D537C44B01}"/>
              </a:ext>
            </a:extLst>
          </p:cNvPr>
          <p:cNvCxnSpPr>
            <a:endCxn id="5" idx="1"/>
          </p:cNvCxnSpPr>
          <p:nvPr/>
        </p:nvCxnSpPr>
        <p:spPr>
          <a:xfrm>
            <a:off x="2037806" y="404947"/>
            <a:ext cx="3065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6D4008B-3DB5-2631-88AD-B9091FEE47E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10629" y="404947"/>
            <a:ext cx="297374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BEEBFBD-9F0B-B1CD-0C95-112E712DF8AE}"/>
              </a:ext>
            </a:extLst>
          </p:cNvPr>
          <p:cNvSpPr/>
          <p:nvPr/>
        </p:nvSpPr>
        <p:spPr>
          <a:xfrm>
            <a:off x="130629" y="1636295"/>
            <a:ext cx="5394272" cy="4993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AIDT </a:t>
            </a:r>
            <a:r>
              <a:rPr lang="ko-KR" altLang="en-US"/>
              <a:t>내 게임의 모습</a:t>
            </a:r>
            <a:endParaRPr lang="en-US" altLang="ko-KR"/>
          </a:p>
          <a:p>
            <a:pPr algn="ctr"/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AIDT </a:t>
            </a:r>
            <a:r>
              <a:rPr lang="ko-KR" altLang="en-US"/>
              <a:t>교과서 </a:t>
            </a:r>
            <a:r>
              <a:rPr lang="en-US" altLang="ko-KR"/>
              <a:t>-&gt; </a:t>
            </a:r>
            <a:r>
              <a:rPr lang="ko-KR" altLang="en-US"/>
              <a:t>게임 </a:t>
            </a:r>
            <a:r>
              <a:rPr lang="ko-KR" altLang="en-US" err="1"/>
              <a:t>팝업창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4F20D8-AAA4-9621-2B25-2AE168AB833E}"/>
              </a:ext>
            </a:extLst>
          </p:cNvPr>
          <p:cNvSpPr/>
          <p:nvPr/>
        </p:nvSpPr>
        <p:spPr>
          <a:xfrm>
            <a:off x="5707781" y="1636296"/>
            <a:ext cx="6275672" cy="4993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bg1"/>
                </a:solidFill>
              </a:rPr>
              <a:t>    </a:t>
            </a:r>
            <a:r>
              <a:rPr lang="en-US" altLang="ko-KR" b="1">
                <a:solidFill>
                  <a:schemeClr val="bg1"/>
                </a:solidFill>
                <a:highlight>
                  <a:srgbClr val="00FF00"/>
                </a:highlight>
              </a:rPr>
              <a:t>AIDT </a:t>
            </a:r>
            <a:r>
              <a:rPr lang="ko-KR" altLang="en-US" b="1">
                <a:solidFill>
                  <a:schemeClr val="bg1"/>
                </a:solidFill>
                <a:highlight>
                  <a:srgbClr val="00FF00"/>
                </a:highlight>
              </a:rPr>
              <a:t>사용 패턴</a:t>
            </a:r>
            <a:endParaRPr lang="en-US" altLang="ko-KR" b="1">
              <a:solidFill>
                <a:schemeClr val="bg1"/>
              </a:solidFill>
              <a:highlight>
                <a:srgbClr val="00FF00"/>
              </a:highlight>
            </a:endParaRPr>
          </a:p>
          <a:p>
            <a:pPr marL="285750" indent="-285750">
              <a:buFontTx/>
              <a:buChar char="-"/>
            </a:pPr>
            <a:r>
              <a:rPr lang="ko-KR" altLang="en-US">
                <a:solidFill>
                  <a:schemeClr val="bg1"/>
                </a:solidFill>
              </a:rPr>
              <a:t>진입 경로 </a:t>
            </a:r>
            <a:r>
              <a:rPr lang="en-US" altLang="ko-KR">
                <a:solidFill>
                  <a:schemeClr val="bg1"/>
                </a:solidFill>
              </a:rPr>
              <a:t>: </a:t>
            </a:r>
            <a:r>
              <a:rPr lang="ko-KR" altLang="en-US"/>
              <a:t>홈 </a:t>
            </a:r>
            <a:r>
              <a:rPr lang="en-US" altLang="ko-KR"/>
              <a:t>&gt; </a:t>
            </a:r>
            <a:r>
              <a:rPr lang="ko-KR" altLang="en-US"/>
              <a:t>교과서 </a:t>
            </a:r>
            <a:r>
              <a:rPr lang="en-US" altLang="ko-KR"/>
              <a:t>&gt; </a:t>
            </a:r>
            <a:r>
              <a:rPr lang="ko-KR" altLang="en-US"/>
              <a:t>수업 시작 </a:t>
            </a:r>
            <a:r>
              <a:rPr lang="en-US" altLang="ko-KR"/>
              <a:t>&gt; </a:t>
            </a:r>
            <a:r>
              <a:rPr lang="ko-KR" altLang="en-US"/>
              <a:t>게임 진입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>
                <a:solidFill>
                  <a:schemeClr val="bg1"/>
                </a:solidFill>
              </a:rPr>
              <a:t>게임 진입 시점 </a:t>
            </a:r>
            <a:r>
              <a:rPr lang="en-US" altLang="ko-KR">
                <a:solidFill>
                  <a:schemeClr val="bg1"/>
                </a:solidFill>
              </a:rPr>
              <a:t>: </a:t>
            </a:r>
            <a:r>
              <a:rPr lang="ko-KR" altLang="en-US"/>
              <a:t>수업 시작 직후 </a:t>
            </a:r>
            <a:r>
              <a:rPr lang="en-US" altLang="ko-KR"/>
              <a:t>44.2%</a:t>
            </a:r>
          </a:p>
          <a:p>
            <a:pPr marL="285750" indent="-285750">
              <a:buFontTx/>
              <a:buChar char="-"/>
            </a:pPr>
            <a:r>
              <a:rPr lang="ko-KR" altLang="en-US">
                <a:solidFill>
                  <a:schemeClr val="bg1"/>
                </a:solidFill>
              </a:rPr>
              <a:t>사용 시간대</a:t>
            </a:r>
            <a:r>
              <a:rPr lang="en-US" altLang="ko-KR">
                <a:solidFill>
                  <a:schemeClr val="bg1"/>
                </a:solidFill>
              </a:rPr>
              <a:t>: </a:t>
            </a:r>
            <a:r>
              <a:rPr lang="ko-KR" altLang="en-US"/>
              <a:t>오전 </a:t>
            </a:r>
            <a:r>
              <a:rPr lang="en-US" altLang="ko-KR"/>
              <a:t>9</a:t>
            </a:r>
            <a:r>
              <a:rPr lang="ko-KR" altLang="en-US"/>
              <a:t>시 </a:t>
            </a:r>
            <a:r>
              <a:rPr lang="en-US" altLang="ko-KR"/>
              <a:t>~ </a:t>
            </a:r>
            <a:r>
              <a:rPr lang="ko-KR" altLang="en-US"/>
              <a:t>오후 </a:t>
            </a:r>
            <a:r>
              <a:rPr lang="en-US" altLang="ko-KR"/>
              <a:t>3</a:t>
            </a:r>
            <a:r>
              <a:rPr lang="ko-KR" altLang="en-US"/>
              <a:t>시 집중</a:t>
            </a:r>
            <a:r>
              <a:rPr lang="en-US" altLang="ko-KR"/>
              <a:t> </a:t>
            </a:r>
            <a:r>
              <a:rPr lang="ko-KR" altLang="en-US"/>
              <a:t>사용</a:t>
            </a:r>
            <a:br>
              <a:rPr lang="en-US" altLang="ko-KR">
                <a:solidFill>
                  <a:schemeClr val="bg1"/>
                </a:solidFill>
              </a:rPr>
            </a:br>
            <a:endParaRPr lang="en-US" altLang="ko-KR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b="1" err="1">
                <a:solidFill>
                  <a:schemeClr val="bg1"/>
                </a:solidFill>
                <a:highlight>
                  <a:srgbClr val="00FF00"/>
                </a:highlight>
              </a:rPr>
              <a:t>자문단</a:t>
            </a:r>
            <a:r>
              <a:rPr lang="ko-KR" altLang="en-US" b="1">
                <a:solidFill>
                  <a:schemeClr val="bg1"/>
                </a:solidFill>
                <a:highlight>
                  <a:srgbClr val="00FF00"/>
                </a:highlight>
              </a:rPr>
              <a:t> 선생님 의견</a:t>
            </a:r>
            <a:br>
              <a:rPr lang="en-US" altLang="ko-KR">
                <a:solidFill>
                  <a:schemeClr val="bg1"/>
                </a:solidFill>
              </a:rPr>
            </a:br>
            <a:r>
              <a:rPr lang="en-US" altLang="ko-KR">
                <a:solidFill>
                  <a:schemeClr val="bg1"/>
                </a:solidFill>
              </a:rPr>
              <a:t>- </a:t>
            </a:r>
            <a:r>
              <a:rPr lang="ko-KR" altLang="en-US">
                <a:solidFill>
                  <a:schemeClr val="bg1"/>
                </a:solidFill>
              </a:rPr>
              <a:t>학생 집중도가 낮아지는 시점</a:t>
            </a:r>
            <a:r>
              <a:rPr lang="en-US" altLang="ko-KR">
                <a:solidFill>
                  <a:schemeClr val="bg1"/>
                </a:solidFill>
              </a:rPr>
              <a:t>, </a:t>
            </a:r>
            <a:r>
              <a:rPr lang="ko-KR" altLang="en-US">
                <a:solidFill>
                  <a:schemeClr val="bg1"/>
                </a:solidFill>
              </a:rPr>
              <a:t>이목을 끄는 용도로 주요 사용</a:t>
            </a:r>
            <a:r>
              <a:rPr lang="en-US" altLang="ko-KR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>
                <a:solidFill>
                  <a:schemeClr val="bg1"/>
                </a:solidFill>
              </a:rPr>
              <a:t>교사가 직접 게임 문제를 저작하고 싶어함</a:t>
            </a:r>
            <a:r>
              <a:rPr lang="en-US" altLang="ko-KR">
                <a:solidFill>
                  <a:schemeClr val="bg1"/>
                </a:solidFill>
              </a:rPr>
              <a:t>. </a:t>
            </a:r>
            <a:br>
              <a:rPr lang="en-US" altLang="ko-KR">
                <a:solidFill>
                  <a:schemeClr val="bg1"/>
                </a:solidFill>
              </a:rPr>
            </a:br>
            <a:br>
              <a:rPr lang="en-US" altLang="ko-KR">
                <a:solidFill>
                  <a:schemeClr val="bg1"/>
                </a:solidFill>
              </a:rPr>
            </a:br>
            <a:r>
              <a:rPr lang="en-US" altLang="ko-KR" b="1">
                <a:solidFill>
                  <a:srgbClr val="FF0000"/>
                </a:solidFill>
                <a:highlight>
                  <a:srgbClr val="FFFF00"/>
                </a:highlight>
              </a:rPr>
              <a:t>**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현황</a:t>
            </a:r>
            <a:r>
              <a:rPr lang="en-US" altLang="ko-KR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분석 </a:t>
            </a:r>
            <a:r>
              <a:rPr lang="en-US" altLang="ko-KR" b="1">
                <a:solidFill>
                  <a:srgbClr val="FF0000"/>
                </a:solidFill>
                <a:highlight>
                  <a:srgbClr val="FFFF00"/>
                </a:highlight>
              </a:rPr>
              <a:t>**</a:t>
            </a:r>
          </a:p>
          <a:p>
            <a:pPr marL="285750" indent="-285750">
              <a:buFontTx/>
              <a:buChar char="-"/>
            </a:pPr>
            <a:r>
              <a:rPr lang="ko-KR" altLang="en-US">
                <a:solidFill>
                  <a:schemeClr val="bg1"/>
                </a:solidFill>
              </a:rPr>
              <a:t>게임까지의 진입 경로가 길어 수업 중 즉시 활용이 어려움</a:t>
            </a:r>
            <a:r>
              <a:rPr lang="en-US" altLang="ko-KR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>
                <a:solidFill>
                  <a:schemeClr val="bg1"/>
                </a:solidFill>
              </a:rPr>
              <a:t>수업 집중이 필요한 시간대임에도 학생 집중력 유지 수단 부족</a:t>
            </a:r>
            <a:endParaRPr lang="en-US" altLang="ko-KR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BE014C-EA81-A123-403C-104959F93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71" y="1741772"/>
            <a:ext cx="5169783" cy="253902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608CB56-F0A0-D5E7-20A4-23A94F865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63" y="4280794"/>
            <a:ext cx="4919578" cy="249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75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2D53051-92C4-FF16-9211-8F96F1EE4464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 </a:t>
            </a:r>
            <a:r>
              <a:rPr lang="ko-KR" altLang="en-US"/>
              <a:t>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357E87-EAC0-B744-2992-6B72F3185B85}"/>
              </a:ext>
            </a:extLst>
          </p:cNvPr>
          <p:cNvSpPr/>
          <p:nvPr/>
        </p:nvSpPr>
        <p:spPr>
          <a:xfrm>
            <a:off x="5103452" y="121918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5CA429-488D-52CE-22C3-B8A22A9714AD}"/>
              </a:ext>
            </a:extLst>
          </p:cNvPr>
          <p:cNvSpPr/>
          <p:nvPr/>
        </p:nvSpPr>
        <p:spPr>
          <a:xfrm>
            <a:off x="9984377" y="121919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688489D-72C5-34D9-B31C-832390EB076C}"/>
              </a:ext>
            </a:extLst>
          </p:cNvPr>
          <p:cNvSpPr/>
          <p:nvPr/>
        </p:nvSpPr>
        <p:spPr>
          <a:xfrm>
            <a:off x="130629" y="842211"/>
            <a:ext cx="11852824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01. </a:t>
            </a:r>
            <a:r>
              <a:rPr lang="ko-KR" altLang="en-US"/>
              <a:t>현 학습용 게임 시장의 경향 </a:t>
            </a:r>
            <a:r>
              <a:rPr lang="en-US" altLang="ko-KR"/>
              <a:t>[2] Kahoot</a:t>
            </a:r>
            <a:r>
              <a:rPr lang="ko-KR" altLang="en-US"/>
              <a:t>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F954E97-76FC-95EF-5CDE-6AF2E82E1475}"/>
              </a:ext>
            </a:extLst>
          </p:cNvPr>
          <p:cNvCxnSpPr>
            <a:endCxn id="5" idx="1"/>
          </p:cNvCxnSpPr>
          <p:nvPr/>
        </p:nvCxnSpPr>
        <p:spPr>
          <a:xfrm>
            <a:off x="2037806" y="404947"/>
            <a:ext cx="3065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37D913E-D82A-F1E5-3A62-E9878F06D6F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10629" y="404947"/>
            <a:ext cx="297374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C4A7862-A37A-23D2-F41A-AAAD782B7969}"/>
              </a:ext>
            </a:extLst>
          </p:cNvPr>
          <p:cNvSpPr/>
          <p:nvPr/>
        </p:nvSpPr>
        <p:spPr>
          <a:xfrm>
            <a:off x="130629" y="1636295"/>
            <a:ext cx="5412332" cy="4993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err="1"/>
              <a:t>카훗</a:t>
            </a:r>
            <a:r>
              <a:rPr lang="ko-KR" altLang="en-US"/>
              <a:t> 이미지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09827AD-42CE-36C6-A5C5-4B9E686C4FD4}"/>
              </a:ext>
            </a:extLst>
          </p:cNvPr>
          <p:cNvSpPr/>
          <p:nvPr/>
        </p:nvSpPr>
        <p:spPr>
          <a:xfrm>
            <a:off x="5707781" y="1636296"/>
            <a:ext cx="6275672" cy="4993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err="1">
                <a:solidFill>
                  <a:schemeClr val="bg1"/>
                </a:solidFill>
                <a:highlight>
                  <a:srgbClr val="00FF00"/>
                </a:highlight>
              </a:rPr>
              <a:t>카훗</a:t>
            </a:r>
            <a:r>
              <a:rPr lang="ko-KR" altLang="en-US" sz="1600" b="1">
                <a:solidFill>
                  <a:schemeClr val="bg1"/>
                </a:solidFill>
                <a:highlight>
                  <a:srgbClr val="00FF00"/>
                </a:highlight>
              </a:rPr>
              <a:t> 벤치마킹 포인트 </a:t>
            </a:r>
            <a:r>
              <a:rPr lang="en-US" altLang="ko-KR" sz="1600" b="1">
                <a:solidFill>
                  <a:schemeClr val="bg1"/>
                </a:solidFill>
                <a:highlight>
                  <a:srgbClr val="00FF00"/>
                </a:highlight>
              </a:rPr>
              <a:t>01</a:t>
            </a:r>
            <a:r>
              <a:rPr lang="ko-KR" altLang="en-US" sz="1600">
                <a:highlight>
                  <a:srgbClr val="00FF00"/>
                </a:highlight>
              </a:rPr>
              <a:t> </a:t>
            </a:r>
            <a:r>
              <a:rPr lang="ko-KR" altLang="en-US" sz="1600"/>
              <a:t>낮은 진입장벽</a:t>
            </a:r>
            <a:br>
              <a:rPr lang="en-US" altLang="ko-KR" sz="1600">
                <a:solidFill>
                  <a:schemeClr val="bg1"/>
                </a:solidFill>
              </a:rPr>
            </a:br>
            <a:r>
              <a:rPr lang="en-US" altLang="ko-KR" sz="1600">
                <a:solidFill>
                  <a:schemeClr val="bg1"/>
                </a:solidFill>
              </a:rPr>
              <a:t>- </a:t>
            </a:r>
            <a:r>
              <a:rPr lang="en-US" altLang="ko-KR" sz="1600"/>
              <a:t>PIN </a:t>
            </a:r>
            <a:r>
              <a:rPr lang="ko-KR" altLang="en-US" sz="1600"/>
              <a:t>코드 또는 </a:t>
            </a:r>
            <a:r>
              <a:rPr lang="en-US" altLang="ko-KR" sz="1600"/>
              <a:t>QR </a:t>
            </a:r>
            <a:r>
              <a:rPr lang="ko-KR" altLang="en-US" sz="1600"/>
              <a:t>코드로 별도 가입 없이 즉시 입장</a:t>
            </a:r>
            <a:br>
              <a:rPr lang="en-US" altLang="ko-KR" sz="1600">
                <a:solidFill>
                  <a:schemeClr val="bg1"/>
                </a:solidFill>
              </a:rPr>
            </a:br>
            <a:br>
              <a:rPr lang="en-US" altLang="ko-KR" sz="1600">
                <a:solidFill>
                  <a:schemeClr val="bg1"/>
                </a:solidFill>
              </a:rPr>
            </a:br>
            <a:r>
              <a:rPr lang="ko-KR" altLang="en-US" sz="1600" b="1" err="1">
                <a:solidFill>
                  <a:schemeClr val="bg1"/>
                </a:solidFill>
                <a:highlight>
                  <a:srgbClr val="00FF00"/>
                </a:highlight>
              </a:rPr>
              <a:t>카훗</a:t>
            </a:r>
            <a:r>
              <a:rPr lang="ko-KR" altLang="en-US" sz="1600" b="1">
                <a:solidFill>
                  <a:schemeClr val="bg1"/>
                </a:solidFill>
                <a:highlight>
                  <a:srgbClr val="00FF00"/>
                </a:highlight>
              </a:rPr>
              <a:t> 벤치마킹 포인트 </a:t>
            </a:r>
            <a:r>
              <a:rPr lang="en-US" altLang="ko-KR" sz="1600" b="1">
                <a:solidFill>
                  <a:schemeClr val="bg1"/>
                </a:solidFill>
                <a:highlight>
                  <a:srgbClr val="00FF00"/>
                </a:highlight>
              </a:rPr>
              <a:t>02</a:t>
            </a:r>
            <a:r>
              <a:rPr lang="ko-KR" altLang="en-US" sz="1600">
                <a:highlight>
                  <a:srgbClr val="00FF00"/>
                </a:highlight>
              </a:rPr>
              <a:t> </a:t>
            </a:r>
            <a:r>
              <a:rPr lang="ko-KR" altLang="en-US" sz="1600"/>
              <a:t>콘텐츠 공유 </a:t>
            </a:r>
            <a:r>
              <a:rPr lang="ko-KR" altLang="en-US" sz="1600" err="1"/>
              <a:t>마켓플레이스</a:t>
            </a:r>
            <a:br>
              <a:rPr lang="en-US" altLang="ko-KR" sz="1600">
                <a:solidFill>
                  <a:schemeClr val="bg1"/>
                </a:solidFill>
              </a:rPr>
            </a:br>
            <a:r>
              <a:rPr lang="en-US" altLang="ko-KR" sz="1600">
                <a:solidFill>
                  <a:schemeClr val="bg1"/>
                </a:solidFill>
              </a:rPr>
              <a:t>- </a:t>
            </a:r>
            <a:r>
              <a:rPr lang="ko-KR" altLang="en-US" sz="1600"/>
              <a:t>여러 교사가 만든 콘텐츠를 공유</a:t>
            </a:r>
            <a:r>
              <a:rPr lang="en-US" altLang="ko-KR" sz="1600"/>
              <a:t>·</a:t>
            </a:r>
            <a:r>
              <a:rPr lang="ko-KR" altLang="en-US" sz="1600"/>
              <a:t>사용</a:t>
            </a:r>
            <a:r>
              <a:rPr lang="en-US" altLang="ko-KR" sz="1600"/>
              <a:t>,</a:t>
            </a:r>
            <a:r>
              <a:rPr lang="ko-KR" altLang="en-US" sz="1600"/>
              <a:t> 바로 수업에 활용</a:t>
            </a:r>
            <a:endParaRPr lang="en-US" altLang="ko-KR" sz="1600"/>
          </a:p>
          <a:p>
            <a:br>
              <a:rPr lang="en-US" altLang="ko-KR" sz="1600">
                <a:solidFill>
                  <a:schemeClr val="bg1"/>
                </a:solidFill>
              </a:rPr>
            </a:br>
            <a:r>
              <a:rPr lang="ko-KR" altLang="en-US" sz="1600" b="1" err="1">
                <a:solidFill>
                  <a:schemeClr val="bg1"/>
                </a:solidFill>
                <a:highlight>
                  <a:srgbClr val="00FF00"/>
                </a:highlight>
              </a:rPr>
              <a:t>카훗</a:t>
            </a:r>
            <a:r>
              <a:rPr lang="ko-KR" altLang="en-US" sz="1600" b="1">
                <a:solidFill>
                  <a:schemeClr val="bg1"/>
                </a:solidFill>
                <a:highlight>
                  <a:srgbClr val="00FF00"/>
                </a:highlight>
              </a:rPr>
              <a:t> 아쉬운 포인트 </a:t>
            </a:r>
            <a:r>
              <a:rPr lang="en-US" altLang="ko-KR" sz="1600" b="1">
                <a:solidFill>
                  <a:schemeClr val="bg1"/>
                </a:solidFill>
                <a:highlight>
                  <a:srgbClr val="00FF00"/>
                </a:highlight>
              </a:rPr>
              <a:t>01</a:t>
            </a:r>
            <a:r>
              <a:rPr lang="ko-KR" altLang="en-US" sz="1600">
                <a:highlight>
                  <a:srgbClr val="00FF00"/>
                </a:highlight>
              </a:rPr>
              <a:t> </a:t>
            </a:r>
            <a:r>
              <a:rPr lang="ko-KR" altLang="en-US" sz="1600"/>
              <a:t>결과 중심</a:t>
            </a:r>
            <a:r>
              <a:rPr lang="en-US" altLang="ko-KR" sz="1600"/>
              <a:t>, </a:t>
            </a:r>
            <a:r>
              <a:rPr lang="ko-KR" altLang="en-US" sz="1600"/>
              <a:t>데이터 단절</a:t>
            </a:r>
            <a:br>
              <a:rPr lang="en-US" altLang="ko-KR" sz="1600">
                <a:solidFill>
                  <a:schemeClr val="bg1"/>
                </a:solidFill>
              </a:rPr>
            </a:br>
            <a:r>
              <a:rPr lang="en-US" altLang="ko-KR" sz="1600">
                <a:solidFill>
                  <a:schemeClr val="bg1"/>
                </a:solidFill>
              </a:rPr>
              <a:t>-</a:t>
            </a:r>
            <a:r>
              <a:rPr lang="ko-KR" altLang="en-US" sz="1600"/>
              <a:t> </a:t>
            </a:r>
            <a:r>
              <a:rPr lang="ko-KR" altLang="en-US" sz="1600" err="1"/>
              <a:t>정오답</a:t>
            </a:r>
            <a:r>
              <a:rPr lang="ko-KR" altLang="en-US" sz="1600"/>
              <a:t> 결과만 제공</a:t>
            </a:r>
            <a:r>
              <a:rPr lang="en-US" altLang="ko-KR" sz="1600"/>
              <a:t>, </a:t>
            </a:r>
            <a:r>
              <a:rPr lang="ko-KR" altLang="en-US" sz="1600"/>
              <a:t>교사는 누가 어디서 막혔는지 알 수 없음</a:t>
            </a:r>
            <a:br>
              <a:rPr lang="en-US" altLang="ko-KR" sz="1600">
                <a:solidFill>
                  <a:schemeClr val="bg1"/>
                </a:solidFill>
              </a:rPr>
            </a:br>
            <a:br>
              <a:rPr lang="en-US" altLang="ko-KR" sz="1600">
                <a:solidFill>
                  <a:schemeClr val="bg1"/>
                </a:solidFill>
              </a:rPr>
            </a:br>
            <a:r>
              <a:rPr lang="ko-KR" altLang="en-US" sz="1600" b="1" err="1">
                <a:solidFill>
                  <a:schemeClr val="bg1"/>
                </a:solidFill>
                <a:highlight>
                  <a:srgbClr val="00FF00"/>
                </a:highlight>
              </a:rPr>
              <a:t>카훗</a:t>
            </a:r>
            <a:r>
              <a:rPr lang="ko-KR" altLang="en-US" sz="1600" b="1">
                <a:solidFill>
                  <a:schemeClr val="bg1"/>
                </a:solidFill>
                <a:highlight>
                  <a:srgbClr val="00FF00"/>
                </a:highlight>
              </a:rPr>
              <a:t> 아쉬운 포인트</a:t>
            </a:r>
            <a:r>
              <a:rPr lang="en-US" altLang="ko-KR" sz="1600" b="1">
                <a:solidFill>
                  <a:schemeClr val="bg1"/>
                </a:solidFill>
                <a:highlight>
                  <a:srgbClr val="00FF00"/>
                </a:highlight>
              </a:rPr>
              <a:t>02</a:t>
            </a:r>
            <a:r>
              <a:rPr lang="ko-KR" altLang="en-US" sz="1600">
                <a:highlight>
                  <a:srgbClr val="00FF00"/>
                </a:highlight>
              </a:rPr>
              <a:t> </a:t>
            </a:r>
            <a:r>
              <a:rPr lang="ko-KR" altLang="en-US" sz="1600"/>
              <a:t>검증되지 않은 콘텐츠</a:t>
            </a:r>
            <a:br>
              <a:rPr lang="en-US" altLang="ko-KR" sz="1600">
                <a:solidFill>
                  <a:schemeClr val="bg1"/>
                </a:solidFill>
              </a:rPr>
            </a:br>
            <a:r>
              <a:rPr lang="en-US" altLang="ko-KR" sz="1600">
                <a:solidFill>
                  <a:schemeClr val="bg1"/>
                </a:solidFill>
              </a:rPr>
              <a:t>- </a:t>
            </a:r>
            <a:r>
              <a:rPr lang="ko-KR" altLang="en-US" sz="1600"/>
              <a:t>한국 교육과정과 무관</a:t>
            </a:r>
            <a:r>
              <a:rPr lang="en-US" altLang="ko-KR" sz="1600"/>
              <a:t>, </a:t>
            </a:r>
            <a:r>
              <a:rPr lang="ko-KR" altLang="en-US" sz="1600"/>
              <a:t>교사가 수업 전 직접 내용을 검토</a:t>
            </a:r>
            <a:br>
              <a:rPr lang="en-US" altLang="ko-KR" sz="1600">
                <a:solidFill>
                  <a:schemeClr val="bg1"/>
                </a:solidFill>
              </a:rPr>
            </a:br>
            <a:br>
              <a:rPr lang="en-US" altLang="ko-KR" sz="1600">
                <a:solidFill>
                  <a:schemeClr val="bg1"/>
                </a:solidFill>
              </a:rPr>
            </a:br>
            <a:r>
              <a:rPr lang="en-US" altLang="ko-KR" sz="1600" b="1">
                <a:solidFill>
                  <a:srgbClr val="FF0000"/>
                </a:solidFill>
                <a:highlight>
                  <a:srgbClr val="FFFF00"/>
                </a:highlight>
              </a:rPr>
              <a:t>** </a:t>
            </a:r>
            <a:r>
              <a:rPr lang="ko-KR" altLang="en-US" sz="1600" b="1">
                <a:solidFill>
                  <a:srgbClr val="FF0000"/>
                </a:solidFill>
                <a:highlight>
                  <a:srgbClr val="FFFF00"/>
                </a:highlight>
              </a:rPr>
              <a:t>현황</a:t>
            </a:r>
            <a:r>
              <a:rPr lang="en-US" altLang="ko-KR" sz="160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600" b="1">
                <a:solidFill>
                  <a:srgbClr val="FF0000"/>
                </a:solidFill>
                <a:highlight>
                  <a:srgbClr val="FFFF00"/>
                </a:highlight>
              </a:rPr>
              <a:t>분석 </a:t>
            </a:r>
            <a:r>
              <a:rPr lang="en-US" altLang="ko-KR" sz="1600" b="1">
                <a:solidFill>
                  <a:srgbClr val="FF0000"/>
                </a:solidFill>
                <a:highlight>
                  <a:srgbClr val="FFFF00"/>
                </a:highlight>
              </a:rPr>
              <a:t>**</a:t>
            </a:r>
            <a:br>
              <a:rPr lang="en-US" altLang="ko-KR" sz="1600">
                <a:solidFill>
                  <a:schemeClr val="bg1"/>
                </a:solidFill>
              </a:rPr>
            </a:br>
            <a:r>
              <a:rPr lang="en-US" altLang="ko-KR" sz="1600">
                <a:solidFill>
                  <a:schemeClr val="bg1"/>
                </a:solidFill>
              </a:rPr>
              <a:t>-</a:t>
            </a:r>
            <a:r>
              <a:rPr lang="ko-KR" altLang="en-US" sz="1600">
                <a:solidFill>
                  <a:schemeClr val="bg1"/>
                </a:solidFill>
              </a:rPr>
              <a:t> </a:t>
            </a:r>
            <a:r>
              <a:rPr lang="ko-KR" altLang="en-US" sz="1600"/>
              <a:t>단순 흥미 유발이 아닌</a:t>
            </a:r>
            <a:r>
              <a:rPr lang="en-US" altLang="ko-KR" sz="1600"/>
              <a:t>, </a:t>
            </a:r>
            <a:r>
              <a:rPr lang="ko-KR" altLang="en-US" sz="1600"/>
              <a:t>학습 데이터가 연결되는 의미 있는 게임 서비스가 필요하다</a:t>
            </a:r>
            <a:endParaRPr lang="en-US" altLang="ko-KR" sz="1600"/>
          </a:p>
          <a:p>
            <a:r>
              <a:rPr lang="en-US" altLang="ko-KR" sz="1600"/>
              <a:t>- </a:t>
            </a:r>
            <a:r>
              <a:rPr lang="ko-KR" altLang="en-US" sz="1600"/>
              <a:t>교사가 신뢰할 수 있는 교육과정 기반 콘텐츠가 필요하다</a:t>
            </a:r>
            <a:endParaRPr lang="en-US" altLang="ko-KR" sz="1600"/>
          </a:p>
          <a:p>
            <a:endParaRPr lang="en-US" altLang="ko-KR">
              <a:solidFill>
                <a:schemeClr val="bg1"/>
              </a:solidFill>
            </a:endParaRPr>
          </a:p>
        </p:txBody>
      </p:sp>
      <p:pic>
        <p:nvPicPr>
          <p:cNvPr id="1026" name="Picture 2" descr="텍스트, 스크린샷, 웹사이트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B90950-D37D-5E27-0AC0-F0B723BC5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47" y="1356302"/>
            <a:ext cx="4866833" cy="335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텍스트, 스크린샷, 웹사이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F0F233-97CD-1AC7-D144-4D868774A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55" y="4543563"/>
            <a:ext cx="5083626" cy="28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5541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B705E-4B50-959E-61EA-08D856358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757479-3054-D9B2-5C54-005C4F5470CC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 </a:t>
            </a:r>
            <a:r>
              <a:rPr lang="ko-KR" altLang="en-US"/>
              <a:t>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CDAAE3-B634-F890-CF3B-BEF4E8143269}"/>
              </a:ext>
            </a:extLst>
          </p:cNvPr>
          <p:cNvSpPr/>
          <p:nvPr/>
        </p:nvSpPr>
        <p:spPr>
          <a:xfrm>
            <a:off x="5103452" y="121918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09453B-3791-3CD3-8920-AA2756C476BB}"/>
              </a:ext>
            </a:extLst>
          </p:cNvPr>
          <p:cNvSpPr/>
          <p:nvPr/>
        </p:nvSpPr>
        <p:spPr>
          <a:xfrm>
            <a:off x="9984377" y="121919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BFA565-75C3-65B1-B886-B0DCC0B0A07A}"/>
              </a:ext>
            </a:extLst>
          </p:cNvPr>
          <p:cNvSpPr/>
          <p:nvPr/>
        </p:nvSpPr>
        <p:spPr>
          <a:xfrm>
            <a:off x="130629" y="842211"/>
            <a:ext cx="11852824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01. </a:t>
            </a:r>
            <a:r>
              <a:rPr lang="ko-KR" altLang="en-US"/>
              <a:t>현 학습용 게임 시장의 경향 </a:t>
            </a:r>
            <a:r>
              <a:rPr lang="en-US" altLang="ko-KR"/>
              <a:t>[3] </a:t>
            </a:r>
            <a:r>
              <a:rPr lang="ko-KR" altLang="en-US"/>
              <a:t>종합 분석 결과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FCFC2C0-7C87-0138-5767-AB90D4C025A7}"/>
              </a:ext>
            </a:extLst>
          </p:cNvPr>
          <p:cNvCxnSpPr>
            <a:endCxn id="5" idx="1"/>
          </p:cNvCxnSpPr>
          <p:nvPr/>
        </p:nvCxnSpPr>
        <p:spPr>
          <a:xfrm>
            <a:off x="2037806" y="404947"/>
            <a:ext cx="3065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1F9079D-94EE-E4AF-E8A2-ECD62F1308D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10629" y="404947"/>
            <a:ext cx="297374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35C67A7-82CD-A6B5-6965-6E7DD78A6DB1}"/>
              </a:ext>
            </a:extLst>
          </p:cNvPr>
          <p:cNvSpPr/>
          <p:nvPr/>
        </p:nvSpPr>
        <p:spPr>
          <a:xfrm>
            <a:off x="130629" y="5565837"/>
            <a:ext cx="11898165" cy="122963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ko-KR" altLang="en-US" b="1"/>
              <a:t>기대 효과 </a:t>
            </a:r>
            <a:r>
              <a:rPr lang="en-US" altLang="ko-KR" b="1"/>
              <a:t>: </a:t>
            </a:r>
            <a:r>
              <a:rPr lang="ko-KR" altLang="en-US" b="1"/>
              <a:t>교사가 덜 준비하고</a:t>
            </a:r>
            <a:r>
              <a:rPr lang="en-US" altLang="ko-KR" b="1"/>
              <a:t>, </a:t>
            </a:r>
            <a:r>
              <a:rPr lang="ko-KR" altLang="en-US" b="1"/>
              <a:t>더 많이 파악하고</a:t>
            </a:r>
            <a:r>
              <a:rPr lang="en-US" altLang="ko-KR" b="1"/>
              <a:t>, </a:t>
            </a:r>
            <a:r>
              <a:rPr lang="ko-KR" altLang="en-US" b="1"/>
              <a:t>계속 쓰게 된다</a:t>
            </a:r>
            <a:endParaRPr lang="ko-KR" altLang="en-US" sz="3200" b="1">
              <a:ea typeface="맑은 고딕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00CCDE-6F04-5029-B8C2-2642BD981763}"/>
              </a:ext>
            </a:extLst>
          </p:cNvPr>
          <p:cNvSpPr/>
          <p:nvPr/>
        </p:nvSpPr>
        <p:spPr>
          <a:xfrm>
            <a:off x="130629" y="1562503"/>
            <a:ext cx="11913161" cy="38490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ko-KR" b="1">
                <a:solidFill>
                  <a:srgbClr val="FF0000"/>
                </a:solidFill>
                <a:highlight>
                  <a:srgbClr val="FFFF00"/>
                </a:highlight>
              </a:rPr>
              <a:t>[1]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교사에게 편리한 게임 서비스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낮은 진입 장벽 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교사가 문항 구성 부담 없이 직접 저작 가능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능동적인 자기주도학습으로 학생 동기부여 유도</a:t>
            </a:r>
            <a:endParaRPr lang="en-US" altLang="ko-KR"/>
          </a:p>
          <a:p>
            <a:pPr marL="285750" indent="-285750">
              <a:buFontTx/>
              <a:buChar char="-"/>
            </a:pPr>
            <a:endParaRPr lang="en-US" altLang="ko-KR"/>
          </a:p>
          <a:p>
            <a:r>
              <a:rPr lang="en-US" altLang="ko-KR" b="1">
                <a:solidFill>
                  <a:srgbClr val="FF0000"/>
                </a:solidFill>
                <a:highlight>
                  <a:srgbClr val="FFFF00"/>
                </a:highlight>
              </a:rPr>
              <a:t>[2]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의미가 있는 게임 서비스 </a:t>
            </a:r>
            <a:endParaRPr lang="en-US" altLang="ko-KR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285750" indent="-285750">
              <a:buFontTx/>
              <a:buChar char="-"/>
            </a:pPr>
            <a:r>
              <a:rPr lang="ko-KR" altLang="en-US"/>
              <a:t>플레이 중 모니터링으로 느린 학습자를 실시간 관찰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플레이 종료 후 행동 데이터 기반으로 코칭이 필요한 학습자 파악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학생의 자기주도학습을 유도</a:t>
            </a:r>
            <a:endParaRPr lang="en-US" altLang="ko-KR"/>
          </a:p>
          <a:p>
            <a:pPr marL="285750" indent="-285750">
              <a:buFontTx/>
              <a:buChar char="-"/>
            </a:pPr>
            <a:endParaRPr lang="en-US" altLang="ko-KR"/>
          </a:p>
          <a:p>
            <a:r>
              <a:rPr lang="en-US" altLang="ko-KR" b="1">
                <a:solidFill>
                  <a:srgbClr val="FF0000"/>
                </a:solidFill>
                <a:highlight>
                  <a:srgbClr val="FFFF00"/>
                </a:highlight>
              </a:rPr>
              <a:t>[3]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독립적 가치 </a:t>
            </a:r>
            <a:r>
              <a:rPr lang="en-US" altLang="ko-KR" b="1">
                <a:solidFill>
                  <a:srgbClr val="FF0000"/>
                </a:solidFill>
                <a:highlight>
                  <a:srgbClr val="FFFF00"/>
                </a:highlight>
              </a:rPr>
              <a:t>+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결합된 시너지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원하는 서비스만 따로 사용 가능</a:t>
            </a:r>
            <a:r>
              <a:rPr lang="en-US" altLang="ko-KR"/>
              <a:t>(1) </a:t>
            </a:r>
            <a:r>
              <a:rPr lang="ko-KR" altLang="en-US"/>
              <a:t>수업용 실시간 </a:t>
            </a:r>
            <a:r>
              <a:rPr lang="en-US" altLang="ko-KR"/>
              <a:t>(2) </a:t>
            </a:r>
            <a:r>
              <a:rPr lang="ko-KR" altLang="en-US"/>
              <a:t>과제용 </a:t>
            </a:r>
            <a:r>
              <a:rPr lang="en-US" altLang="ko-KR"/>
              <a:t>(3) </a:t>
            </a:r>
            <a:r>
              <a:rPr lang="ko-KR" altLang="en-US"/>
              <a:t>복습용 </a:t>
            </a:r>
            <a:r>
              <a:rPr lang="en-US" altLang="ko-KR"/>
              <a:t>Solo Play (4) </a:t>
            </a:r>
            <a:r>
              <a:rPr lang="ko-KR" altLang="en-US"/>
              <a:t>공유 자료실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데이터</a:t>
            </a:r>
            <a:r>
              <a:rPr lang="en-US" altLang="ko-KR"/>
              <a:t>·</a:t>
            </a:r>
            <a:r>
              <a:rPr lang="ko-KR" altLang="en-US"/>
              <a:t>보상 연동으로 결합 시너지 확보</a:t>
            </a:r>
            <a:r>
              <a:rPr lang="en-US" altLang="ko-KR"/>
              <a:t> </a:t>
            </a:r>
            <a:r>
              <a:rPr lang="en-US" altLang="ko-KR" sz="1200"/>
              <a:t>(</a:t>
            </a:r>
            <a:r>
              <a:rPr lang="ko-KR" altLang="en-US" sz="1200"/>
              <a:t>예</a:t>
            </a:r>
            <a:r>
              <a:rPr lang="en-US" altLang="ko-KR" sz="1200"/>
              <a:t>) </a:t>
            </a:r>
            <a:r>
              <a:rPr lang="ko-KR" altLang="en-US" sz="1200"/>
              <a:t>나의 아바타를 수업용</a:t>
            </a:r>
            <a:r>
              <a:rPr lang="en-US" altLang="ko-KR" sz="1200"/>
              <a:t>, </a:t>
            </a:r>
            <a:r>
              <a:rPr lang="ko-KR" altLang="en-US" sz="1200"/>
              <a:t>복습용에 사용해서 보다 동기부여를 유도할 수 있음</a:t>
            </a:r>
            <a:endParaRPr lang="en-US" altLang="ko-KR"/>
          </a:p>
          <a:p>
            <a:pPr marL="342900" indent="-342900">
              <a:buFont typeface="Calibri"/>
              <a:buChar char="-"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4078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C905AE-755F-AA99-8ED1-B29408BE4AD2}"/>
              </a:ext>
            </a:extLst>
          </p:cNvPr>
          <p:cNvSpPr txBox="1"/>
          <p:nvPr/>
        </p:nvSpPr>
        <p:spPr>
          <a:xfrm>
            <a:off x="574646" y="473978"/>
            <a:ext cx="3504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실무적인 부분 추가</a:t>
            </a:r>
            <a:r>
              <a:rPr lang="en-US" altLang="ko-KR" dirty="0"/>
              <a:t>(</a:t>
            </a:r>
            <a:r>
              <a:rPr lang="ko-KR" altLang="en-US" dirty="0"/>
              <a:t>구조 제시</a:t>
            </a:r>
            <a:r>
              <a:rPr lang="en-US" altLang="ko-KR" dirty="0"/>
              <a:t>) </a:t>
            </a:r>
            <a:r>
              <a:rPr lang="ko-KR" altLang="en-US" dirty="0"/>
              <a:t>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D7C54D-7161-12C4-AADB-F0BAD7EC8608}"/>
              </a:ext>
            </a:extLst>
          </p:cNvPr>
          <p:cNvSpPr/>
          <p:nvPr/>
        </p:nvSpPr>
        <p:spPr>
          <a:xfrm>
            <a:off x="574645" y="1331750"/>
            <a:ext cx="4798503" cy="7256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교사용 게임 </a:t>
            </a:r>
            <a:r>
              <a:rPr lang="en-US" altLang="ko-KR" dirty="0"/>
              <a:t>ver.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2086C4-CB5F-605C-4439-9EB44340ABCE}"/>
              </a:ext>
            </a:extLst>
          </p:cNvPr>
          <p:cNvSpPr/>
          <p:nvPr/>
        </p:nvSpPr>
        <p:spPr>
          <a:xfrm>
            <a:off x="5722690" y="1325460"/>
            <a:ext cx="2894202" cy="7256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학생용 </a:t>
            </a:r>
            <a:r>
              <a:rPr lang="ko-KR" altLang="en-US" dirty="0"/>
              <a:t>게임 </a:t>
            </a:r>
            <a:r>
              <a:rPr lang="en-US" altLang="ko-KR" dirty="0"/>
              <a:t>ver.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77BCDFB-D8C4-ECFC-A65C-BCC0BF90C213}"/>
              </a:ext>
            </a:extLst>
          </p:cNvPr>
          <p:cNvSpPr/>
          <p:nvPr/>
        </p:nvSpPr>
        <p:spPr>
          <a:xfrm>
            <a:off x="8843394" y="1325460"/>
            <a:ext cx="2894202" cy="7256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자습용 </a:t>
            </a:r>
            <a:r>
              <a:rPr lang="en-US" altLang="ko-KR" dirty="0"/>
              <a:t>ver.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BEE866E-7B41-9FB8-4C0D-7A9604FEC8CE}"/>
              </a:ext>
            </a:extLst>
          </p:cNvPr>
          <p:cNvSpPr/>
          <p:nvPr/>
        </p:nvSpPr>
        <p:spPr>
          <a:xfrm>
            <a:off x="899718" y="2545837"/>
            <a:ext cx="4148356" cy="22063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r>
              <a:rPr lang="ko-KR" altLang="en-US" dirty="0"/>
              <a:t>실시간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과제 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콘텐츠 에디터 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콘텐츠 커뮤니티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6A32B7-3ADB-FCA6-3749-042B334B0951}"/>
              </a:ext>
            </a:extLst>
          </p:cNvPr>
          <p:cNvSpPr/>
          <p:nvPr/>
        </p:nvSpPr>
        <p:spPr>
          <a:xfrm>
            <a:off x="7143926" y="2545837"/>
            <a:ext cx="4148356" cy="22063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r>
              <a:rPr lang="ko-KR" altLang="en-US" dirty="0"/>
              <a:t>실시간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과제 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콘텐츠 에디터 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콘텐츠 커뮤니티</a:t>
            </a:r>
          </a:p>
        </p:txBody>
      </p:sp>
    </p:spTree>
    <p:extLst>
      <p:ext uri="{BB962C8B-B14F-4D97-AF65-F5344CB8AC3E}">
        <p14:creationId xmlns:p14="http://schemas.microsoft.com/office/powerpoint/2010/main" val="3761604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42C6-CDAA-12D8-566D-3579FAB29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C9322B7-B095-1563-A55E-48F93E5A85BC}"/>
              </a:ext>
            </a:extLst>
          </p:cNvPr>
          <p:cNvSpPr/>
          <p:nvPr/>
        </p:nvSpPr>
        <p:spPr>
          <a:xfrm>
            <a:off x="390088" y="176168"/>
            <a:ext cx="5230536" cy="624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게임 서비스의 포인트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54B0DA7-E70E-2CF2-2550-648F2F9932D3}"/>
              </a:ext>
            </a:extLst>
          </p:cNvPr>
          <p:cNvSpPr/>
          <p:nvPr/>
        </p:nvSpPr>
        <p:spPr>
          <a:xfrm>
            <a:off x="383097" y="1184245"/>
            <a:ext cx="11425806" cy="4373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1) </a:t>
            </a:r>
            <a:r>
              <a:rPr lang="ko-KR" altLang="en-US" dirty="0"/>
              <a:t>교사에게 편리한 서비스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낮은 진입 장벽</a:t>
            </a:r>
            <a:r>
              <a:rPr lang="en-US" altLang="ko-KR" dirty="0"/>
              <a:t>, </a:t>
            </a:r>
            <a:r>
              <a:rPr lang="ko-KR" altLang="en-US" dirty="0"/>
              <a:t>쉽고 자유로운 문항 구성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2)</a:t>
            </a:r>
            <a:r>
              <a:rPr lang="ko-KR" altLang="en-US" dirty="0"/>
              <a:t> 실시간 모니터링</a:t>
            </a:r>
            <a:r>
              <a:rPr lang="en-US" altLang="ko-KR" dirty="0"/>
              <a:t>, </a:t>
            </a:r>
            <a:r>
              <a:rPr lang="ko-KR" altLang="en-US" dirty="0"/>
              <a:t>행동 기반 코칭 </a:t>
            </a:r>
            <a:r>
              <a:rPr lang="en-US" altLang="ko-KR" dirty="0"/>
              <a:t>(</a:t>
            </a:r>
            <a:r>
              <a:rPr lang="ko-KR" altLang="en-US" dirty="0"/>
              <a:t>수업 중</a:t>
            </a:r>
            <a:r>
              <a:rPr lang="en-US" altLang="ko-KR" dirty="0"/>
              <a:t>/ </a:t>
            </a:r>
            <a:r>
              <a:rPr lang="ko-KR" altLang="en-US" dirty="0"/>
              <a:t>수업 후</a:t>
            </a:r>
            <a:r>
              <a:rPr lang="en-US" altLang="ko-KR" dirty="0"/>
              <a:t>) </a:t>
            </a:r>
          </a:p>
          <a:p>
            <a:endParaRPr lang="en-US" altLang="ko-KR" dirty="0"/>
          </a:p>
          <a:p>
            <a:r>
              <a:rPr lang="en-US" altLang="ko-KR" dirty="0"/>
              <a:t>3) CBS </a:t>
            </a:r>
            <a:r>
              <a:rPr lang="ko-KR" altLang="en-US" dirty="0"/>
              <a:t>문항 </a:t>
            </a:r>
            <a:endParaRPr lang="en-US" altLang="ko-KR" dirty="0"/>
          </a:p>
          <a:p>
            <a:r>
              <a:rPr lang="en-US" altLang="ko-KR" dirty="0"/>
              <a:t>- </a:t>
            </a:r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7635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DE24D-B742-3BE1-4453-1AAA3BF13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D1FACD0-1456-4722-395D-DDCC76C71361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26AE9B-81B3-2466-6EE1-8014945E147A}"/>
              </a:ext>
            </a:extLst>
          </p:cNvPr>
          <p:cNvSpPr/>
          <p:nvPr/>
        </p:nvSpPr>
        <p:spPr>
          <a:xfrm>
            <a:off x="5103452" y="121918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 </a:t>
            </a:r>
            <a:r>
              <a:rPr lang="ko-KR" altLang="en-US"/>
              <a:t>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345BD7-FA6E-7B1A-F31A-25D00E63AB6C}"/>
              </a:ext>
            </a:extLst>
          </p:cNvPr>
          <p:cNvSpPr/>
          <p:nvPr/>
        </p:nvSpPr>
        <p:spPr>
          <a:xfrm>
            <a:off x="9984377" y="121919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E1D8AF-7062-23E4-5646-9DC5851C6955}"/>
              </a:ext>
            </a:extLst>
          </p:cNvPr>
          <p:cNvSpPr/>
          <p:nvPr/>
        </p:nvSpPr>
        <p:spPr>
          <a:xfrm>
            <a:off x="130629" y="842211"/>
            <a:ext cx="11852824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02. </a:t>
            </a:r>
            <a:r>
              <a:rPr lang="ko-KR" altLang="en-US"/>
              <a:t>교사에게 필요한 게임 서비스 </a:t>
            </a:r>
            <a:r>
              <a:rPr lang="en-US" altLang="ko-KR"/>
              <a:t>[1]</a:t>
            </a:r>
            <a:r>
              <a:rPr lang="ko-KR" altLang="en-US"/>
              <a:t>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교사에게 편리한 게임 서비스</a:t>
            </a:r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99776A8-D7E3-DBE2-7CCA-0E0766862123}"/>
              </a:ext>
            </a:extLst>
          </p:cNvPr>
          <p:cNvCxnSpPr>
            <a:endCxn id="5" idx="1"/>
          </p:cNvCxnSpPr>
          <p:nvPr/>
        </p:nvCxnSpPr>
        <p:spPr>
          <a:xfrm>
            <a:off x="2037806" y="404947"/>
            <a:ext cx="3065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E122F17-A146-E9BD-E7FD-E303E1927C5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10629" y="404947"/>
            <a:ext cx="297374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C43596AB-FEAE-9048-E6C5-0765F51AF473}"/>
              </a:ext>
            </a:extLst>
          </p:cNvPr>
          <p:cNvSpPr/>
          <p:nvPr/>
        </p:nvSpPr>
        <p:spPr>
          <a:xfrm>
            <a:off x="208548" y="1845531"/>
            <a:ext cx="2346036" cy="66342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(</a:t>
            </a:r>
            <a:r>
              <a:rPr lang="ko-KR" altLang="en-US" sz="1400"/>
              <a:t>구</a:t>
            </a:r>
            <a:r>
              <a:rPr lang="en-US" altLang="ko-KR" sz="1400"/>
              <a:t>) </a:t>
            </a:r>
            <a:r>
              <a:rPr lang="ko-KR" altLang="en-US" sz="1400"/>
              <a:t>높은 진입장벽</a:t>
            </a:r>
            <a:r>
              <a:rPr lang="en-US" altLang="ko-KR" sz="1400"/>
              <a:t>, </a:t>
            </a:r>
          </a:p>
          <a:p>
            <a:pPr algn="ctr"/>
            <a:r>
              <a:rPr lang="ko-KR" altLang="en-US" sz="1400"/>
              <a:t>저작 기능 부재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346F04-8705-9873-3B57-7543B2487AE8}"/>
              </a:ext>
            </a:extLst>
          </p:cNvPr>
          <p:cNvSpPr/>
          <p:nvPr/>
        </p:nvSpPr>
        <p:spPr>
          <a:xfrm>
            <a:off x="129427" y="3389647"/>
            <a:ext cx="2346036" cy="100676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낮은 진입장벽</a:t>
            </a:r>
            <a:endParaRPr lang="en-US" altLang="ko-KR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A98BE238-D4FF-F680-FC27-A345F5FD5F90}"/>
              </a:ext>
            </a:extLst>
          </p:cNvPr>
          <p:cNvSpPr/>
          <p:nvPr/>
        </p:nvSpPr>
        <p:spPr>
          <a:xfrm rot="5400000">
            <a:off x="1115792" y="2763453"/>
            <a:ext cx="406400" cy="350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1F3130-CF0D-22EC-4113-B9382E4305AD}"/>
              </a:ext>
            </a:extLst>
          </p:cNvPr>
          <p:cNvSpPr/>
          <p:nvPr/>
        </p:nvSpPr>
        <p:spPr>
          <a:xfrm>
            <a:off x="130628" y="5512407"/>
            <a:ext cx="2346036" cy="100676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쉽고 자유로운 </a:t>
            </a:r>
            <a:endParaRPr lang="en-US" altLang="ko-KR"/>
          </a:p>
          <a:p>
            <a:pPr algn="ctr"/>
            <a:r>
              <a:rPr lang="ko-KR" altLang="en-US"/>
              <a:t>문항 구성 </a:t>
            </a:r>
            <a:endParaRPr lang="en-US" altLang="ko-KR"/>
          </a:p>
        </p:txBody>
      </p:sp>
      <p:sp>
        <p:nvSpPr>
          <p:cNvPr id="15" name="십자형 14">
            <a:extLst>
              <a:ext uri="{FF2B5EF4-FFF2-40B4-BE49-F238E27FC236}">
                <a16:creationId xmlns:a16="http://schemas.microsoft.com/office/drawing/2014/main" id="{E9C61837-1DF8-378B-B23F-5F84B840A37F}"/>
              </a:ext>
            </a:extLst>
          </p:cNvPr>
          <p:cNvSpPr/>
          <p:nvPr/>
        </p:nvSpPr>
        <p:spPr>
          <a:xfrm>
            <a:off x="1053049" y="4710425"/>
            <a:ext cx="500413" cy="451945"/>
          </a:xfrm>
          <a:prstGeom prst="plus">
            <a:avLst>
              <a:gd name="adj" fmla="val 389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4F3570-8D2E-5B44-4098-031D2B923B2C}"/>
              </a:ext>
            </a:extLst>
          </p:cNvPr>
          <p:cNvSpPr/>
          <p:nvPr/>
        </p:nvSpPr>
        <p:spPr>
          <a:xfrm>
            <a:off x="2779235" y="1845531"/>
            <a:ext cx="9204217" cy="46075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(1) </a:t>
            </a:r>
            <a:r>
              <a:rPr lang="ko-KR" altLang="ko-KR"/>
              <a:t>PIN·QR 하나로 가입 없이 즉시 입장 </a:t>
            </a:r>
            <a:r>
              <a:rPr lang="en-US" altLang="ko-KR"/>
              <a:t>-&gt; </a:t>
            </a:r>
            <a:r>
              <a:rPr lang="ko-KR" altLang="ko-KR"/>
              <a:t>수업 진입 장벽 제로</a:t>
            </a:r>
          </a:p>
          <a:p>
            <a:pPr algn="ctr"/>
            <a:endParaRPr lang="en-US" altLang="ko-KR"/>
          </a:p>
          <a:p>
            <a:pPr algn="ctr"/>
            <a:endParaRPr lang="en-US" altLang="ko-KR"/>
          </a:p>
          <a:p>
            <a:pPr algn="ctr"/>
            <a:r>
              <a:rPr lang="en-US" altLang="ko-KR"/>
              <a:t>(2) CBS </a:t>
            </a:r>
            <a:r>
              <a:rPr lang="ko-KR" altLang="en-US"/>
              <a:t>게임 템플릿 이용한 저작 방식 </a:t>
            </a:r>
            <a:endParaRPr lang="en-US" altLang="ko-KR"/>
          </a:p>
          <a:p>
            <a:pPr algn="ctr"/>
            <a:endParaRPr lang="en-US" altLang="ko-KR"/>
          </a:p>
          <a:p>
            <a:pPr algn="ctr"/>
            <a:endParaRPr lang="en-US" altLang="ko-KR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F6E86DB-F46A-D810-25EB-3A2114676C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662" y="3689363"/>
            <a:ext cx="4034520" cy="249406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8B3AA5C-CD98-40CE-9010-A967CCB59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097" y="3000356"/>
            <a:ext cx="4815440" cy="342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410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6B06D-E264-9C35-0FEF-2E2A5657D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7B62BA7-E470-A0E8-90DA-F1B92E9A8972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77BA36-52CD-8754-6386-259962075629}"/>
              </a:ext>
            </a:extLst>
          </p:cNvPr>
          <p:cNvSpPr/>
          <p:nvPr/>
        </p:nvSpPr>
        <p:spPr>
          <a:xfrm>
            <a:off x="5103452" y="121918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 </a:t>
            </a:r>
            <a:r>
              <a:rPr lang="ko-KR" altLang="en-US"/>
              <a:t>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2498FE-07B6-F7A5-0CF8-82A557447CDD}"/>
              </a:ext>
            </a:extLst>
          </p:cNvPr>
          <p:cNvSpPr/>
          <p:nvPr/>
        </p:nvSpPr>
        <p:spPr>
          <a:xfrm>
            <a:off x="9984377" y="121919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F84055-D630-301E-A9B9-4E3CA58CF3CF}"/>
              </a:ext>
            </a:extLst>
          </p:cNvPr>
          <p:cNvSpPr/>
          <p:nvPr/>
        </p:nvSpPr>
        <p:spPr>
          <a:xfrm>
            <a:off x="130629" y="842211"/>
            <a:ext cx="11852824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02. </a:t>
            </a:r>
            <a:r>
              <a:rPr lang="ko-KR" altLang="en-US"/>
              <a:t>교사에게 필요한 게임 서비스 </a:t>
            </a:r>
            <a:r>
              <a:rPr lang="en-US" altLang="ko-KR"/>
              <a:t>[2]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의미가 있는 게임 서비스 </a:t>
            </a:r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4DB1BB4-8728-AE3E-C8B6-248472FAE019}"/>
              </a:ext>
            </a:extLst>
          </p:cNvPr>
          <p:cNvCxnSpPr>
            <a:endCxn id="5" idx="1"/>
          </p:cNvCxnSpPr>
          <p:nvPr/>
        </p:nvCxnSpPr>
        <p:spPr>
          <a:xfrm>
            <a:off x="2037806" y="404947"/>
            <a:ext cx="3065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14304A3-DBB4-67B2-F17F-F6DBBF30AA4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10629" y="404947"/>
            <a:ext cx="297374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A56DB59F-90E4-E888-3BDE-45A0F9039CE2}"/>
              </a:ext>
            </a:extLst>
          </p:cNvPr>
          <p:cNvSpPr/>
          <p:nvPr/>
        </p:nvSpPr>
        <p:spPr>
          <a:xfrm>
            <a:off x="145974" y="1860838"/>
            <a:ext cx="2346036" cy="66342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(</a:t>
            </a:r>
            <a:r>
              <a:rPr lang="ko-KR" altLang="en-US" sz="1400"/>
              <a:t>구</a:t>
            </a:r>
            <a:r>
              <a:rPr lang="en-US" altLang="ko-KR" sz="1400"/>
              <a:t>) </a:t>
            </a:r>
            <a:r>
              <a:rPr lang="ko-KR" altLang="en-US" sz="1400"/>
              <a:t>단절된 데이터</a:t>
            </a:r>
            <a:r>
              <a:rPr lang="en-US" altLang="ko-KR" sz="1400"/>
              <a:t> </a:t>
            </a:r>
            <a:endParaRPr lang="ko-KR" altLang="en-US" sz="14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5A6E248-C3F9-DDBD-B0A2-FD3514D7F3A3}"/>
              </a:ext>
            </a:extLst>
          </p:cNvPr>
          <p:cNvSpPr/>
          <p:nvPr/>
        </p:nvSpPr>
        <p:spPr>
          <a:xfrm>
            <a:off x="129426" y="3389647"/>
            <a:ext cx="2524873" cy="100676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실시간 모니터링</a:t>
            </a:r>
            <a:r>
              <a:rPr lang="en-US" altLang="ko-KR"/>
              <a:t>, </a:t>
            </a:r>
          </a:p>
          <a:p>
            <a:pPr algn="ctr"/>
            <a:r>
              <a:rPr lang="ko-KR" altLang="en-US"/>
              <a:t>행동 데이터 기반 코칭</a:t>
            </a:r>
            <a:endParaRPr lang="en-US" altLang="ko-KR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2349E05A-85FE-6F7C-E258-E7D9C3A50C3D}"/>
              </a:ext>
            </a:extLst>
          </p:cNvPr>
          <p:cNvSpPr/>
          <p:nvPr/>
        </p:nvSpPr>
        <p:spPr>
          <a:xfrm rot="5400000">
            <a:off x="1115792" y="2763453"/>
            <a:ext cx="406400" cy="350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B5C1BEE-2C74-208A-4E24-D4878820C76F}"/>
              </a:ext>
            </a:extLst>
          </p:cNvPr>
          <p:cNvSpPr/>
          <p:nvPr/>
        </p:nvSpPr>
        <p:spPr>
          <a:xfrm>
            <a:off x="130628" y="5512407"/>
            <a:ext cx="2346036" cy="100676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학생 주도 학습</a:t>
            </a:r>
            <a:endParaRPr lang="en-US" altLang="ko-KR"/>
          </a:p>
          <a:p>
            <a:pPr algn="ctr"/>
            <a:r>
              <a:rPr lang="ko-KR" altLang="en-US"/>
              <a:t>동기부여</a:t>
            </a:r>
            <a:endParaRPr lang="en-US" altLang="ko-KR"/>
          </a:p>
        </p:txBody>
      </p:sp>
      <p:sp>
        <p:nvSpPr>
          <p:cNvPr id="15" name="십자형 14">
            <a:extLst>
              <a:ext uri="{FF2B5EF4-FFF2-40B4-BE49-F238E27FC236}">
                <a16:creationId xmlns:a16="http://schemas.microsoft.com/office/drawing/2014/main" id="{ECD1EACA-1791-4D1C-178A-63D369202BC2}"/>
              </a:ext>
            </a:extLst>
          </p:cNvPr>
          <p:cNvSpPr/>
          <p:nvPr/>
        </p:nvSpPr>
        <p:spPr>
          <a:xfrm>
            <a:off x="1053049" y="4710425"/>
            <a:ext cx="500413" cy="451945"/>
          </a:xfrm>
          <a:prstGeom prst="plus">
            <a:avLst>
              <a:gd name="adj" fmla="val 389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D85EAD-F404-A59A-305A-FC7BEAA3E5A7}"/>
              </a:ext>
            </a:extLst>
          </p:cNvPr>
          <p:cNvSpPr/>
          <p:nvPr/>
        </p:nvSpPr>
        <p:spPr>
          <a:xfrm>
            <a:off x="2779235" y="1845531"/>
            <a:ext cx="9204217" cy="4710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(1) </a:t>
            </a:r>
            <a:r>
              <a:rPr lang="ko-KR" altLang="en-US"/>
              <a:t>학생 풀이 실시간 컨트롤 패널 </a:t>
            </a:r>
            <a:endParaRPr lang="en-US" altLang="ko-KR"/>
          </a:p>
          <a:p>
            <a:pPr algn="ctr"/>
            <a:endParaRPr lang="en-US" altLang="ko-KR"/>
          </a:p>
          <a:p>
            <a:pPr algn="ctr"/>
            <a:r>
              <a:rPr lang="en-US" altLang="ko-KR"/>
              <a:t>(2) </a:t>
            </a:r>
            <a:r>
              <a:rPr lang="ko-KR" altLang="en-US"/>
              <a:t>복습용 콘텐츠 와이어프레임  </a:t>
            </a:r>
            <a:endParaRPr lang="en-US" altLang="ko-KR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F539619-36E4-DE68-9EC0-745A8A17C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214" y="1888571"/>
            <a:ext cx="5134761" cy="3080857"/>
          </a:xfrm>
          <a:prstGeom prst="rect">
            <a:avLst/>
          </a:prstGeom>
        </p:spPr>
      </p:pic>
      <p:pic>
        <p:nvPicPr>
          <p:cNvPr id="1026" name="Picture 2" descr="텍스트, 스크린샷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1AADCA-A330-E794-A7E9-DF2F8E09B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169" y="3548543"/>
            <a:ext cx="5281116" cy="2970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926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F4285-7B17-F803-F48F-02B2F7F67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AAFF5DB-2D44-5EF4-E2B6-71DEFDDDD3D1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B32D3D-8465-0F8C-8181-95543D3C338E}"/>
              </a:ext>
            </a:extLst>
          </p:cNvPr>
          <p:cNvSpPr/>
          <p:nvPr/>
        </p:nvSpPr>
        <p:spPr>
          <a:xfrm>
            <a:off x="5103452" y="121918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 </a:t>
            </a:r>
            <a:r>
              <a:rPr lang="ko-KR" altLang="en-US"/>
              <a:t>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0B3977-F66D-BCD3-A29F-3AFA82CA43C7}"/>
              </a:ext>
            </a:extLst>
          </p:cNvPr>
          <p:cNvSpPr/>
          <p:nvPr/>
        </p:nvSpPr>
        <p:spPr>
          <a:xfrm>
            <a:off x="9984377" y="121919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51ED8F-B339-2ABE-11F1-7E65FEF4B49D}"/>
              </a:ext>
            </a:extLst>
          </p:cNvPr>
          <p:cNvSpPr/>
          <p:nvPr/>
        </p:nvSpPr>
        <p:spPr>
          <a:xfrm>
            <a:off x="130629" y="842211"/>
            <a:ext cx="11852824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02. </a:t>
            </a:r>
            <a:r>
              <a:rPr lang="ko-KR" altLang="en-US"/>
              <a:t>교사에게 필요한 게임 서비스 </a:t>
            </a:r>
            <a:r>
              <a:rPr lang="en-US" altLang="ko-KR"/>
              <a:t>[3]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독립적 가치 </a:t>
            </a:r>
            <a:r>
              <a:rPr lang="en-US" altLang="ko-KR" b="1">
                <a:solidFill>
                  <a:srgbClr val="FF0000"/>
                </a:solidFill>
                <a:highlight>
                  <a:srgbClr val="FFFF00"/>
                </a:highlight>
              </a:rPr>
              <a:t>+ </a:t>
            </a:r>
            <a:r>
              <a:rPr lang="ko-KR" altLang="en-US" b="1">
                <a:solidFill>
                  <a:srgbClr val="FF0000"/>
                </a:solidFill>
                <a:highlight>
                  <a:srgbClr val="FFFF00"/>
                </a:highlight>
              </a:rPr>
              <a:t>결합된 시너지</a:t>
            </a:r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09AA65D-824F-6897-E5D4-744B7BB24A47}"/>
              </a:ext>
            </a:extLst>
          </p:cNvPr>
          <p:cNvCxnSpPr>
            <a:endCxn id="5" idx="1"/>
          </p:cNvCxnSpPr>
          <p:nvPr/>
        </p:nvCxnSpPr>
        <p:spPr>
          <a:xfrm>
            <a:off x="2037806" y="404947"/>
            <a:ext cx="3065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B15B1C1-E5E0-CA8D-5B5E-F8CC2D6410D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10629" y="404947"/>
            <a:ext cx="297374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DE4329-F9E1-6505-664A-82B12F21DF73}"/>
              </a:ext>
            </a:extLst>
          </p:cNvPr>
          <p:cNvSpPr/>
          <p:nvPr/>
        </p:nvSpPr>
        <p:spPr>
          <a:xfrm>
            <a:off x="145974" y="1860838"/>
            <a:ext cx="2346036" cy="66342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(</a:t>
            </a:r>
            <a:r>
              <a:rPr lang="ko-KR" altLang="en-US" sz="1400"/>
              <a:t>구</a:t>
            </a:r>
            <a:r>
              <a:rPr lang="en-US" altLang="ko-KR" sz="1400"/>
              <a:t>) </a:t>
            </a:r>
            <a:r>
              <a:rPr lang="ko-KR" altLang="en-US" sz="1400"/>
              <a:t>기존의 단점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C50D3D0-76E2-4AB1-D199-8F65B7A24E67}"/>
              </a:ext>
            </a:extLst>
          </p:cNvPr>
          <p:cNvSpPr/>
          <p:nvPr/>
        </p:nvSpPr>
        <p:spPr>
          <a:xfrm>
            <a:off x="129427" y="3389647"/>
            <a:ext cx="2346036" cy="100676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독립적 가치</a:t>
            </a:r>
            <a:endParaRPr lang="en-US" altLang="ko-KR"/>
          </a:p>
          <a:p>
            <a:pPr algn="ctr"/>
            <a:r>
              <a:rPr lang="en-US" altLang="ko-KR"/>
              <a:t>:</a:t>
            </a:r>
            <a:r>
              <a:rPr lang="ko-KR" altLang="en-US"/>
              <a:t> 원하는 서비스만 따로 사용 가능</a:t>
            </a:r>
            <a:endParaRPr lang="en-US" altLang="ko-KR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AA9297A6-1A81-B466-AEF7-85F5913BB4FF}"/>
              </a:ext>
            </a:extLst>
          </p:cNvPr>
          <p:cNvSpPr/>
          <p:nvPr/>
        </p:nvSpPr>
        <p:spPr>
          <a:xfrm rot="5400000">
            <a:off x="1115792" y="2763453"/>
            <a:ext cx="406400" cy="3509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C2B853-8F01-44C8-B0ED-A92DFC059EA8}"/>
              </a:ext>
            </a:extLst>
          </p:cNvPr>
          <p:cNvSpPr/>
          <p:nvPr/>
        </p:nvSpPr>
        <p:spPr>
          <a:xfrm>
            <a:off x="129427" y="5225934"/>
            <a:ext cx="2346036" cy="149632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결합된 시너지</a:t>
            </a:r>
            <a:r>
              <a:rPr lang="en-US" altLang="ko-KR"/>
              <a:t>:</a:t>
            </a:r>
          </a:p>
          <a:p>
            <a:pPr algn="ctr"/>
            <a:r>
              <a:rPr lang="ko-KR" altLang="en-US"/>
              <a:t>데이터</a:t>
            </a:r>
            <a:r>
              <a:rPr lang="en-US" altLang="ko-KR"/>
              <a:t>·</a:t>
            </a:r>
            <a:r>
              <a:rPr lang="ko-KR" altLang="en-US"/>
              <a:t>보상체계 연동으로 플랫폼 결합 시너지 확보</a:t>
            </a:r>
            <a:endParaRPr lang="en-US" altLang="ko-KR"/>
          </a:p>
        </p:txBody>
      </p:sp>
      <p:sp>
        <p:nvSpPr>
          <p:cNvPr id="15" name="십자형 14">
            <a:extLst>
              <a:ext uri="{FF2B5EF4-FFF2-40B4-BE49-F238E27FC236}">
                <a16:creationId xmlns:a16="http://schemas.microsoft.com/office/drawing/2014/main" id="{B14418F6-A4B9-4BAE-0731-8D4444243C95}"/>
              </a:ext>
            </a:extLst>
          </p:cNvPr>
          <p:cNvSpPr/>
          <p:nvPr/>
        </p:nvSpPr>
        <p:spPr>
          <a:xfrm>
            <a:off x="1053049" y="4710425"/>
            <a:ext cx="500413" cy="451945"/>
          </a:xfrm>
          <a:prstGeom prst="plus">
            <a:avLst>
              <a:gd name="adj" fmla="val 389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C9AAFB3-F996-1AE5-359F-9D475661286D}"/>
              </a:ext>
            </a:extLst>
          </p:cNvPr>
          <p:cNvSpPr/>
          <p:nvPr/>
        </p:nvSpPr>
        <p:spPr>
          <a:xfrm>
            <a:off x="2779236" y="1860838"/>
            <a:ext cx="9204217" cy="4710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arenBoth"/>
            </a:pPr>
            <a:r>
              <a:rPr lang="ko-KR" altLang="en-US"/>
              <a:t>수업용 실시간 </a:t>
            </a:r>
            <a:r>
              <a:rPr lang="en-US" altLang="ko-KR"/>
              <a:t>(2) </a:t>
            </a:r>
            <a:r>
              <a:rPr lang="ko-KR" altLang="en-US"/>
              <a:t>과제용 </a:t>
            </a:r>
            <a:r>
              <a:rPr lang="en-US" altLang="ko-KR"/>
              <a:t>(3) </a:t>
            </a:r>
            <a:r>
              <a:rPr lang="ko-KR" altLang="en-US"/>
              <a:t>복습용 </a:t>
            </a:r>
            <a:r>
              <a:rPr lang="en-US" altLang="ko-KR"/>
              <a:t>Solo Play (4) </a:t>
            </a:r>
            <a:r>
              <a:rPr lang="ko-KR" altLang="en-US"/>
              <a:t>공유 자료실​</a:t>
            </a:r>
            <a:endParaRPr lang="en-US" altLang="ko-KR"/>
          </a:p>
          <a:p>
            <a:pPr marL="342900" indent="-342900" algn="ctr">
              <a:buAutoNum type="arabicParenBoth"/>
            </a:pPr>
            <a:endParaRPr lang="en-US" altLang="ko-KR"/>
          </a:p>
          <a:p>
            <a:pPr marL="342900" indent="-342900" algn="ctr">
              <a:buAutoNum type="arabicParenBoth"/>
            </a:pPr>
            <a:r>
              <a:rPr lang="en-US" altLang="ko-KR"/>
              <a:t>+ </a:t>
            </a:r>
            <a:r>
              <a:rPr lang="ko-KR" altLang="en-US"/>
              <a:t>플랫폼 내 연동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56684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21F692F-85CA-D35E-C43B-E05201485F4D}"/>
              </a:ext>
            </a:extLst>
          </p:cNvPr>
          <p:cNvSpPr/>
          <p:nvPr/>
        </p:nvSpPr>
        <p:spPr>
          <a:xfrm>
            <a:off x="130629" y="121920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F8777D-7338-F28E-62C1-A7CF1A1190A3}"/>
              </a:ext>
            </a:extLst>
          </p:cNvPr>
          <p:cNvSpPr/>
          <p:nvPr/>
        </p:nvSpPr>
        <p:spPr>
          <a:xfrm>
            <a:off x="5103452" y="121918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02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4B0152-D8FC-2BE0-4517-ECF54BD19A02}"/>
              </a:ext>
            </a:extLst>
          </p:cNvPr>
          <p:cNvSpPr/>
          <p:nvPr/>
        </p:nvSpPr>
        <p:spPr>
          <a:xfrm>
            <a:off x="9984377" y="121919"/>
            <a:ext cx="1907177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03</a:t>
            </a:r>
            <a:r>
              <a:rPr lang="ko-KR" altLang="en-US"/>
              <a:t> ✅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238891A-7669-1660-48DB-DAF1E0330929}"/>
              </a:ext>
            </a:extLst>
          </p:cNvPr>
          <p:cNvCxnSpPr>
            <a:endCxn id="5" idx="1"/>
          </p:cNvCxnSpPr>
          <p:nvPr/>
        </p:nvCxnSpPr>
        <p:spPr>
          <a:xfrm>
            <a:off x="2037806" y="404947"/>
            <a:ext cx="3065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1EE5B5A-E096-5298-73E7-AE6B74AA621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010629" y="404947"/>
            <a:ext cx="297374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C8B506-3D60-967D-C068-D214F79A950C}"/>
              </a:ext>
            </a:extLst>
          </p:cNvPr>
          <p:cNvSpPr/>
          <p:nvPr/>
        </p:nvSpPr>
        <p:spPr>
          <a:xfrm>
            <a:off x="130629" y="842211"/>
            <a:ext cx="11852824" cy="566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03. </a:t>
            </a:r>
            <a:r>
              <a:rPr lang="ko-KR" altLang="en-US"/>
              <a:t>액션 플랜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00FD126-DC17-DF7A-3B2F-64A45D8D2F1C}"/>
              </a:ext>
            </a:extLst>
          </p:cNvPr>
          <p:cNvGrpSpPr/>
          <p:nvPr/>
        </p:nvGrpSpPr>
        <p:grpSpPr>
          <a:xfrm>
            <a:off x="130630" y="1636292"/>
            <a:ext cx="11852824" cy="4993910"/>
            <a:chOff x="130629" y="1636292"/>
            <a:chExt cx="12193197" cy="4993910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4BA7FF5-4AFC-8671-83B9-F89C5168927E}"/>
                </a:ext>
              </a:extLst>
            </p:cNvPr>
            <p:cNvGrpSpPr/>
            <p:nvPr/>
          </p:nvGrpSpPr>
          <p:grpSpPr>
            <a:xfrm>
              <a:off x="130629" y="1636293"/>
              <a:ext cx="9105968" cy="4993909"/>
              <a:chOff x="130629" y="1636293"/>
              <a:chExt cx="13760000" cy="4993909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F50F70D-099A-5A58-84FC-83B58FD43F66}"/>
                  </a:ext>
                </a:extLst>
              </p:cNvPr>
              <p:cNvSpPr/>
              <p:nvPr/>
            </p:nvSpPr>
            <p:spPr>
              <a:xfrm>
                <a:off x="130629" y="1636295"/>
                <a:ext cx="4429796" cy="49939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/>
                  <a:t>3~5</a:t>
                </a:r>
                <a:r>
                  <a:rPr lang="ko-KR" altLang="en-US"/>
                  <a:t>월 </a:t>
                </a:r>
                <a:r>
                  <a:rPr lang="en-US" altLang="ko-KR"/>
                  <a:t>MVP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200"/>
                  <a:t>게임 서비스 구현</a:t>
                </a:r>
                <a:endParaRPr lang="en-US" altLang="ko-KR" sz="1200"/>
              </a:p>
              <a:p>
                <a:pPr marL="285750" indent="-285750">
                  <a:buFontTx/>
                  <a:buChar char="-"/>
                </a:pPr>
                <a:r>
                  <a:rPr lang="ko-KR" altLang="en-US" sz="1200"/>
                  <a:t>수업용</a:t>
                </a:r>
                <a:r>
                  <a:rPr lang="en-US" altLang="ko-KR" sz="1200"/>
                  <a:t>, </a:t>
                </a:r>
                <a:r>
                  <a:rPr lang="ko-KR" altLang="en-US" sz="1200"/>
                  <a:t>복습용 </a:t>
                </a:r>
                <a:r>
                  <a:rPr lang="en-US" altLang="ko-KR" sz="1200"/>
                  <a:t>2</a:t>
                </a:r>
                <a:r>
                  <a:rPr lang="ko-KR" altLang="en-US" sz="1200"/>
                  <a:t>개</a:t>
                </a: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8CCDFD6B-F34E-4B36-3D69-E83EAD6D88AA}"/>
                  </a:ext>
                </a:extLst>
              </p:cNvPr>
              <p:cNvSpPr/>
              <p:nvPr/>
            </p:nvSpPr>
            <p:spPr>
              <a:xfrm>
                <a:off x="4795731" y="1636294"/>
                <a:ext cx="4429796" cy="49939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/>
                  <a:t>5</a:t>
                </a:r>
                <a:r>
                  <a:rPr lang="ko-KR" altLang="en-US"/>
                  <a:t>월 사용자 테스트</a:t>
                </a:r>
                <a:br>
                  <a:rPr lang="en-US" altLang="ko-KR"/>
                </a:br>
                <a:r>
                  <a:rPr lang="en-US" altLang="ko-KR" sz="1400"/>
                  <a:t>- </a:t>
                </a:r>
                <a:r>
                  <a:rPr lang="ko-KR" altLang="en-US" sz="1200"/>
                  <a:t>내부 및 선생님 의견 청취</a:t>
                </a:r>
                <a:endParaRPr lang="en-US" altLang="ko-KR" sz="1200"/>
              </a:p>
              <a:p>
                <a:r>
                  <a:rPr lang="en-US" altLang="ko-KR" sz="1200"/>
                  <a:t>- </a:t>
                </a:r>
                <a:r>
                  <a:rPr lang="ko-KR" altLang="en-US" sz="1200"/>
                  <a:t>내부 조율</a:t>
                </a:r>
                <a:endParaRPr lang="en-US" altLang="ko-KR" sz="1200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28D31070-CC98-E090-6357-86291B7F1229}"/>
                  </a:ext>
                </a:extLst>
              </p:cNvPr>
              <p:cNvSpPr/>
              <p:nvPr/>
            </p:nvSpPr>
            <p:spPr>
              <a:xfrm>
                <a:off x="9460833" y="1636293"/>
                <a:ext cx="4429796" cy="49939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/>
                  <a:t>6~7</a:t>
                </a:r>
                <a:r>
                  <a:rPr lang="ko-KR" altLang="en-US"/>
                  <a:t>월 고도화</a:t>
                </a:r>
                <a:endParaRPr lang="en-US" altLang="ko-KR"/>
              </a:p>
              <a:p>
                <a:r>
                  <a:rPr lang="en-US" altLang="ko-KR" sz="1200"/>
                  <a:t>- 5</a:t>
                </a:r>
                <a:r>
                  <a:rPr lang="ko-KR" altLang="en-US" sz="1200"/>
                  <a:t>월 내용 기반 고도화</a:t>
                </a:r>
                <a:endParaRPr lang="en-US" altLang="ko-KR" sz="1200"/>
              </a:p>
              <a:p>
                <a:r>
                  <a:rPr lang="en-US" altLang="ko-KR" sz="1200"/>
                  <a:t>- </a:t>
                </a:r>
                <a:r>
                  <a:rPr lang="ko-KR" altLang="en-US" sz="1200"/>
                  <a:t>수업용에서는 교사 저작 기능 중점</a:t>
                </a:r>
                <a:endParaRPr lang="en-US" altLang="ko-KR" sz="1200"/>
              </a:p>
              <a:p>
                <a:r>
                  <a:rPr lang="en-US" altLang="ko-KR" sz="1200"/>
                  <a:t>- </a:t>
                </a:r>
                <a:r>
                  <a:rPr lang="ko-KR" altLang="en-US" sz="1200"/>
                  <a:t>복습용에서는 학생 처방 기능 중점</a:t>
                </a:r>
                <a:endParaRPr lang="en-US" altLang="ko-KR" sz="1200"/>
              </a:p>
              <a:p>
                <a:r>
                  <a:rPr lang="en-US" altLang="ko-KR" sz="1200"/>
                  <a:t>- </a:t>
                </a:r>
                <a:r>
                  <a:rPr lang="ko-KR" altLang="en-US" sz="1200"/>
                  <a:t>플랫폼 내 탑재</a:t>
                </a:r>
                <a:endParaRPr lang="en-US" altLang="ko-KR" sz="1400"/>
              </a:p>
              <a:p>
                <a:endParaRPr lang="ko-KR" altLang="en-US" sz="1400"/>
              </a:p>
            </p:txBody>
          </p:sp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34072EE-9794-F54E-FFA7-9CE924960FC7}"/>
                </a:ext>
              </a:extLst>
            </p:cNvPr>
            <p:cNvSpPr/>
            <p:nvPr/>
          </p:nvSpPr>
          <p:spPr>
            <a:xfrm>
              <a:off x="9392316" y="1636292"/>
              <a:ext cx="2931510" cy="49939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/>
                <a:t>8~9</a:t>
              </a:r>
              <a:r>
                <a:rPr lang="ko-KR" altLang="en-US"/>
                <a:t>월 안정화</a:t>
              </a:r>
              <a:endParaRPr lang="en-US" altLang="ko-KR"/>
            </a:p>
            <a:p>
              <a:pPr marL="285750" indent="-285750">
                <a:buFontTx/>
                <a:buChar char="-"/>
              </a:pPr>
              <a:r>
                <a:rPr lang="ko-KR" altLang="en-US" sz="1200"/>
                <a:t>운영 프로모션 준비</a:t>
              </a:r>
              <a:endParaRPr lang="en-US" altLang="ko-KR" sz="1200"/>
            </a:p>
          </p:txBody>
        </p:sp>
      </p:grpSp>
    </p:spTree>
    <p:extLst>
      <p:ext uri="{BB962C8B-B14F-4D97-AF65-F5344CB8AC3E}">
        <p14:creationId xmlns:p14="http://schemas.microsoft.com/office/powerpoint/2010/main" val="306812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</TotalTime>
  <Words>1857</Words>
  <Application>Microsoft Office PowerPoint</Application>
  <PresentationFormat>와이드스크린</PresentationFormat>
  <Paragraphs>284</Paragraphs>
  <Slides>22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문승민 에듀테크플랫폼서비스기획 Cell</cp:lastModifiedBy>
  <cp:revision>46</cp:revision>
  <dcterms:created xsi:type="dcterms:W3CDTF">2026-03-05T09:10:20Z</dcterms:created>
  <dcterms:modified xsi:type="dcterms:W3CDTF">2026-03-08T01:09:49Z</dcterms:modified>
</cp:coreProperties>
</file>