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4"/>
  </p:notesMasterIdLst>
  <p:sldIdLst>
    <p:sldId id="296" r:id="rId5"/>
    <p:sldId id="297" r:id="rId6"/>
    <p:sldId id="401" r:id="rId7"/>
    <p:sldId id="339" r:id="rId8"/>
    <p:sldId id="409" r:id="rId9"/>
    <p:sldId id="341" r:id="rId10"/>
    <p:sldId id="398" r:id="rId11"/>
    <p:sldId id="399" r:id="rId12"/>
    <p:sldId id="400" r:id="rId13"/>
    <p:sldId id="346" r:id="rId14"/>
    <p:sldId id="271" r:id="rId15"/>
    <p:sldId id="274" r:id="rId16"/>
    <p:sldId id="302" r:id="rId17"/>
    <p:sldId id="377" r:id="rId18"/>
    <p:sldId id="333" r:id="rId19"/>
    <p:sldId id="378" r:id="rId20"/>
    <p:sldId id="294" r:id="rId21"/>
    <p:sldId id="306" r:id="rId22"/>
    <p:sldId id="380" r:id="rId23"/>
    <p:sldId id="276" r:id="rId24"/>
    <p:sldId id="305" r:id="rId25"/>
    <p:sldId id="381" r:id="rId26"/>
    <p:sldId id="261" r:id="rId27"/>
    <p:sldId id="298" r:id="rId28"/>
    <p:sldId id="382" r:id="rId29"/>
    <p:sldId id="379" r:id="rId30"/>
    <p:sldId id="383" r:id="rId31"/>
    <p:sldId id="293" r:id="rId32"/>
    <p:sldId id="396" r:id="rId33"/>
    <p:sldId id="385" r:id="rId34"/>
    <p:sldId id="386" r:id="rId35"/>
    <p:sldId id="387" r:id="rId36"/>
    <p:sldId id="388" r:id="rId37"/>
    <p:sldId id="393" r:id="rId38"/>
    <p:sldId id="389" r:id="rId39"/>
    <p:sldId id="390" r:id="rId40"/>
    <p:sldId id="395" r:id="rId41"/>
    <p:sldId id="397" r:id="rId42"/>
    <p:sldId id="345" r:id="rId4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A906274-A327-44A8-B60A-FA528EF1A364}">
          <p14:sldIdLst>
            <p14:sldId id="296"/>
            <p14:sldId id="297"/>
            <p14:sldId id="401"/>
            <p14:sldId id="339"/>
            <p14:sldId id="409"/>
            <p14:sldId id="341"/>
            <p14:sldId id="398"/>
            <p14:sldId id="399"/>
            <p14:sldId id="400"/>
            <p14:sldId id="346"/>
            <p14:sldId id="271"/>
            <p14:sldId id="274"/>
          </p14:sldIdLst>
        </p14:section>
        <p14:section name="게임 디자인 작업물" id="{801DADDE-DEEB-4A77-A9BA-34C0E16B90C8}">
          <p14:sldIdLst>
            <p14:sldId id="302"/>
            <p14:sldId id="377"/>
            <p14:sldId id="333"/>
            <p14:sldId id="378"/>
            <p14:sldId id="294"/>
            <p14:sldId id="306"/>
            <p14:sldId id="380"/>
            <p14:sldId id="276"/>
            <p14:sldId id="305"/>
            <p14:sldId id="381"/>
            <p14:sldId id="261"/>
            <p14:sldId id="298"/>
            <p14:sldId id="382"/>
            <p14:sldId id="379"/>
            <p14:sldId id="383"/>
            <p14:sldId id="293"/>
            <p14:sldId id="396"/>
            <p14:sldId id="385"/>
            <p14:sldId id="386"/>
            <p14:sldId id="387"/>
            <p14:sldId id="388"/>
            <p14:sldId id="393"/>
            <p14:sldId id="389"/>
            <p14:sldId id="390"/>
            <p14:sldId id="395"/>
            <p14:sldId id="397"/>
            <p14:sldId id="34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E2841"/>
    <a:srgbClr val="E3E9EC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580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86C308-49DD-6243-9F57-6BB216195F00}" type="datetimeFigureOut">
              <a:rPr kumimoji="1" lang="ko-KR" altLang="en-US" smtClean="0"/>
              <a:t>2026-04-14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9F430-B5A5-5E47-A069-F50E9FF2057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1170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04469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0D8F5-0310-7A87-E94E-FBF6DA5F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994910-3EB6-3C37-9F8E-E088DAE64E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B2A283-87A4-C03B-449F-632A7CE66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8535D7-A453-D0F5-65EE-EBB0942D8A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72356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9E96D-507C-43CE-6A85-0C663E802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ABE24A-6CAC-2308-FCD9-B77FB436A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85ECBCA-A046-1E4A-B47C-EF2AC8BBC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036514-2F49-729A-BC7F-AA2CF9E26A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52561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398B9-5985-C651-6047-CEDF63CD6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A218A91-60E3-815C-B506-F8A4F19E9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192C2A-3C1B-21EC-0092-54050AE53F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EAE103-AAF9-A305-F986-F3B27C5554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536156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82135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17744-A4D8-E205-1DA8-FB718DCD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04636D-A7D0-70E9-7074-0EC0055B9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DFE240-A4CF-4A8F-D26A-B65BCE4CFA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6174A3-ED8D-F2D2-CC54-9C9D5DD5B5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83538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C5BB7-C4AD-F00D-98E2-E0B256A0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64031B0-6C33-3B14-298E-D59510D4FE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276651-014C-FFA0-8136-9D7D4E370A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3DC76-C3B9-DEF2-378B-E4C229B78D6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10108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28AD2-20CE-2650-DE1D-2129CDCA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D91D68-2F27-AE99-208C-77FE7ED918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2C11C3-F6FA-1299-37E5-CC4CD3B975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C44A81-600C-B4C7-21BF-C0C1BFC011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766406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28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002057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B2CDB-F6DE-28F0-CEBA-BC2581F1F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8D516A-522D-05D6-BD4A-604B7D8E2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241AC56-58D1-C371-6B8C-62D9FFC42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E37BAC-30E4-1858-ED13-13F693C85F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30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64314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2AF29-2DC1-287C-0AAC-D295A4E31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58FF41-9F3E-6AC5-69EA-71592AD68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E9E809-47C5-75B0-8C78-B72564BBAB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EDDAFA-17E8-4002-B4BC-56820A4618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31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57183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9C0A-A514-6466-9832-D90EAB8C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D5CC20-90D8-3845-5387-C94CD5F2A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9BBACF-F1EB-5953-8906-4972A09F2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F6ECF4-CC6B-14EC-93CC-33A7DD5BCF0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32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5969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15E36-D196-2FBF-A983-045408797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3D4E75-C379-D280-FD1E-628DB2D62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C77AE42-EA21-E112-80A8-DA963F68A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B70206-976B-7BD5-9364-4ED5118CC1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33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9203764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A4CB7-98E1-4698-492C-D80A9AD9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7C28AA3-A7DB-5171-65F4-F136A7713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6206D3-DEC9-946C-83FA-87BFA735A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53E02-2418-D05D-A634-92418A2ADE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34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799405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A7EA6C-8107-4EAE-8725-8E94B525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87CAFD-4EC7-3497-5751-5BD43A382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1D545E-0FBD-0EC5-6B59-508633DD8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F9AD8-5650-22FB-D1E2-42F97D65F8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35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362009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5642F-ADDF-EC77-7065-E20157F99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0083FD-1FB2-37D4-E2F9-214A5ACAE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38B7D9-0B23-7DCE-572B-A9482A639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A6FB96-9E2E-4AC3-6320-A38D8954E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36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2736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508CD-2AEC-628F-57AF-123282AFC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378201-C248-87BC-D215-E194F3623A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A4B356-7BDB-8035-279A-5FD2F9E51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597CFA-3EB7-CCAC-E50B-26A51106002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37</a:t>
            </a:fld>
            <a:endParaRPr 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36844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visang1-my.sharepoint.com/:p:/g/personal/kimds3_visang_com/IQCcwx2t-2IfQJHzepiiGq0JAXmEU3oGXnKEVxmZJynRou0?e=QvYmI2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s365.atlassian.net/wiki/spaces/AppleTF/pages/353108011/040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17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279DCBA-99C2-D87B-97C4-04BE494C0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7673052" cy="326852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4800" b="1" err="1">
                <a:solidFill>
                  <a:srgbClr val="FFFFFF"/>
                </a:solidFill>
              </a:rPr>
              <a:t>에듀테크플랫폼기획</a:t>
            </a:r>
            <a:r>
              <a:rPr lang="ko-KR" altLang="en-US" sz="4800" b="1">
                <a:solidFill>
                  <a:srgbClr val="FFFFFF"/>
                </a:solidFill>
              </a:rPr>
              <a:t> </a:t>
            </a:r>
            <a:r>
              <a:rPr lang="en-US" altLang="ko-KR" sz="4800" b="1">
                <a:solidFill>
                  <a:srgbClr val="FFFFFF"/>
                </a:solidFill>
              </a:rPr>
              <a:t>Core</a:t>
            </a:r>
            <a:br>
              <a:rPr lang="en-US" altLang="ko-KR" sz="4800" b="1">
                <a:solidFill>
                  <a:srgbClr val="FFFFFF"/>
                </a:solidFill>
              </a:rPr>
            </a:br>
            <a:r>
              <a:rPr lang="en-US" altLang="ko-KR" sz="4800" b="1">
                <a:solidFill>
                  <a:srgbClr val="FFFFFF"/>
                </a:solidFill>
              </a:rPr>
              <a:t>3D </a:t>
            </a:r>
            <a:r>
              <a:rPr lang="ko-KR" altLang="en-US" sz="4800" b="1">
                <a:solidFill>
                  <a:srgbClr val="FFFFFF"/>
                </a:solidFill>
              </a:rPr>
              <a:t>퀴즈 게임 보고</a:t>
            </a:r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7212BE2B-B12E-13CF-F1EA-1730BCF7C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8858" y="4303103"/>
            <a:ext cx="6051236" cy="1241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altLang="ko-KR">
                <a:solidFill>
                  <a:srgbClr val="FFFFFF"/>
                </a:solidFill>
                <a:ea typeface="맑은 고딕"/>
              </a:rPr>
              <a:t>2026.04.16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45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C87935D-F214-81B9-5960-2C2C17E7D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213" y="348873"/>
            <a:ext cx="9895951" cy="1033669"/>
          </a:xfrm>
        </p:spPr>
        <p:txBody>
          <a:bodyPr>
            <a:normAutofit/>
          </a:bodyPr>
          <a:lstStyle/>
          <a:p>
            <a:r>
              <a:rPr lang="ko-KR" altLang="en-US" sz="4000" b="1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1B120-45B2-4D89-E546-FF2E6CC4B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213" y="2022728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>
                <a:ea typeface="맑은 고딕"/>
              </a:rPr>
              <a:t>프로젝트 범위 및 일정</a:t>
            </a:r>
            <a:endParaRPr lang="en-US" altLang="ko-KR" sz="2400" b="1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400" b="1">
                <a:ea typeface="맑은 고딕"/>
              </a:rPr>
              <a:t>문항 콘텐츠 기획안 </a:t>
            </a:r>
            <a:r>
              <a:rPr lang="ko-KR" altLang="en-US" sz="1800" b="1">
                <a:ea typeface="맑은 고딕"/>
              </a:rPr>
              <a:t>(상품 기획안)</a:t>
            </a:r>
            <a:endParaRPr lang="en-US" altLang="ko-KR" sz="1800" b="1">
              <a:ea typeface="맑은 고딕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ko-KR" altLang="en-US" sz="2400" b="1">
                <a:ea typeface="맑은 고딕"/>
              </a:rPr>
              <a:t>사용자 플로우 </a:t>
            </a:r>
            <a:r>
              <a:rPr lang="ko-KR" altLang="en-US" sz="1800" b="1">
                <a:ea typeface="맑은 고딕"/>
              </a:rPr>
              <a:t>(회원가입/로그인에서부터 문항 불러오기까지)</a:t>
            </a:r>
            <a:endParaRPr lang="en-US" altLang="ko-KR" sz="2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31ADDD-CF05-4130-10EF-890A0A115DAE}"/>
              </a:ext>
            </a:extLst>
          </p:cNvPr>
          <p:cNvSpPr txBox="1"/>
          <p:nvPr/>
        </p:nvSpPr>
        <p:spPr>
          <a:xfrm>
            <a:off x="-90714" y="7021286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6. 3D퀴즈게임 진행계획(일정), 콘텐츠 상품안</a:t>
            </a:r>
            <a:endParaRPr lang="en-US" altLang="ko-KR"/>
          </a:p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104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66B984-45FD-9625-F7AA-907924FF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TO. </a:t>
            </a:r>
            <a:r>
              <a:rPr lang="ko-KR" altLang="en-US"/>
              <a:t>승민</a:t>
            </a:r>
            <a:r>
              <a:rPr lang="en-US" altLang="ko-KR"/>
              <a:t>CP</a:t>
            </a:r>
            <a:r>
              <a:rPr lang="ko-KR" altLang="en-US"/>
              <a:t>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CE6B2F-A216-003B-BE1D-C3420098C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CP</a:t>
            </a:r>
            <a:r>
              <a:rPr lang="ko-KR" altLang="en-US" dirty="0"/>
              <a:t>님</a:t>
            </a:r>
            <a:r>
              <a:rPr lang="en-US" altLang="ko-KR" dirty="0"/>
              <a:t>! </a:t>
            </a:r>
            <a:r>
              <a:rPr lang="ko-KR" altLang="en-US" dirty="0"/>
              <a:t>일단 각 슬라이드의 </a:t>
            </a:r>
            <a:r>
              <a:rPr lang="ko-KR" altLang="en-US" b="1" dirty="0"/>
              <a:t>팩트를 체크해 </a:t>
            </a:r>
            <a:r>
              <a:rPr lang="ko-KR" altLang="en-US" dirty="0"/>
              <a:t>주세요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진행 현황을 보고할 때 </a:t>
            </a:r>
            <a:r>
              <a:rPr lang="ko-KR" altLang="en-US" b="1" dirty="0"/>
              <a:t>누가</a:t>
            </a:r>
            <a:r>
              <a:rPr lang="en-US" altLang="ko-KR" b="1" dirty="0"/>
              <a:t>/</a:t>
            </a:r>
            <a:r>
              <a:rPr lang="ko-KR" altLang="en-US" b="1" dirty="0"/>
              <a:t>언제까지</a:t>
            </a:r>
            <a:r>
              <a:rPr lang="en-US" altLang="ko-KR" b="1" dirty="0"/>
              <a:t>/</a:t>
            </a:r>
            <a:r>
              <a:rPr lang="ko-KR" altLang="en-US" b="1" dirty="0"/>
              <a:t>무엇을 </a:t>
            </a:r>
            <a:r>
              <a:rPr lang="ko-KR" altLang="en-US" dirty="0"/>
              <a:t>하기로 했다가 모두 담기게 해 주세요</a:t>
            </a:r>
            <a:r>
              <a:rPr lang="en-US" altLang="ko-KR" dirty="0"/>
              <a:t>!</a:t>
            </a:r>
          </a:p>
          <a:p>
            <a:r>
              <a:rPr lang="ko-KR" altLang="en-US" dirty="0"/>
              <a:t>추가로 보고가 필요한데 </a:t>
            </a:r>
            <a:r>
              <a:rPr lang="ko-KR" altLang="en-US" b="1" dirty="0"/>
              <a:t>기재되지 않은 것</a:t>
            </a:r>
            <a:r>
              <a:rPr lang="ko-KR" altLang="en-US" dirty="0"/>
              <a:t>을 모두 담아주세요</a:t>
            </a:r>
            <a:r>
              <a:rPr lang="en-US" altLang="ko-KR" dirty="0"/>
              <a:t>~!</a:t>
            </a:r>
          </a:p>
          <a:p>
            <a:r>
              <a:rPr lang="ko-KR" altLang="en-US" dirty="0"/>
              <a:t>특히 </a:t>
            </a:r>
            <a:r>
              <a:rPr lang="ko-KR" altLang="en-US" dirty="0" err="1"/>
              <a:t>상위직책자가</a:t>
            </a:r>
            <a:r>
              <a:rPr lang="ko-KR" altLang="en-US" dirty="0"/>
              <a:t> 이해할 수 있는 </a:t>
            </a:r>
            <a:r>
              <a:rPr lang="ko-KR" altLang="en-US" b="1" dirty="0"/>
              <a:t>서비스 구조도</a:t>
            </a:r>
            <a:r>
              <a:rPr lang="ko-KR" altLang="en-US" dirty="0"/>
              <a:t>를 한번 그려주세요</a:t>
            </a:r>
            <a:r>
              <a:rPr lang="en-US" altLang="ko-KR" dirty="0"/>
              <a:t>~!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1358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1" name="AccentBar"/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2" name="BottomBar"/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B7B772-999E-F028-C0E0-63B0BAD4D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28" y="1"/>
            <a:ext cx="10515600" cy="724074"/>
          </a:xfrm>
        </p:spPr>
        <p:txBody>
          <a:bodyPr>
            <a:normAutofit/>
          </a:bodyPr>
          <a:lstStyle/>
          <a:p>
            <a:r>
              <a:rPr lang="en-US" altLang="ko-KR" sz="3200" b="1">
                <a:solidFill>
                  <a:srgbClr val="FFFFFF"/>
                </a:solidFill>
                <a:ea typeface="맑은 고딕"/>
              </a:rPr>
              <a:t>[1] </a:t>
            </a:r>
            <a:r>
              <a:rPr lang="ko-KR" altLang="en-US" sz="3200" b="1">
                <a:solidFill>
                  <a:srgbClr val="FFFFFF"/>
                </a:solidFill>
                <a:ea typeface="맑은 고딕"/>
              </a:rPr>
              <a:t>프로젝트 범위 및 일정</a:t>
            </a:r>
            <a:endParaRPr lang="ko-KR" altLang="en-US" sz="3200" b="1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1BC7E-9B41-D475-019E-5C67554A93C4}"/>
              </a:ext>
            </a:extLst>
          </p:cNvPr>
          <p:cNvSpPr txBox="1"/>
          <p:nvPr/>
        </p:nvSpPr>
        <p:spPr>
          <a:xfrm>
            <a:off x="-9071" y="6241143"/>
            <a:ext cx="725714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hlinkClick r:id="rId2"/>
              </a:rPr>
              <a:t>26년 04월 07일 퀴즈파티 수업용 게임 선생님 UI(피그마) 1.pptx</a:t>
            </a:r>
            <a:endParaRPr lang="en-US" altLang="ko-KR" sz="1100"/>
          </a:p>
          <a:p>
            <a:pPr algn="ctr"/>
            <a:endParaRPr lang="ko-KR" altLang="en-US" sz="11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F31AAC-6261-2C0F-AC5D-A71677A0D0D7}"/>
              </a:ext>
            </a:extLst>
          </p:cNvPr>
          <p:cNvSpPr txBox="1"/>
          <p:nvPr/>
        </p:nvSpPr>
        <p:spPr>
          <a:xfrm>
            <a:off x="6286183" y="168040"/>
            <a:ext cx="5669642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b="1">
                <a:solidFill>
                  <a:srgbClr val="FF0000"/>
                </a:solidFill>
                <a:latin typeface="Malgun Gothic"/>
                <a:ea typeface="Malgun Gothic"/>
              </a:rPr>
              <a:t>게임</a:t>
            </a:r>
            <a:r>
              <a:rPr lang="en-US" altLang="ko-KR" b="1">
                <a:solidFill>
                  <a:srgbClr val="FF0000"/>
                </a:solidFill>
                <a:latin typeface="Malgun Gothic"/>
                <a:ea typeface="Malgun Gothic"/>
              </a:rPr>
              <a:t> Cell </a:t>
            </a:r>
            <a:r>
              <a:rPr lang="ko-KR" b="1">
                <a:solidFill>
                  <a:srgbClr val="FF0000"/>
                </a:solidFill>
                <a:latin typeface="Malgun Gothic"/>
                <a:ea typeface="Malgun Gothic"/>
              </a:rPr>
              <a:t>수요일 논의 후 상세 </a:t>
            </a:r>
            <a:r>
              <a:rPr lang="ko-KR" altLang="en-US" b="1">
                <a:solidFill>
                  <a:srgbClr val="FF0000"/>
                </a:solidFill>
                <a:latin typeface="Malgun Gothic"/>
                <a:ea typeface="Malgun Gothic"/>
              </a:rPr>
              <a:t>범위</a:t>
            </a:r>
            <a:r>
              <a:rPr lang="ko-KR" b="1">
                <a:solidFill>
                  <a:srgbClr val="FF0000"/>
                </a:solidFill>
                <a:latin typeface="Malgun Gothic"/>
                <a:ea typeface="Malgun Gothic"/>
              </a:rPr>
              <a:t> </a:t>
            </a:r>
            <a:r>
              <a:rPr lang="ko-KR" b="1" err="1">
                <a:solidFill>
                  <a:srgbClr val="FF0000"/>
                </a:solidFill>
                <a:latin typeface="Malgun Gothic"/>
                <a:ea typeface="Malgun Gothic"/>
              </a:rPr>
              <a:t>업뎃</a:t>
            </a:r>
            <a:r>
              <a:rPr lang="ko-KR" b="1">
                <a:solidFill>
                  <a:srgbClr val="FF0000"/>
                </a:solidFill>
                <a:latin typeface="Malgun Gothic"/>
                <a:ea typeface="Malgun Gothic"/>
              </a:rPr>
              <a:t> 필요</a:t>
            </a:r>
            <a:endParaRPr lang="ko-KR">
              <a:solidFill>
                <a:srgbClr val="000000"/>
              </a:solidFill>
              <a:latin typeface="Malgun Gothic"/>
              <a:ea typeface="Malgun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83AB02-5F60-03DF-012E-B991ED88FD4B}"/>
              </a:ext>
            </a:extLst>
          </p:cNvPr>
          <p:cNvSpPr txBox="1"/>
          <p:nvPr/>
        </p:nvSpPr>
        <p:spPr>
          <a:xfrm>
            <a:off x="12051072" y="175334"/>
            <a:ext cx="5672818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특히 회원체계에 따른 범위 재설정 확인 필요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60858E-126D-5B30-1A8C-B7375E5538AA}"/>
              </a:ext>
            </a:extLst>
          </p:cNvPr>
          <p:cNvSpPr txBox="1"/>
          <p:nvPr/>
        </p:nvSpPr>
        <p:spPr>
          <a:xfrm>
            <a:off x="12371028" y="720000"/>
            <a:ext cx="6096000" cy="3139321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dirty="0" err="1"/>
              <a:t>공통</a:t>
            </a:r>
            <a:endParaRPr lang="en-US" dirty="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en-US" b="1" dirty="0" err="1"/>
              <a:t>교사</a:t>
            </a:r>
            <a:r>
              <a:rPr lang="en-US" b="1" dirty="0"/>
              <a:t>/</a:t>
            </a:r>
            <a:r>
              <a:rPr lang="en-US" b="1" dirty="0" err="1"/>
              <a:t>학생</a:t>
            </a:r>
            <a:r>
              <a:rPr lang="en-US" b="1" dirty="0"/>
              <a:t> </a:t>
            </a:r>
            <a:r>
              <a:rPr lang="en-US" b="1" dirty="0" err="1"/>
              <a:t>구분</a:t>
            </a:r>
            <a:r>
              <a:rPr lang="en-US" b="1" dirty="0"/>
              <a:t> </a:t>
            </a:r>
            <a:r>
              <a:rPr lang="en-US" b="1" dirty="0" err="1"/>
              <a:t>없고</a:t>
            </a:r>
            <a:endParaRPr lang="en-US" b="1" dirty="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en-US" b="1" dirty="0" err="1"/>
              <a:t>그룹</a:t>
            </a:r>
            <a:r>
              <a:rPr lang="en-US" b="1" dirty="0"/>
              <a:t>/반 </a:t>
            </a:r>
            <a:r>
              <a:rPr lang="en-US" b="1" dirty="0" err="1"/>
              <a:t>만드는</a:t>
            </a:r>
            <a:r>
              <a:rPr lang="en-US" b="1" dirty="0"/>
              <a:t> 거 </a:t>
            </a:r>
            <a:r>
              <a:rPr lang="en-US" b="1" dirty="0" err="1"/>
              <a:t>없고</a:t>
            </a:r>
            <a:endParaRPr lang="en-US" b="1" dirty="0">
              <a:ea typeface="맑은 고딕"/>
            </a:endParaRPr>
          </a:p>
          <a:p>
            <a:pPr marL="0" lvl="1"/>
            <a:endParaRPr lang="en-US" b="1" dirty="0">
              <a:ea typeface="맑은 고딕"/>
            </a:endParaRPr>
          </a:p>
          <a:p>
            <a:pPr marL="228600" lvl="1" indent="-228600">
              <a:buFont typeface=""/>
              <a:buChar char="•"/>
            </a:pPr>
            <a:r>
              <a:rPr lang="en-US" dirty="0" err="1"/>
              <a:t>카훗처럼</a:t>
            </a:r>
            <a:endParaRPr lang="en-US" dirty="0">
              <a:ea typeface="맑은 고딕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 err="1"/>
              <a:t>출제하면</a:t>
            </a:r>
            <a:r>
              <a:rPr lang="en-US" dirty="0"/>
              <a:t> → </a:t>
            </a:r>
            <a:r>
              <a:rPr lang="en-US" dirty="0" err="1"/>
              <a:t>출제</a:t>
            </a:r>
            <a:r>
              <a:rPr lang="en-US" dirty="0"/>
              <a:t> </a:t>
            </a:r>
            <a:r>
              <a:rPr lang="en-US" dirty="0" err="1"/>
              <a:t>내역</a:t>
            </a:r>
            <a:r>
              <a:rPr lang="en-US" dirty="0"/>
              <a:t> + </a:t>
            </a:r>
            <a:r>
              <a:rPr lang="en-US" dirty="0" err="1"/>
              <a:t>활동</a:t>
            </a:r>
            <a:r>
              <a:rPr lang="en-US" dirty="0"/>
              <a:t> </a:t>
            </a:r>
            <a:r>
              <a:rPr lang="en-US" dirty="0" err="1"/>
              <a:t>내역</a:t>
            </a:r>
            <a:endParaRPr lang="en-US" dirty="0">
              <a:ea typeface="맑은 고딕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 err="1"/>
              <a:t>참여하면</a:t>
            </a:r>
            <a:r>
              <a:rPr lang="en-US" dirty="0"/>
              <a:t> → </a:t>
            </a:r>
            <a:r>
              <a:rPr lang="en-US" dirty="0" err="1"/>
              <a:t>활동</a:t>
            </a:r>
            <a:r>
              <a:rPr lang="en-US" dirty="0"/>
              <a:t> </a:t>
            </a:r>
            <a:r>
              <a:rPr lang="en-US" dirty="0" err="1"/>
              <a:t>내역</a:t>
            </a:r>
            <a:endParaRPr lang="en-US" dirty="0">
              <a:ea typeface="맑은 고딕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 err="1"/>
              <a:t>과제</a:t>
            </a:r>
            <a:r>
              <a:rPr lang="en-US" dirty="0"/>
              <a:t> </a:t>
            </a:r>
            <a:r>
              <a:rPr lang="en-US" dirty="0" err="1"/>
              <a:t>준다고하면</a:t>
            </a:r>
            <a:r>
              <a:rPr lang="en-US" dirty="0"/>
              <a:t> → </a:t>
            </a:r>
            <a:r>
              <a:rPr lang="en-US" dirty="0" err="1"/>
              <a:t>링크</a:t>
            </a:r>
            <a:r>
              <a:rPr lang="en-US" dirty="0"/>
              <a:t> </a:t>
            </a:r>
            <a:r>
              <a:rPr lang="en-US" dirty="0" err="1"/>
              <a:t>주기</a:t>
            </a:r>
            <a:endParaRPr lang="en-US" dirty="0">
              <a:ea typeface="맑은 고딕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 err="1"/>
              <a:t>게스트면</a:t>
            </a:r>
            <a:r>
              <a:rPr lang="en-US" dirty="0"/>
              <a:t> </a:t>
            </a:r>
            <a:r>
              <a:rPr lang="en-US" dirty="0" err="1"/>
              <a:t>휘발</a:t>
            </a:r>
            <a:endParaRPr lang="en-US" dirty="0">
              <a:ea typeface="맑은 고딕"/>
            </a:endParaRPr>
          </a:p>
          <a:p>
            <a:pPr marL="228600" lvl="2" indent="-228600">
              <a:buFont typeface=""/>
              <a:buChar char="•"/>
            </a:pPr>
            <a:r>
              <a:rPr lang="en-US" dirty="0" err="1"/>
              <a:t>회원이면</a:t>
            </a:r>
            <a:r>
              <a:rPr lang="en-US" dirty="0"/>
              <a:t> </a:t>
            </a:r>
            <a:r>
              <a:rPr lang="en-US" dirty="0" err="1"/>
              <a:t>남기</a:t>
            </a:r>
            <a:endParaRPr lang="en-US" dirty="0">
              <a:ea typeface="맑은 고딕"/>
            </a:endParaRPr>
          </a:p>
          <a:p>
            <a:pPr algn="ctr"/>
            <a:endParaRPr lang="ko-KR" altLang="en-US" dirty="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8FAF12C-F058-3647-90EB-E93F8BDB1360}"/>
              </a:ext>
            </a:extLst>
          </p:cNvPr>
          <p:cNvSpPr/>
          <p:nvPr/>
        </p:nvSpPr>
        <p:spPr>
          <a:xfrm>
            <a:off x="425302" y="1370334"/>
            <a:ext cx="5588000" cy="330200"/>
          </a:xfrm>
          <a:prstGeom prst="roundRect">
            <a:avLst/>
          </a:prstGeom>
          <a:solidFill>
            <a:srgbClr val="0E4D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 dirty="0">
                <a:solidFill>
                  <a:srgbClr val="FFFFFF"/>
                </a:solidFill>
              </a:rPr>
              <a:t>MVP (~5</a:t>
            </a:r>
            <a:r>
              <a:rPr lang="ko-KR" altLang="en-US" sz="1400" b="1" dirty="0">
                <a:solidFill>
                  <a:srgbClr val="FFFFFF"/>
                </a:solidFill>
              </a:rPr>
              <a:t>월</a:t>
            </a:r>
            <a:r>
              <a:rPr lang="en-US" altLang="ko-KR" sz="1400" b="1" dirty="0">
                <a:solidFill>
                  <a:srgbClr val="FFFFFF"/>
                </a:solidFill>
              </a:rPr>
              <a:t>) </a:t>
            </a:r>
            <a:endParaRPr lang="ko-Kore-KR" altLang="en-US" sz="1400" b="1" dirty="0">
              <a:solidFill>
                <a:srgbClr val="FFFFFF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BD704B59-331B-B648-9CD8-DECFF8F1F432}"/>
              </a:ext>
            </a:extLst>
          </p:cNvPr>
          <p:cNvSpPr/>
          <p:nvPr/>
        </p:nvSpPr>
        <p:spPr>
          <a:xfrm>
            <a:off x="6191102" y="1370334"/>
            <a:ext cx="5588000" cy="330200"/>
          </a:xfrm>
          <a:prstGeom prst="roundRect">
            <a:avLst/>
          </a:prstGeom>
          <a:solidFill>
            <a:srgbClr val="A545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ko-Kore-KR" sz="1400" b="1" dirty="0">
                <a:solidFill>
                  <a:srgbClr val="FFFFFF"/>
                </a:solidFill>
              </a:rPr>
              <a:t>MVP </a:t>
            </a:r>
            <a:r>
              <a:rPr lang="ko-KR" altLang="en-US" sz="1400" b="1" dirty="0">
                <a:solidFill>
                  <a:srgbClr val="FFFFFF"/>
                </a:solidFill>
              </a:rPr>
              <a:t>이후 </a:t>
            </a:r>
            <a:r>
              <a:rPr lang="en-US" altLang="ko-KR" sz="1400" b="1" dirty="0">
                <a:solidFill>
                  <a:srgbClr val="FFFFFF"/>
                </a:solidFill>
              </a:rPr>
              <a:t>(~8</a:t>
            </a:r>
            <a:r>
              <a:rPr lang="ko-KR" altLang="en-US" sz="1400" b="1" dirty="0">
                <a:solidFill>
                  <a:srgbClr val="FFFFFF"/>
                </a:solidFill>
              </a:rPr>
              <a:t>월</a:t>
            </a:r>
            <a:r>
              <a:rPr lang="en-US" altLang="ko-KR" sz="1400" b="1" dirty="0">
                <a:solidFill>
                  <a:srgbClr val="FFFFFF"/>
                </a:solidFill>
              </a:rPr>
              <a:t>)</a:t>
            </a:r>
            <a:endParaRPr lang="ko-Kore-KR" altLang="en-US" sz="1400" b="1" dirty="0">
              <a:solidFill>
                <a:srgbClr val="FFFFFF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FDDA8071-DD4B-424B-ACAF-5F858A75ACCC}"/>
              </a:ext>
            </a:extLst>
          </p:cNvPr>
          <p:cNvSpPr/>
          <p:nvPr/>
        </p:nvSpPr>
        <p:spPr>
          <a:xfrm>
            <a:off x="425302" y="1776734"/>
            <a:ext cx="635000" cy="2540000"/>
          </a:xfrm>
          <a:prstGeom prst="roundRect">
            <a:avLst/>
          </a:prstGeom>
          <a:solidFill>
            <a:srgbClr val="D6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 b="1">
                <a:solidFill>
                  <a:srgbClr val="0E4D6B"/>
                </a:solidFill>
              </a:rPr>
              <a:t>수업용</a:t>
            </a:r>
            <a:endParaRPr lang="ko-Kore-KR" altLang="en-US" sz="1200" b="1">
              <a:solidFill>
                <a:srgbClr val="0E4D6B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994D23FE-1D6D-C74A-9A4E-D85499033329}"/>
              </a:ext>
            </a:extLst>
          </p:cNvPr>
          <p:cNvSpPr/>
          <p:nvPr/>
        </p:nvSpPr>
        <p:spPr>
          <a:xfrm>
            <a:off x="2030818" y="1776734"/>
            <a:ext cx="3982483" cy="7874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333333"/>
                </a:solidFill>
              </a:rPr>
              <a:t>불러오기</a:t>
            </a:r>
            <a:r>
              <a:rPr lang="en-US" altLang="ko-KR" sz="1200" dirty="0">
                <a:solidFill>
                  <a:srgbClr val="333333"/>
                </a:solidFill>
              </a:rPr>
              <a:t>:</a:t>
            </a:r>
            <a:r>
              <a:rPr lang="ko-KR" altLang="en-US" sz="1200" dirty="0">
                <a:solidFill>
                  <a:srgbClr val="333333"/>
                </a:solidFill>
              </a:rPr>
              <a:t> </a:t>
            </a:r>
            <a:r>
              <a:rPr lang="ko-KR" altLang="en-US" sz="1200" dirty="0" err="1">
                <a:solidFill>
                  <a:srgbClr val="333333"/>
                </a:solidFill>
              </a:rPr>
              <a:t>세트지</a:t>
            </a:r>
            <a:r>
              <a:rPr lang="ko-KR" altLang="en-US" sz="1200" dirty="0">
                <a:solidFill>
                  <a:srgbClr val="333333"/>
                </a:solidFill>
              </a:rPr>
              <a:t> 활용 </a:t>
            </a:r>
            <a:r>
              <a:rPr lang="en-US" altLang="ko-KR" sz="1200" dirty="0">
                <a:solidFill>
                  <a:srgbClr val="333333"/>
                </a:solidFill>
              </a:rPr>
              <a:t>(</a:t>
            </a:r>
            <a:r>
              <a:rPr lang="ko-KR" altLang="en-US" sz="1200" dirty="0">
                <a:solidFill>
                  <a:srgbClr val="333333"/>
                </a:solidFill>
              </a:rPr>
              <a:t>편집</a:t>
            </a:r>
            <a:r>
              <a:rPr lang="en-US" altLang="ko-KR" sz="1200" dirty="0">
                <a:solidFill>
                  <a:srgbClr val="333333"/>
                </a:solidFill>
              </a:rPr>
              <a:t>/</a:t>
            </a:r>
            <a:r>
              <a:rPr lang="ko-KR" altLang="en-US" sz="1200" dirty="0">
                <a:solidFill>
                  <a:srgbClr val="333333"/>
                </a:solidFill>
              </a:rPr>
              <a:t>수정 불가</a:t>
            </a:r>
            <a:r>
              <a:rPr lang="en-US" altLang="ko-KR" sz="1200" dirty="0">
                <a:solidFill>
                  <a:srgbClr val="333333"/>
                </a:solidFill>
              </a:rPr>
              <a:t>)
•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만들기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일반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저작툴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사지선다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en" altLang="ko-Kore-KR" sz="1200" dirty="0">
                <a:solidFill>
                  <a:srgbClr val="FF0000"/>
                </a:solidFill>
                <a:highlight>
                  <a:srgbClr val="FFFF00"/>
                </a:highlight>
              </a:rPr>
              <a:t>OX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유형</a:t>
            </a:r>
            <a:endParaRPr lang="ko-Kore-KR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8E99B0FE-2317-F24C-ABFF-924584ABA849}"/>
              </a:ext>
            </a:extLst>
          </p:cNvPr>
          <p:cNvSpPr/>
          <p:nvPr/>
        </p:nvSpPr>
        <p:spPr>
          <a:xfrm>
            <a:off x="2030818" y="2614934"/>
            <a:ext cx="3982484" cy="9398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en" altLang="ko-Kore-KR" sz="1200" dirty="0">
                <a:solidFill>
                  <a:srgbClr val="333333"/>
                </a:solidFill>
              </a:rPr>
              <a:t>QR</a:t>
            </a:r>
            <a:r>
              <a:rPr lang="ko-KR" altLang="en-US" sz="1200" dirty="0">
                <a:solidFill>
                  <a:srgbClr val="333333"/>
                </a:solidFill>
              </a:rPr>
              <a:t>코드 학생 입장 </a:t>
            </a:r>
            <a:r>
              <a:rPr lang="en-US" altLang="ko-KR" sz="1200" dirty="0">
                <a:solidFill>
                  <a:srgbClr val="333333"/>
                </a:solidFill>
              </a:rPr>
              <a:t>(</a:t>
            </a:r>
            <a:r>
              <a:rPr lang="ko-KR" altLang="en-US" sz="1200" dirty="0">
                <a:solidFill>
                  <a:srgbClr val="333333"/>
                </a:solidFill>
              </a:rPr>
              <a:t>게스트는 데이터 휘발</a:t>
            </a:r>
            <a:r>
              <a:rPr lang="en-US" altLang="ko-KR" sz="1200" dirty="0">
                <a:solidFill>
                  <a:srgbClr val="333333"/>
                </a:solidFill>
              </a:rPr>
              <a:t>)</a:t>
            </a:r>
            <a:r>
              <a:rPr lang="ko-KR" altLang="en-US" sz="1200" dirty="0">
                <a:solidFill>
                  <a:srgbClr val="333333"/>
                </a:solidFill>
              </a:rPr>
              <a:t>
</a:t>
            </a: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333333"/>
                </a:solidFill>
              </a:rPr>
              <a:t>게임 </a:t>
            </a:r>
            <a:r>
              <a:rPr lang="en" altLang="ko-Kore-KR" sz="1200" dirty="0">
                <a:solidFill>
                  <a:srgbClr val="333333"/>
                </a:solidFill>
              </a:rPr>
              <a:t>Play</a:t>
            </a:r>
            <a:r>
              <a:rPr lang="ko-KR" altLang="en-US" sz="1200" dirty="0">
                <a:solidFill>
                  <a:srgbClr val="333333"/>
                </a:solidFill>
              </a:rPr>
              <a:t>
</a:t>
            </a: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333333"/>
                </a:solidFill>
              </a:rPr>
              <a:t>모니터링</a:t>
            </a:r>
            <a:endParaRPr lang="ko-Kore-KR" altLang="en-US" sz="1200">
              <a:solidFill>
                <a:srgbClr val="333333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BFB2EF19-6EBC-494F-9CF0-34097B5E61AE}"/>
              </a:ext>
            </a:extLst>
          </p:cNvPr>
          <p:cNvSpPr/>
          <p:nvPr/>
        </p:nvSpPr>
        <p:spPr>
          <a:xfrm>
            <a:off x="2030818" y="3605533"/>
            <a:ext cx="3982484" cy="705209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333333"/>
                </a:solidFill>
              </a:rPr>
              <a:t>랭킹</a:t>
            </a:r>
            <a:r>
              <a:rPr lang="en-US" altLang="ko-KR" sz="1200" dirty="0">
                <a:solidFill>
                  <a:srgbClr val="333333"/>
                </a:solidFill>
              </a:rPr>
              <a:t>:</a:t>
            </a:r>
            <a:r>
              <a:rPr lang="ko-KR" altLang="en-US" sz="1200" dirty="0">
                <a:solidFill>
                  <a:srgbClr val="333333"/>
                </a:solidFill>
              </a:rPr>
              <a:t> </a:t>
            </a:r>
            <a:r>
              <a:rPr lang="en-US" altLang="ko-KR" sz="1200" dirty="0">
                <a:solidFill>
                  <a:srgbClr val="333333"/>
                </a:solidFill>
              </a:rPr>
              <a:t>1 ~ 5</a:t>
            </a:r>
            <a:r>
              <a:rPr lang="ko-KR" altLang="en-US" sz="1200" dirty="0">
                <a:solidFill>
                  <a:srgbClr val="333333"/>
                </a:solidFill>
              </a:rPr>
              <a:t>등 및 본인 등수 노출</a:t>
            </a:r>
            <a:endParaRPr lang="ko-Kore-KR" altLang="en-US" sz="1200">
              <a:solidFill>
                <a:srgbClr val="333333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3F96AB62-10AE-CE41-AD8E-48B112C0CD05}"/>
              </a:ext>
            </a:extLst>
          </p:cNvPr>
          <p:cNvSpPr/>
          <p:nvPr/>
        </p:nvSpPr>
        <p:spPr>
          <a:xfrm>
            <a:off x="425302" y="4351838"/>
            <a:ext cx="635000" cy="1248564"/>
          </a:xfrm>
          <a:prstGeom prst="roundRect">
            <a:avLst/>
          </a:prstGeom>
          <a:solidFill>
            <a:srgbClr val="D0EB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 b="1">
                <a:solidFill>
                  <a:srgbClr val="065060"/>
                </a:solidFill>
              </a:rPr>
              <a:t>복습용</a:t>
            </a:r>
            <a:endParaRPr lang="ko-Kore-KR" altLang="en-US" sz="1200" b="1">
              <a:solidFill>
                <a:srgbClr val="065060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1992521-0B58-EA4E-91F7-F752892D2A60}"/>
              </a:ext>
            </a:extLst>
          </p:cNvPr>
          <p:cNvSpPr/>
          <p:nvPr/>
        </p:nvSpPr>
        <p:spPr>
          <a:xfrm>
            <a:off x="2030818" y="4355803"/>
            <a:ext cx="3982484" cy="5334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>
                <a:solidFill>
                  <a:srgbClr val="333333"/>
                </a:solidFill>
              </a:rPr>
              <a:t>• </a:t>
            </a:r>
            <a:r>
              <a:rPr lang="ko-KR" altLang="en-US" sz="1200">
                <a:solidFill>
                  <a:srgbClr val="333333"/>
                </a:solidFill>
              </a:rPr>
              <a:t>불러오기</a:t>
            </a:r>
            <a:r>
              <a:rPr lang="en-US" altLang="ko-KR" sz="1200">
                <a:solidFill>
                  <a:srgbClr val="333333"/>
                </a:solidFill>
              </a:rPr>
              <a:t>:</a:t>
            </a:r>
            <a:r>
              <a:rPr lang="ko-KR" altLang="en-US" sz="1200">
                <a:solidFill>
                  <a:srgbClr val="333333"/>
                </a:solidFill>
              </a:rPr>
              <a:t> </a:t>
            </a:r>
            <a:r>
              <a:rPr lang="ko-KR" altLang="en-US" sz="1200" err="1">
                <a:solidFill>
                  <a:srgbClr val="333333"/>
                </a:solidFill>
              </a:rPr>
              <a:t>세트지</a:t>
            </a:r>
            <a:r>
              <a:rPr lang="ko-KR" altLang="en-US" sz="1200">
                <a:solidFill>
                  <a:srgbClr val="333333"/>
                </a:solidFill>
              </a:rPr>
              <a:t> 활용 </a:t>
            </a:r>
            <a:r>
              <a:rPr lang="en-US" altLang="ko-KR" sz="1200">
                <a:solidFill>
                  <a:srgbClr val="333333"/>
                </a:solidFill>
              </a:rPr>
              <a:t>(</a:t>
            </a:r>
            <a:r>
              <a:rPr lang="ko-KR" altLang="en-US" sz="1200">
                <a:solidFill>
                  <a:srgbClr val="333333"/>
                </a:solidFill>
              </a:rPr>
              <a:t>편집</a:t>
            </a:r>
            <a:r>
              <a:rPr lang="en-US" altLang="ko-KR" sz="1200">
                <a:solidFill>
                  <a:srgbClr val="333333"/>
                </a:solidFill>
              </a:rPr>
              <a:t>/</a:t>
            </a:r>
            <a:r>
              <a:rPr lang="ko-KR" altLang="en-US" sz="1200">
                <a:solidFill>
                  <a:srgbClr val="333333"/>
                </a:solidFill>
              </a:rPr>
              <a:t>수정 불가</a:t>
            </a:r>
            <a:r>
              <a:rPr lang="en-US" altLang="ko-KR" sz="1200">
                <a:solidFill>
                  <a:srgbClr val="333333"/>
                </a:solidFill>
              </a:rPr>
              <a:t>)</a:t>
            </a:r>
            <a:endParaRPr lang="ko-Kore-KR" altLang="en-US" sz="1200">
              <a:solidFill>
                <a:srgbClr val="333333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3C4C8EF-A5ED-E14B-8EB9-716A7B6EDF55}"/>
              </a:ext>
            </a:extLst>
          </p:cNvPr>
          <p:cNvSpPr/>
          <p:nvPr/>
        </p:nvSpPr>
        <p:spPr>
          <a:xfrm>
            <a:off x="2030818" y="4959412"/>
            <a:ext cx="3982484" cy="64099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>
                <a:solidFill>
                  <a:srgbClr val="333333"/>
                </a:solidFill>
              </a:rPr>
              <a:t>• </a:t>
            </a:r>
            <a:r>
              <a:rPr lang="ko-KR" altLang="en-US" sz="1200">
                <a:solidFill>
                  <a:srgbClr val="333333"/>
                </a:solidFill>
              </a:rPr>
              <a:t>게임 </a:t>
            </a:r>
            <a:r>
              <a:rPr lang="en" altLang="ko-Kore-KR" sz="1200">
                <a:solidFill>
                  <a:srgbClr val="333333"/>
                </a:solidFill>
              </a:rPr>
              <a:t>Pla</a:t>
            </a:r>
            <a:r>
              <a:rPr lang="en-US" altLang="ko-KR" sz="1200">
                <a:solidFill>
                  <a:srgbClr val="333333"/>
                </a:solidFill>
              </a:rPr>
              <a:t>y</a:t>
            </a:r>
            <a:endParaRPr lang="ko-Kore-KR" altLang="en-US" sz="1200">
              <a:solidFill>
                <a:srgbClr val="333333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90F10C53-42EB-AD40-9000-904F05F958B4}"/>
              </a:ext>
            </a:extLst>
          </p:cNvPr>
          <p:cNvSpPr/>
          <p:nvPr/>
        </p:nvSpPr>
        <p:spPr>
          <a:xfrm>
            <a:off x="6191102" y="1776734"/>
            <a:ext cx="635000" cy="3048000"/>
          </a:xfrm>
          <a:prstGeom prst="roundRect">
            <a:avLst/>
          </a:prstGeom>
          <a:solidFill>
            <a:srgbClr val="F0DD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 b="1">
                <a:solidFill>
                  <a:srgbClr val="A54518"/>
                </a:solidFill>
              </a:rPr>
              <a:t>수업용</a:t>
            </a:r>
            <a:endParaRPr lang="ko-Kore-KR" altLang="en-US" sz="1200" b="1">
              <a:solidFill>
                <a:srgbClr val="A54518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11972A8-7729-4D4F-861D-B8073D386D48}"/>
              </a:ext>
            </a:extLst>
          </p:cNvPr>
          <p:cNvSpPr/>
          <p:nvPr/>
        </p:nvSpPr>
        <p:spPr>
          <a:xfrm>
            <a:off x="7796612" y="1776734"/>
            <a:ext cx="3982489" cy="1143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333333"/>
                </a:solidFill>
              </a:rPr>
              <a:t>불러오기</a:t>
            </a:r>
            <a:r>
              <a:rPr lang="en-US" altLang="ko-KR" sz="1200" dirty="0">
                <a:solidFill>
                  <a:srgbClr val="333333"/>
                </a:solidFill>
              </a:rPr>
              <a:t>:</a:t>
            </a:r>
            <a:r>
              <a:rPr lang="ko-KR" altLang="en-US" sz="1200" dirty="0">
                <a:solidFill>
                  <a:srgbClr val="333333"/>
                </a:solidFill>
              </a:rPr>
              <a:t> </a:t>
            </a:r>
            <a:r>
              <a:rPr lang="ko-KR" altLang="en-US" sz="1200" dirty="0" err="1">
                <a:solidFill>
                  <a:srgbClr val="333333"/>
                </a:solidFill>
              </a:rPr>
              <a:t>세트지</a:t>
            </a:r>
            <a:r>
              <a:rPr lang="ko-KR" altLang="en-US" sz="1200" dirty="0">
                <a:solidFill>
                  <a:srgbClr val="333333"/>
                </a:solidFill>
              </a:rPr>
              <a:t> 활용 </a:t>
            </a:r>
            <a:r>
              <a:rPr lang="en-US" altLang="ko-KR" sz="1200" dirty="0">
                <a:solidFill>
                  <a:srgbClr val="333333"/>
                </a:solidFill>
              </a:rPr>
              <a:t>(</a:t>
            </a:r>
            <a:r>
              <a:rPr lang="ko-KR" altLang="en-US" sz="1200" dirty="0">
                <a:solidFill>
                  <a:srgbClr val="333333"/>
                </a:solidFill>
              </a:rPr>
              <a:t>편집</a:t>
            </a:r>
            <a:r>
              <a:rPr lang="en-US" altLang="ko-KR" sz="1200" dirty="0">
                <a:solidFill>
                  <a:srgbClr val="333333"/>
                </a:solidFill>
              </a:rPr>
              <a:t>/</a:t>
            </a:r>
            <a:r>
              <a:rPr lang="ko-KR" altLang="en-US" sz="1200" dirty="0">
                <a:solidFill>
                  <a:srgbClr val="333333"/>
                </a:solidFill>
              </a:rPr>
              <a:t>수정 가능</a:t>
            </a:r>
            <a:r>
              <a:rPr lang="en-US" altLang="ko-KR" sz="1200" dirty="0">
                <a:solidFill>
                  <a:srgbClr val="333333"/>
                </a:solidFill>
              </a:rPr>
              <a:t>)</a:t>
            </a:r>
            <a:r>
              <a:rPr lang="ko-KR" altLang="en-US" sz="1200" dirty="0">
                <a:solidFill>
                  <a:srgbClr val="333333"/>
                </a:solidFill>
              </a:rPr>
              <a:t>
</a:t>
            </a: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만들기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" altLang="ko-Kore-KR" sz="1200" dirty="0">
                <a:solidFill>
                  <a:srgbClr val="FF0000"/>
                </a:solidFill>
                <a:highlight>
                  <a:srgbClr val="FFFF00"/>
                </a:highlight>
              </a:rPr>
              <a:t>AI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저작툴</a:t>
            </a:r>
            <a:r>
              <a:rPr lang="ko-KR" altLang="en-US" sz="1200" dirty="0">
                <a:solidFill>
                  <a:srgbClr val="333333"/>
                </a:solidFill>
              </a:rPr>
              <a:t>
</a:t>
            </a:r>
            <a:r>
              <a:rPr lang="en-US" altLang="ko-KR" sz="1200" dirty="0">
                <a:solidFill>
                  <a:srgbClr val="333333"/>
                </a:solidFill>
              </a:rPr>
              <a:t>•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숙제 주기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세트지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설정해서 학생에게 전송</a:t>
            </a:r>
            <a:endParaRPr lang="ko-Kore-KR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F5816BE3-3301-F445-8EC7-5E152584858F}"/>
              </a:ext>
            </a:extLst>
          </p:cNvPr>
          <p:cNvSpPr/>
          <p:nvPr/>
        </p:nvSpPr>
        <p:spPr>
          <a:xfrm>
            <a:off x="7796612" y="2970534"/>
            <a:ext cx="3982490" cy="6604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>
                <a:solidFill>
                  <a:srgbClr val="333333"/>
                </a:solidFill>
              </a:rPr>
              <a:t>• </a:t>
            </a:r>
            <a:r>
              <a:rPr lang="ko-KR" altLang="en-US" sz="1200">
                <a:solidFill>
                  <a:srgbClr val="333333"/>
                </a:solidFill>
              </a:rPr>
              <a:t>리포트</a:t>
            </a:r>
            <a:r>
              <a:rPr lang="en-US" altLang="ko-KR" sz="1200">
                <a:solidFill>
                  <a:srgbClr val="333333"/>
                </a:solidFill>
              </a:rPr>
              <a:t>:</a:t>
            </a:r>
            <a:r>
              <a:rPr lang="ko-KR" altLang="en-US" sz="1200">
                <a:solidFill>
                  <a:srgbClr val="333333"/>
                </a:solidFill>
              </a:rPr>
              <a:t> 학생별</a:t>
            </a:r>
            <a:r>
              <a:rPr lang="en-US" altLang="ko-KR" sz="1200">
                <a:solidFill>
                  <a:srgbClr val="333333"/>
                </a:solidFill>
              </a:rPr>
              <a:t>/</a:t>
            </a:r>
            <a:r>
              <a:rPr lang="ko-KR" altLang="en-US" sz="1200">
                <a:solidFill>
                  <a:srgbClr val="333333"/>
                </a:solidFill>
              </a:rPr>
              <a:t>문항별 </a:t>
            </a:r>
            <a:r>
              <a:rPr lang="en" altLang="ko-Kore-KR" sz="1200">
                <a:solidFill>
                  <a:srgbClr val="333333"/>
                </a:solidFill>
              </a:rPr>
              <a:t>OX </a:t>
            </a:r>
            <a:r>
              <a:rPr lang="ko-KR" altLang="en-US" sz="1200">
                <a:solidFill>
                  <a:srgbClr val="333333"/>
                </a:solidFill>
              </a:rPr>
              <a:t>결과 노출</a:t>
            </a:r>
            <a:endParaRPr lang="ko-Kore-KR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9872B2C5-646A-3A48-9280-3149A20D5DA8}"/>
              </a:ext>
            </a:extLst>
          </p:cNvPr>
          <p:cNvSpPr/>
          <p:nvPr/>
        </p:nvSpPr>
        <p:spPr>
          <a:xfrm>
            <a:off x="7796612" y="3681734"/>
            <a:ext cx="3982490" cy="1143000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>
                <a:solidFill>
                  <a:srgbClr val="333333"/>
                </a:solidFill>
              </a:rPr>
              <a:t>• </a:t>
            </a:r>
            <a:r>
              <a:rPr lang="ko-KR" altLang="en-US" sz="1200">
                <a:solidFill>
                  <a:srgbClr val="333333"/>
                </a:solidFill>
              </a:rPr>
              <a:t>광장</a:t>
            </a:r>
            <a:r>
              <a:rPr lang="en-US" altLang="ko-KR" sz="1200">
                <a:solidFill>
                  <a:srgbClr val="333333"/>
                </a:solidFill>
              </a:rPr>
              <a:t>:</a:t>
            </a:r>
            <a:r>
              <a:rPr lang="ko-KR" altLang="en-US" sz="1200">
                <a:solidFill>
                  <a:srgbClr val="333333"/>
                </a:solidFill>
              </a:rPr>
              <a:t> 유저 간 공유 자료실
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그룹 관리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 반 정보와 소속 학생 추가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편집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삭제</a:t>
            </a:r>
            <a:r>
              <a:rPr lang="ko-KR" altLang="en-US" sz="1200">
                <a:solidFill>
                  <a:srgbClr val="333333"/>
                </a:solidFill>
              </a:rPr>
              <a:t>
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• 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홈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대시보드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: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 교사</a:t>
            </a:r>
            <a:r>
              <a:rPr lang="en-US" altLang="ko-KR" sz="1200">
                <a:solidFill>
                  <a:srgbClr val="FF0000"/>
                </a:solidFill>
                <a:highlight>
                  <a:srgbClr val="FFFF00"/>
                </a:highlight>
              </a:rPr>
              <a:t>/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학생 응시 현황 및 인사이트</a:t>
            </a:r>
            <a:endParaRPr lang="ko-Kore-KR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E404B4AF-1F03-FE47-8BEC-563A976FA10B}"/>
              </a:ext>
            </a:extLst>
          </p:cNvPr>
          <p:cNvSpPr/>
          <p:nvPr/>
        </p:nvSpPr>
        <p:spPr>
          <a:xfrm>
            <a:off x="6191102" y="4889203"/>
            <a:ext cx="635000" cy="711199"/>
          </a:xfrm>
          <a:prstGeom prst="roundRect">
            <a:avLst/>
          </a:prstGeom>
          <a:solidFill>
            <a:srgbClr val="E8D0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 b="1">
                <a:solidFill>
                  <a:srgbClr val="7A1F71"/>
                </a:solidFill>
              </a:rPr>
              <a:t>복습용</a:t>
            </a:r>
            <a:endParaRPr lang="ko-Kore-KR" altLang="en-US" sz="1200" b="1">
              <a:solidFill>
                <a:srgbClr val="7A1F71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300C846B-C1B7-1D44-A5E6-C675581C4F26}"/>
              </a:ext>
            </a:extLst>
          </p:cNvPr>
          <p:cNvSpPr/>
          <p:nvPr/>
        </p:nvSpPr>
        <p:spPr>
          <a:xfrm>
            <a:off x="7796612" y="4894944"/>
            <a:ext cx="3982490" cy="711199"/>
          </a:xfrm>
          <a:prstGeom prst="roundRect">
            <a:avLst/>
          </a:prstGeom>
          <a:solidFill>
            <a:srgbClr val="F5F5F5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200">
                <a:solidFill>
                  <a:srgbClr val="333333"/>
                </a:solidFill>
              </a:rPr>
              <a:t>• </a:t>
            </a:r>
            <a:r>
              <a:rPr lang="ko-KR" altLang="en-US" sz="1200">
                <a:solidFill>
                  <a:srgbClr val="333333"/>
                </a:solidFill>
              </a:rPr>
              <a:t>리포트</a:t>
            </a:r>
            <a:r>
              <a:rPr lang="en-US" altLang="ko-KR" sz="1200">
                <a:solidFill>
                  <a:srgbClr val="333333"/>
                </a:solidFill>
              </a:rPr>
              <a:t>:</a:t>
            </a:r>
            <a:r>
              <a:rPr lang="ko-KR" altLang="en-US" sz="1200">
                <a:solidFill>
                  <a:srgbClr val="333333"/>
                </a:solidFill>
              </a:rPr>
              <a:t> 문항별 </a:t>
            </a:r>
            <a:r>
              <a:rPr lang="en-US" altLang="ko-KR" sz="1200">
                <a:solidFill>
                  <a:srgbClr val="333333"/>
                </a:solidFill>
              </a:rPr>
              <a:t>OX </a:t>
            </a:r>
            <a:r>
              <a:rPr lang="ko-KR" altLang="en-US" sz="1200">
                <a:solidFill>
                  <a:srgbClr val="333333"/>
                </a:solidFill>
              </a:rPr>
              <a:t>결과 노출</a:t>
            </a:r>
            <a:endParaRPr lang="en-US" altLang="ko-KR" sz="1200">
              <a:solidFill>
                <a:srgbClr val="333333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ko-KR" sz="1200">
                <a:solidFill>
                  <a:srgbClr val="333333"/>
                </a:solidFill>
              </a:rPr>
              <a:t>• </a:t>
            </a:r>
            <a:r>
              <a:rPr lang="ko-KR" altLang="en-US" sz="1200">
                <a:solidFill>
                  <a:srgbClr val="FF0000"/>
                </a:solidFill>
                <a:highlight>
                  <a:srgbClr val="FFFF00"/>
                </a:highlight>
              </a:rPr>
              <a:t>숙제 하기</a:t>
            </a:r>
            <a:endParaRPr lang="ko-Kore-KR" altLang="en-US" sz="120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DB29C649-9E00-900F-3B32-3C5E688156A4}"/>
              </a:ext>
            </a:extLst>
          </p:cNvPr>
          <p:cNvSpPr/>
          <p:nvPr/>
        </p:nvSpPr>
        <p:spPr>
          <a:xfrm>
            <a:off x="1111102" y="1776734"/>
            <a:ext cx="868916" cy="787400"/>
          </a:xfrm>
          <a:prstGeom prst="roundRect">
            <a:avLst/>
          </a:prstGeom>
          <a:solidFill>
            <a:srgbClr val="D6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0E4D6B"/>
                </a:solidFill>
              </a:rPr>
              <a:t>저작</a:t>
            </a:r>
            <a:endParaRPr lang="ko-Kore-KR" altLang="en-US" sz="1200" b="1">
              <a:solidFill>
                <a:srgbClr val="0E4D6B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586F3511-D141-61B6-B312-86D66CEFF464}"/>
              </a:ext>
            </a:extLst>
          </p:cNvPr>
          <p:cNvSpPr/>
          <p:nvPr/>
        </p:nvSpPr>
        <p:spPr>
          <a:xfrm>
            <a:off x="1111102" y="2631013"/>
            <a:ext cx="868916" cy="897562"/>
          </a:xfrm>
          <a:prstGeom prst="roundRect">
            <a:avLst/>
          </a:prstGeom>
          <a:solidFill>
            <a:srgbClr val="D6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 dirty="0">
                <a:solidFill>
                  <a:srgbClr val="0E4D6B"/>
                </a:solidFill>
              </a:rPr>
              <a:t>응시</a:t>
            </a:r>
            <a:endParaRPr lang="ko-Kore-KR" altLang="en-US" sz="1200" b="1" dirty="0">
              <a:solidFill>
                <a:srgbClr val="0E4D6B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FE709A19-EB8E-2D4A-1C8B-23C79F36C5ED}"/>
              </a:ext>
            </a:extLst>
          </p:cNvPr>
          <p:cNvSpPr/>
          <p:nvPr/>
        </p:nvSpPr>
        <p:spPr>
          <a:xfrm>
            <a:off x="1111102" y="3605533"/>
            <a:ext cx="868916" cy="705209"/>
          </a:xfrm>
          <a:prstGeom prst="roundRect">
            <a:avLst/>
          </a:prstGeom>
          <a:solidFill>
            <a:srgbClr val="D6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0E4D6B"/>
                </a:solidFill>
              </a:rPr>
              <a:t>결과</a:t>
            </a:r>
            <a:endParaRPr lang="ko-Kore-KR" altLang="en-US" sz="1200" b="1">
              <a:solidFill>
                <a:srgbClr val="0E4D6B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DBB91DB8-4FC7-7884-36B1-BCF57BD53A39}"/>
              </a:ext>
            </a:extLst>
          </p:cNvPr>
          <p:cNvSpPr/>
          <p:nvPr/>
        </p:nvSpPr>
        <p:spPr>
          <a:xfrm>
            <a:off x="1111102" y="4351837"/>
            <a:ext cx="868916" cy="528677"/>
          </a:xfrm>
          <a:prstGeom prst="roundRect">
            <a:avLst/>
          </a:prstGeom>
          <a:solidFill>
            <a:srgbClr val="D0EB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065060"/>
                </a:solidFill>
              </a:rPr>
              <a:t>저작</a:t>
            </a:r>
            <a:endParaRPr lang="ko-Kore-KR" altLang="en-US" sz="1200" b="1">
              <a:solidFill>
                <a:srgbClr val="065060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2047AE1-339B-3319-A305-27DE30553D40}"/>
              </a:ext>
            </a:extLst>
          </p:cNvPr>
          <p:cNvSpPr/>
          <p:nvPr/>
        </p:nvSpPr>
        <p:spPr>
          <a:xfrm>
            <a:off x="1111102" y="4959413"/>
            <a:ext cx="868916" cy="640990"/>
          </a:xfrm>
          <a:prstGeom prst="roundRect">
            <a:avLst/>
          </a:prstGeom>
          <a:solidFill>
            <a:srgbClr val="D0EB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065060"/>
                </a:solidFill>
              </a:rPr>
              <a:t>응시</a:t>
            </a:r>
            <a:endParaRPr lang="ko-Kore-KR" altLang="en-US" sz="1200" b="1">
              <a:solidFill>
                <a:srgbClr val="065060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97205EB7-5819-C9CA-CC3B-D3EE522A1AF4}"/>
              </a:ext>
            </a:extLst>
          </p:cNvPr>
          <p:cNvSpPr/>
          <p:nvPr/>
        </p:nvSpPr>
        <p:spPr>
          <a:xfrm>
            <a:off x="6876899" y="1776734"/>
            <a:ext cx="868916" cy="1127708"/>
          </a:xfrm>
          <a:prstGeom prst="roundRect">
            <a:avLst/>
          </a:prstGeom>
          <a:solidFill>
            <a:srgbClr val="F0DD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A54518"/>
                </a:solidFill>
              </a:rPr>
              <a:t>저작</a:t>
            </a:r>
            <a:endParaRPr lang="ko-Kore-KR" altLang="en-US" sz="1200" b="1">
              <a:solidFill>
                <a:srgbClr val="A54518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31B06E6A-8337-829E-5F7E-EAB6E4B96FCE}"/>
              </a:ext>
            </a:extLst>
          </p:cNvPr>
          <p:cNvSpPr/>
          <p:nvPr/>
        </p:nvSpPr>
        <p:spPr>
          <a:xfrm>
            <a:off x="6876899" y="2964541"/>
            <a:ext cx="868916" cy="660401"/>
          </a:xfrm>
          <a:prstGeom prst="roundRect">
            <a:avLst/>
          </a:prstGeom>
          <a:solidFill>
            <a:srgbClr val="F0DD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A54518"/>
                </a:solidFill>
              </a:rPr>
              <a:t>결과</a:t>
            </a:r>
            <a:endParaRPr lang="ko-Kore-KR" altLang="en-US" sz="1200" b="1">
              <a:solidFill>
                <a:srgbClr val="A54518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DA82CA00-A1AC-89C2-9214-1D7A5E44E65F}"/>
              </a:ext>
            </a:extLst>
          </p:cNvPr>
          <p:cNvSpPr/>
          <p:nvPr/>
        </p:nvSpPr>
        <p:spPr>
          <a:xfrm>
            <a:off x="6876899" y="3676741"/>
            <a:ext cx="868916" cy="1147993"/>
          </a:xfrm>
          <a:prstGeom prst="roundRect">
            <a:avLst/>
          </a:prstGeom>
          <a:solidFill>
            <a:srgbClr val="F0DD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A54518"/>
                </a:solidFill>
              </a:rPr>
              <a:t>기타</a:t>
            </a:r>
            <a:endParaRPr lang="ko-Kore-KR" altLang="en-US" sz="1200" b="1">
              <a:solidFill>
                <a:srgbClr val="A54518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BC0DDA5B-89E9-534D-E7F6-F92C1DD2E75A}"/>
              </a:ext>
            </a:extLst>
          </p:cNvPr>
          <p:cNvSpPr/>
          <p:nvPr/>
        </p:nvSpPr>
        <p:spPr>
          <a:xfrm>
            <a:off x="6876899" y="4884833"/>
            <a:ext cx="868916" cy="705209"/>
          </a:xfrm>
          <a:prstGeom prst="roundRect">
            <a:avLst/>
          </a:prstGeom>
          <a:solidFill>
            <a:srgbClr val="E8D0E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sz="1200" b="1">
                <a:solidFill>
                  <a:srgbClr val="7A1F71"/>
                </a:solidFill>
              </a:rPr>
              <a:t>기타</a:t>
            </a:r>
            <a:endParaRPr lang="ko-Kore-KR" altLang="en-US" sz="1200" b="1">
              <a:solidFill>
                <a:srgbClr val="7A1F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49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AE5A79-57F5-64E7-07B1-128D01CA6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3D3E255F-26C2-6744-B6D8-CDD237018F20}"/>
              </a:ext>
            </a:extLst>
          </p:cNvPr>
          <p:cNvSpPr/>
          <p:nvPr/>
        </p:nvSpPr>
        <p:spPr>
          <a:xfrm>
            <a:off x="1338521" y="3869737"/>
            <a:ext cx="8153400" cy="2286000"/>
          </a:xfrm>
          <a:prstGeom prst="roundRect">
            <a:avLst>
              <a:gd name="adj" fmla="val 0"/>
            </a:avLst>
          </a:prstGeom>
          <a:solidFill>
            <a:srgbClr val="FDF3E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25000"/>
              </a:lnSpc>
            </a:pPr>
            <a:r>
              <a:rPr lang="ko-Kore-KR" altLang="en-US">
                <a:solidFill>
                  <a:srgbClr val="FDF3ED"/>
                </a:solidFill>
              </a:rPr>
              <a:t> </a:t>
            </a: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BFB2AD56-0F92-9643-80BD-4B5CA77CF05E}"/>
              </a:ext>
            </a:extLst>
          </p:cNvPr>
          <p:cNvSpPr/>
          <p:nvPr/>
        </p:nvSpPr>
        <p:spPr>
          <a:xfrm>
            <a:off x="1338521" y="1482137"/>
            <a:ext cx="8153400" cy="2286000"/>
          </a:xfrm>
          <a:prstGeom prst="roundRect">
            <a:avLst>
              <a:gd name="adj" fmla="val 0"/>
            </a:avLst>
          </a:prstGeom>
          <a:solidFill>
            <a:srgbClr val="ED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>
              <a:lnSpc>
                <a:spcPct val="125000"/>
              </a:lnSpc>
            </a:pPr>
            <a:r>
              <a:rPr lang="ko-Kore-KR" altLang="en-US">
                <a:solidFill>
                  <a:srgbClr val="EDF4F7"/>
                </a:solidFill>
              </a:rPr>
              <a:t> </a:t>
            </a:r>
          </a:p>
        </p:txBody>
      </p:sp>
      <p:sp>
        <p:nvSpPr>
          <p:cNvPr id="3" name="AccentBar">
            <a:extLst>
              <a:ext uri="{FF2B5EF4-FFF2-40B4-BE49-F238E27FC236}">
                <a16:creationId xmlns:a16="http://schemas.microsoft.com/office/drawing/2014/main" id="{58DACB9C-E983-0BDB-F2BD-472B6BCB1E2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498EA00F-DD6C-7AA2-0720-5F68093EC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28" y="0"/>
            <a:ext cx="10515600" cy="724075"/>
          </a:xfrm>
        </p:spPr>
        <p:txBody>
          <a:bodyPr>
            <a:normAutofit/>
          </a:bodyPr>
          <a:lstStyle/>
          <a:p>
            <a:r>
              <a:rPr lang="en-US" altLang="ko-KR" sz="3200" b="1">
                <a:solidFill>
                  <a:srgbClr val="FFFFFF"/>
                </a:solidFill>
                <a:ea typeface="맑은 고딕"/>
              </a:rPr>
              <a:t>[1] </a:t>
            </a:r>
            <a:r>
              <a:rPr lang="ko-KR" altLang="en-US" sz="3200" b="1">
                <a:solidFill>
                  <a:srgbClr val="FFFFFF"/>
                </a:solidFill>
                <a:ea typeface="맑은 고딕"/>
              </a:rPr>
              <a:t>프로젝트 범위 및 일정</a:t>
            </a:r>
            <a:endParaRPr lang="ko-KR" altLang="en-US" sz="3200" b="1">
              <a:solidFill>
                <a:srgbClr val="FFFFFF"/>
              </a:solidFill>
            </a:endParaRPr>
          </a:p>
        </p:txBody>
      </p:sp>
      <p:sp>
        <p:nvSpPr>
          <p:cNvPr id="5" name="BottomBar">
            <a:extLst>
              <a:ext uri="{FF2B5EF4-FFF2-40B4-BE49-F238E27FC236}">
                <a16:creationId xmlns:a16="http://schemas.microsoft.com/office/drawing/2014/main" id="{325E19A9-DEA6-DC3A-3FB3-30444264D3DF}"/>
              </a:ext>
            </a:extLst>
          </p:cNvPr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14287A-5D01-5D74-44DF-59EB100756FC}"/>
              </a:ext>
            </a:extLst>
          </p:cNvPr>
          <p:cNvSpPr txBox="1"/>
          <p:nvPr/>
        </p:nvSpPr>
        <p:spPr>
          <a:xfrm>
            <a:off x="6231297" y="146038"/>
            <a:ext cx="5781675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게임</a:t>
            </a:r>
            <a:r>
              <a:rPr lang="en-US" altLang="ko-KR" b="1">
                <a:solidFill>
                  <a:srgbClr val="FF0000"/>
                </a:solidFill>
                <a:ea typeface="맑은 고딕"/>
              </a:rPr>
              <a:t> Cell </a:t>
            </a:r>
            <a:r>
              <a:rPr lang="ko-KR" altLang="en-US" b="1">
                <a:solidFill>
                  <a:srgbClr val="FF0000"/>
                </a:solidFill>
                <a:ea typeface="맑은 고딕"/>
              </a:rPr>
              <a:t>수요일 논의 후 상품 상세 일정 </a:t>
            </a:r>
            <a:r>
              <a:rPr lang="ko-KR" altLang="en-US" b="1" err="1">
                <a:solidFill>
                  <a:srgbClr val="FF0000"/>
                </a:solidFill>
                <a:ea typeface="맑은 고딕"/>
              </a:rPr>
              <a:t>업뎃</a:t>
            </a:r>
            <a:r>
              <a:rPr lang="ko-KR" altLang="en-US" b="1">
                <a:solidFill>
                  <a:srgbClr val="FF0000"/>
                </a:solidFill>
                <a:ea typeface="맑은 고딕"/>
              </a:rPr>
              <a:t> 필요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7D1960E-8B9E-3B4D-AED6-DDF5BB0BFDF3}"/>
              </a:ext>
            </a:extLst>
          </p:cNvPr>
          <p:cNvSpPr/>
          <p:nvPr/>
        </p:nvSpPr>
        <p:spPr>
          <a:xfrm>
            <a:off x="1440121" y="866038"/>
            <a:ext cx="1955800" cy="533400"/>
          </a:xfrm>
          <a:prstGeom prst="roundRect">
            <a:avLst/>
          </a:prstGeom>
          <a:solidFill>
            <a:srgbClr val="0E4D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400" b="1">
                <a:solidFill>
                  <a:srgbClr val="FFFFFF"/>
                </a:solidFill>
              </a:rPr>
              <a:t>4</a:t>
            </a:r>
            <a:r>
              <a:rPr lang="ko-KR" altLang="en-US" sz="1400" b="1">
                <a:solidFill>
                  <a:srgbClr val="FFFFFF"/>
                </a:solidFill>
              </a:rPr>
              <a:t>월 기획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FB364A7B-1D54-EC46-96E7-289013F2789E}"/>
              </a:ext>
            </a:extLst>
          </p:cNvPr>
          <p:cNvSpPr/>
          <p:nvPr/>
        </p:nvSpPr>
        <p:spPr>
          <a:xfrm>
            <a:off x="3472121" y="866038"/>
            <a:ext cx="1955800" cy="533400"/>
          </a:xfrm>
          <a:prstGeom prst="roundRect">
            <a:avLst/>
          </a:prstGeom>
          <a:solidFill>
            <a:srgbClr val="0A7B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400" b="1">
                <a:solidFill>
                  <a:srgbClr val="FFFFFF"/>
                </a:solidFill>
              </a:rPr>
              <a:t>5</a:t>
            </a:r>
            <a:r>
              <a:rPr lang="ko-KR" altLang="en-US" sz="1400" b="1">
                <a:solidFill>
                  <a:srgbClr val="FFFFFF"/>
                </a:solidFill>
              </a:rPr>
              <a:t>월 개발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73C22017-CFED-9F40-97C8-C93F56A6F1FB}"/>
              </a:ext>
            </a:extLst>
          </p:cNvPr>
          <p:cNvSpPr/>
          <p:nvPr/>
        </p:nvSpPr>
        <p:spPr>
          <a:xfrm>
            <a:off x="5504121" y="866038"/>
            <a:ext cx="1955800" cy="533400"/>
          </a:xfrm>
          <a:prstGeom prst="roundRect">
            <a:avLst/>
          </a:prstGeom>
          <a:solidFill>
            <a:srgbClr val="8A3A1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400" b="1">
                <a:solidFill>
                  <a:srgbClr val="FFFFFF"/>
                </a:solidFill>
              </a:rPr>
              <a:t>6</a:t>
            </a:r>
            <a:r>
              <a:rPr lang="ko-KR" altLang="en-US" sz="1400" b="1">
                <a:solidFill>
                  <a:srgbClr val="FFFFFF"/>
                </a:solidFill>
              </a:rPr>
              <a:t>월 베타 서비스 오픈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717C1FCC-793B-FA42-9845-83174687A52D}"/>
              </a:ext>
            </a:extLst>
          </p:cNvPr>
          <p:cNvSpPr/>
          <p:nvPr/>
        </p:nvSpPr>
        <p:spPr>
          <a:xfrm>
            <a:off x="7536121" y="866038"/>
            <a:ext cx="1955800" cy="533400"/>
          </a:xfrm>
          <a:prstGeom prst="roundRect">
            <a:avLst/>
          </a:prstGeom>
          <a:solidFill>
            <a:srgbClr val="11521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400" b="1">
                <a:solidFill>
                  <a:srgbClr val="FFFFFF"/>
                </a:solidFill>
              </a:rPr>
              <a:t>7,</a:t>
            </a:r>
            <a:r>
              <a:rPr lang="ko-KR" altLang="en-US" sz="1400" b="1">
                <a:solidFill>
                  <a:srgbClr val="FFFFFF"/>
                </a:solidFill>
              </a:rPr>
              <a:t> </a:t>
            </a:r>
            <a:r>
              <a:rPr lang="en-US" altLang="ko-KR" sz="1400" b="1">
                <a:solidFill>
                  <a:srgbClr val="FFFFFF"/>
                </a:solidFill>
              </a:rPr>
              <a:t>8</a:t>
            </a:r>
            <a:r>
              <a:rPr lang="ko-KR" altLang="en-US" sz="1400" b="1">
                <a:solidFill>
                  <a:srgbClr val="FFFFFF"/>
                </a:solidFill>
              </a:rPr>
              <a:t>월 고도화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F9B69AEE-02C7-BD4F-B741-7D36C782A0B3}"/>
              </a:ext>
            </a:extLst>
          </p:cNvPr>
          <p:cNvSpPr/>
          <p:nvPr/>
        </p:nvSpPr>
        <p:spPr>
          <a:xfrm>
            <a:off x="9568121" y="866038"/>
            <a:ext cx="1955800" cy="533400"/>
          </a:xfrm>
          <a:prstGeom prst="roundRect">
            <a:avLst/>
          </a:prstGeom>
          <a:solidFill>
            <a:srgbClr val="7A1F71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ko-KR" sz="1400" b="1">
                <a:solidFill>
                  <a:srgbClr val="FFFFFF"/>
                </a:solidFill>
              </a:rPr>
              <a:t>9</a:t>
            </a:r>
            <a:r>
              <a:rPr lang="ko-KR" altLang="en-US" sz="1400" b="1">
                <a:solidFill>
                  <a:srgbClr val="FFFFFF"/>
                </a:solidFill>
              </a:rPr>
              <a:t>월 정식 서비스 오픈</a:t>
            </a:r>
            <a:endParaRPr lang="ko-Kore-KR" altLang="en-US" sz="1400" b="1">
              <a:solidFill>
                <a:srgbClr val="FFFFFF"/>
              </a:solidFill>
            </a:endParaRPr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8D983DA-C842-C547-AA62-BCA29382A742}"/>
              </a:ext>
            </a:extLst>
          </p:cNvPr>
          <p:cNvSpPr/>
          <p:nvPr/>
        </p:nvSpPr>
        <p:spPr>
          <a:xfrm>
            <a:off x="449521" y="1482137"/>
            <a:ext cx="787400" cy="2286000"/>
          </a:xfrm>
          <a:prstGeom prst="roundRect">
            <a:avLst/>
          </a:prstGeom>
          <a:solidFill>
            <a:srgbClr val="D6E8F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400" b="1">
                <a:solidFill>
                  <a:srgbClr val="0E4D6B"/>
                </a:solidFill>
              </a:rPr>
              <a:t>문항
구축</a:t>
            </a:r>
            <a:endParaRPr lang="ko-Kore-KR" altLang="en-US" sz="1400" b="1">
              <a:solidFill>
                <a:srgbClr val="0E4D6B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A709A48D-61B0-1245-8EE7-38C9811AABE5}"/>
              </a:ext>
            </a:extLst>
          </p:cNvPr>
          <p:cNvSpPr/>
          <p:nvPr/>
        </p:nvSpPr>
        <p:spPr>
          <a:xfrm>
            <a:off x="449521" y="3869737"/>
            <a:ext cx="787400" cy="2286000"/>
          </a:xfrm>
          <a:prstGeom prst="roundRect">
            <a:avLst/>
          </a:prstGeom>
          <a:solidFill>
            <a:srgbClr val="F0DDD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400" b="1">
                <a:solidFill>
                  <a:srgbClr val="A54518"/>
                </a:solidFill>
              </a:rPr>
              <a:t>게임
구축</a:t>
            </a:r>
            <a:endParaRPr lang="ko-Kore-KR" altLang="en-US" sz="1400" b="1">
              <a:solidFill>
                <a:srgbClr val="A54518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44571810-40A7-0D49-B901-9FCBCBE21337}"/>
              </a:ext>
            </a:extLst>
          </p:cNvPr>
          <p:cNvSpPr/>
          <p:nvPr/>
        </p:nvSpPr>
        <p:spPr>
          <a:xfrm>
            <a:off x="1440121" y="1532937"/>
            <a:ext cx="3962400" cy="2184400"/>
          </a:xfrm>
          <a:prstGeom prst="roundRect">
            <a:avLst>
              <a:gd name="adj" fmla="val 9366"/>
            </a:avLst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0E4D6B"/>
                </a:solidFill>
              </a:rPr>
              <a:t>문항 풀 확보</a:t>
            </a:r>
            <a:endParaRPr lang="en-US" altLang="ko-KR" sz="1300" b="1">
              <a:solidFill>
                <a:srgbClr val="0E4D6B"/>
              </a:solidFill>
            </a:endParaRPr>
          </a:p>
          <a:p>
            <a:pPr>
              <a:lnSpc>
                <a:spcPct val="125000"/>
              </a:lnSpc>
              <a:spcAft>
                <a:spcPts val="200"/>
              </a:spcAft>
              <a:buNone/>
            </a:pPr>
            <a:endParaRPr lang="ko-KR" altLang="en-US" sz="1300" b="1">
              <a:solidFill>
                <a:srgbClr val="0E4D6B"/>
              </a:solidFill>
            </a:endParaRPr>
          </a:p>
          <a:p>
            <a:pPr marL="171450" indent="-171450">
              <a:lnSpc>
                <a:spcPct val="125000"/>
              </a:lnSpc>
              <a:spcBef>
                <a:spcPts val="100"/>
              </a:spcBef>
              <a:buFont typeface="Arial"/>
              <a:buChar char="•"/>
            </a:pPr>
            <a:r>
              <a:rPr lang="ko-KR" altLang="en-US" sz="1200">
                <a:solidFill>
                  <a:srgbClr val="444444"/>
                </a:solidFill>
              </a:rPr>
              <a:t>CBS 문항 (A안)</a:t>
            </a:r>
          </a:p>
          <a:p>
            <a:pPr marL="171450" indent="-171450">
              <a:lnSpc>
                <a:spcPct val="125000"/>
              </a:lnSpc>
              <a:spcBef>
                <a:spcPts val="100"/>
              </a:spcBef>
              <a:buFont typeface="Arial"/>
              <a:buChar char="•"/>
            </a:pPr>
            <a:r>
              <a:rPr lang="ko-KR" altLang="en-US" sz="1200">
                <a:solidFill>
                  <a:srgbClr val="444444"/>
                </a:solidFill>
              </a:rPr>
              <a:t>공부력 문항 (B안)</a:t>
            </a: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9FE73199-C2AC-1748-98D2-09F9467E1B85}"/>
              </a:ext>
            </a:extLst>
          </p:cNvPr>
          <p:cNvSpPr/>
          <p:nvPr/>
        </p:nvSpPr>
        <p:spPr>
          <a:xfrm>
            <a:off x="5504121" y="1532937"/>
            <a:ext cx="1854200" cy="2184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C45A1E"/>
                </a:solidFill>
              </a:rPr>
              <a:t>사용자 테스트</a:t>
            </a:r>
            <a:endParaRPr lang="en-US" altLang="ko-KR" sz="1300" b="1">
              <a:solidFill>
                <a:srgbClr val="C45A1E"/>
              </a:solidFill>
            </a:endParaRPr>
          </a:p>
          <a:p>
            <a:pPr>
              <a:lnSpc>
                <a:spcPct val="125000"/>
              </a:lnSpc>
              <a:spcAft>
                <a:spcPts val="200"/>
              </a:spcAft>
              <a:buNone/>
            </a:pPr>
            <a:endParaRPr lang="ko-KR" altLang="en-US" sz="1300" b="1">
              <a:solidFill>
                <a:srgbClr val="C45A1E"/>
              </a:solidFill>
            </a:endParaRPr>
          </a:p>
          <a:p>
            <a:pPr marL="171450" indent="-171450">
              <a:lnSpc>
                <a:spcPct val="125000"/>
              </a:lnSpc>
              <a:spcBef>
                <a:spcPts val="100"/>
              </a:spcBef>
              <a:buFont typeface="Arial"/>
              <a:buChar char="•"/>
            </a:pPr>
            <a:r>
              <a:rPr lang="ko-KR" altLang="en-US" sz="1200">
                <a:solidFill>
                  <a:srgbClr val="444444"/>
                </a:solidFill>
              </a:rPr>
              <a:t>사용성 검증</a:t>
            </a:r>
            <a:endParaRPr lang="en-US" altLang="ko-KR" sz="1200">
              <a:solidFill>
                <a:srgbClr val="444444"/>
              </a:solidFill>
            </a:endParaRPr>
          </a:p>
          <a:p>
            <a:pPr marL="171450" indent="-171450">
              <a:lnSpc>
                <a:spcPct val="125000"/>
              </a:lnSpc>
              <a:spcBef>
                <a:spcPts val="100"/>
              </a:spcBef>
              <a:buFont typeface="Arial"/>
              <a:buChar char="•"/>
            </a:pPr>
            <a:r>
              <a:rPr lang="ko-KR" altLang="en-US" sz="1200">
                <a:solidFill>
                  <a:srgbClr val="444444"/>
                </a:solidFill>
              </a:rPr>
              <a:t>기타 의견 수렴</a:t>
            </a: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B8B1CAF1-2F92-B648-9284-65579DBA5DAD}"/>
              </a:ext>
            </a:extLst>
          </p:cNvPr>
          <p:cNvSpPr/>
          <p:nvPr/>
        </p:nvSpPr>
        <p:spPr>
          <a:xfrm>
            <a:off x="7536121" y="1532937"/>
            <a:ext cx="1854200" cy="2184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  <a:buNone/>
            </a:pPr>
            <a:r>
              <a:rPr lang="ko-KR" altLang="en-US" sz="1300" b="1">
                <a:solidFill>
                  <a:srgbClr val="115218"/>
                </a:solidFill>
              </a:rPr>
              <a:t>문항 풀 확장</a:t>
            </a:r>
            <a:endParaRPr lang="en-US" altLang="ko-KR" sz="1300" b="1">
              <a:solidFill>
                <a:srgbClr val="115218"/>
              </a:solidFill>
            </a:endParaRPr>
          </a:p>
          <a:p>
            <a:pPr>
              <a:lnSpc>
                <a:spcPct val="125000"/>
              </a:lnSpc>
              <a:spcAft>
                <a:spcPts val="200"/>
              </a:spcAft>
              <a:buNone/>
            </a:pPr>
            <a:endParaRPr lang="ko-KR" altLang="en-US" sz="1300" b="1">
              <a:solidFill>
                <a:srgbClr val="115218"/>
              </a:solidFill>
            </a:endParaRPr>
          </a:p>
          <a:p>
            <a:pPr marL="171450" indent="-171450">
              <a:lnSpc>
                <a:spcPct val="125000"/>
              </a:lnSpc>
              <a:spcBef>
                <a:spcPts val="100"/>
              </a:spcBef>
              <a:buFont typeface="Arial"/>
              <a:buChar char="•"/>
            </a:pPr>
            <a:r>
              <a:rPr lang="ko-KR" altLang="en-US" sz="1200">
                <a:solidFill>
                  <a:srgbClr val="444444"/>
                </a:solidFill>
              </a:rPr>
              <a:t>이외 전과목 문항 (C안, D안)</a:t>
            </a: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F984A7EF-0985-5043-AE28-B7CFB44A9C25}"/>
              </a:ext>
            </a:extLst>
          </p:cNvPr>
          <p:cNvSpPr/>
          <p:nvPr/>
        </p:nvSpPr>
        <p:spPr>
          <a:xfrm>
            <a:off x="1440121" y="3920537"/>
            <a:ext cx="1854200" cy="2184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>
              <a:lnSpc>
                <a:spcPct val="125000"/>
              </a:lnSpc>
              <a:spcAft>
                <a:spcPts val="200"/>
              </a:spcAft>
            </a:pPr>
            <a:r>
              <a:rPr lang="ko-KR" altLang="en-US" sz="1300" b="1">
                <a:solidFill>
                  <a:srgbClr val="0E4D6B"/>
                </a:solidFill>
              </a:rPr>
              <a:t>메인 플로우 </a:t>
            </a:r>
            <a:endParaRPr lang="en-US" altLang="ko-KR" sz="1300" b="1">
              <a:solidFill>
                <a:srgbClr val="0E4D6B"/>
              </a:solidFill>
            </a:endParaRPr>
          </a:p>
          <a:p>
            <a:pPr algn="l">
              <a:lnSpc>
                <a:spcPct val="125000"/>
              </a:lnSpc>
            </a:pPr>
            <a:r>
              <a:rPr lang="ko-KR" altLang="en-US" sz="1400">
                <a:solidFill>
                  <a:srgbClr val="444444"/>
                </a:solidFill>
              </a:rPr>
              <a:t>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기획</a:t>
            </a:r>
            <a:r>
              <a:rPr lang="en-US" altLang="ko-KR" sz="1200">
                <a:solidFill>
                  <a:srgbClr val="444444"/>
                </a:solidFill>
              </a:rPr>
              <a:t>, </a:t>
            </a:r>
            <a:r>
              <a:rPr lang="ko-KR" altLang="en-US" sz="1200">
                <a:solidFill>
                  <a:srgbClr val="444444"/>
                </a:solidFill>
              </a:rPr>
              <a:t>디자인</a:t>
            </a:r>
            <a:r>
              <a:rPr lang="en-US" altLang="ko-KR" sz="1200">
                <a:solidFill>
                  <a:srgbClr val="444444"/>
                </a:solidFill>
              </a:rPr>
              <a:t>, </a:t>
            </a:r>
            <a:r>
              <a:rPr lang="ko-KR" altLang="en-US" sz="1200" err="1">
                <a:solidFill>
                  <a:srgbClr val="444444"/>
                </a:solidFill>
              </a:rPr>
              <a:t>퍼블</a:t>
            </a:r>
            <a:r>
              <a:rPr lang="ko-KR" altLang="en-US" sz="1200">
                <a:solidFill>
                  <a:srgbClr val="444444"/>
                </a:solidFill>
              </a:rPr>
              <a:t>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구조 개발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기능 구현</a:t>
            </a:r>
            <a:endParaRPr lang="ko-Kore-KR" altLang="en-US" sz="1400">
              <a:solidFill>
                <a:srgbClr val="444444"/>
              </a:solidFill>
            </a:endParaRPr>
          </a:p>
        </p:txBody>
      </p:sp>
      <p:sp>
        <p:nvSpPr>
          <p:cNvPr id="28" name="모서리가 둥근 직사각형 27">
            <a:extLst>
              <a:ext uri="{FF2B5EF4-FFF2-40B4-BE49-F238E27FC236}">
                <a16:creationId xmlns:a16="http://schemas.microsoft.com/office/drawing/2014/main" id="{08E17CC9-38AD-5944-AB18-FA0302707102}"/>
              </a:ext>
            </a:extLst>
          </p:cNvPr>
          <p:cNvSpPr/>
          <p:nvPr/>
        </p:nvSpPr>
        <p:spPr>
          <a:xfrm>
            <a:off x="3472121" y="3920537"/>
            <a:ext cx="1854200" cy="2184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" altLang="ko-Kore-KR" sz="1300" b="1">
                <a:solidFill>
                  <a:srgbClr val="0E4D6B"/>
                </a:solidFill>
              </a:rPr>
              <a:t>MVP </a:t>
            </a:r>
            <a:r>
              <a:rPr lang="ko-KR" altLang="en-US" sz="1300" b="1">
                <a:solidFill>
                  <a:srgbClr val="0E4D6B"/>
                </a:solidFill>
              </a:rPr>
              <a:t>개발</a:t>
            </a:r>
            <a:r>
              <a:rPr lang="ko-KR" altLang="en-US" sz="1400">
                <a:solidFill>
                  <a:srgbClr val="444444"/>
                </a:solidFill>
              </a:rPr>
              <a:t>
</a:t>
            </a:r>
            <a:endParaRPr lang="en-US" altLang="ko-KR" sz="1400">
              <a:solidFill>
                <a:srgbClr val="444444"/>
              </a:solidFill>
            </a:endParaRPr>
          </a:p>
          <a:p>
            <a:pPr algn="l">
              <a:lnSpc>
                <a:spcPct val="125000"/>
              </a:lnSpc>
            </a:pP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통합 테스트 검수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en" altLang="ko-Kore-KR" sz="1200">
                <a:solidFill>
                  <a:srgbClr val="444444"/>
                </a:solidFill>
              </a:rPr>
              <a:t>SSO </a:t>
            </a:r>
            <a:r>
              <a:rPr lang="ko-KR" altLang="en-US" sz="1200">
                <a:solidFill>
                  <a:srgbClr val="444444"/>
                </a:solidFill>
              </a:rPr>
              <a:t>연동 검수</a:t>
            </a:r>
            <a:endParaRPr lang="ko-Kore-KR" altLang="en-US" sz="1200">
              <a:solidFill>
                <a:srgbClr val="444444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40C3F0FF-3A20-B243-AEC7-A7D065E6DD61}"/>
              </a:ext>
            </a:extLst>
          </p:cNvPr>
          <p:cNvSpPr/>
          <p:nvPr/>
        </p:nvSpPr>
        <p:spPr>
          <a:xfrm>
            <a:off x="5504121" y="3920537"/>
            <a:ext cx="1854200" cy="2184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en" altLang="ko-Kore-KR" sz="1300" b="1">
                <a:solidFill>
                  <a:srgbClr val="C45A1E"/>
                </a:solidFill>
              </a:rPr>
              <a:t>MVP </a:t>
            </a:r>
            <a:r>
              <a:rPr lang="ko-KR" altLang="en-US" sz="1300" b="1">
                <a:solidFill>
                  <a:srgbClr val="C45A1E"/>
                </a:solidFill>
              </a:rPr>
              <a:t>론칭</a:t>
            </a:r>
            <a:endParaRPr lang="en-US" altLang="ko-KR" sz="1300" b="1">
              <a:solidFill>
                <a:srgbClr val="C45A1E"/>
              </a:solidFill>
            </a:endParaRPr>
          </a:p>
          <a:p>
            <a:pPr algn="l">
              <a:lnSpc>
                <a:spcPct val="125000"/>
              </a:lnSpc>
            </a:pPr>
            <a:r>
              <a:rPr lang="ko-KR" altLang="en-US" sz="1400">
                <a:solidFill>
                  <a:srgbClr val="444444"/>
                </a:solidFill>
              </a:rPr>
              <a:t>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수업용</a:t>
            </a:r>
            <a:r>
              <a:rPr lang="en-US" altLang="ko-KR" sz="1200">
                <a:solidFill>
                  <a:srgbClr val="444444"/>
                </a:solidFill>
              </a:rPr>
              <a:t>/</a:t>
            </a:r>
            <a:r>
              <a:rPr lang="ko-KR" altLang="en-US" sz="1200">
                <a:solidFill>
                  <a:srgbClr val="444444"/>
                </a:solidFill>
              </a:rPr>
              <a:t>복습용 론칭</a:t>
            </a:r>
            <a:endParaRPr lang="ko-Kore-KR" altLang="en-US" sz="1400">
              <a:solidFill>
                <a:srgbClr val="444444"/>
              </a:solidFill>
            </a:endParaRPr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40E7DE31-5058-B340-804D-DF597C804638}"/>
              </a:ext>
            </a:extLst>
          </p:cNvPr>
          <p:cNvSpPr/>
          <p:nvPr/>
        </p:nvSpPr>
        <p:spPr>
          <a:xfrm>
            <a:off x="7536121" y="3920537"/>
            <a:ext cx="1854200" cy="2184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b="1">
                <a:solidFill>
                  <a:srgbClr val="115218"/>
                </a:solidFill>
              </a:rPr>
              <a:t>기능 추가</a:t>
            </a:r>
            <a:endParaRPr lang="en-US" altLang="ko-KR" sz="1300" b="1">
              <a:solidFill>
                <a:srgbClr val="115218"/>
              </a:solidFill>
            </a:endParaRPr>
          </a:p>
          <a:p>
            <a:pPr algn="l">
              <a:lnSpc>
                <a:spcPct val="125000"/>
              </a:lnSpc>
            </a:pPr>
            <a:r>
              <a:rPr lang="ko-KR" altLang="en-US" sz="1400">
                <a:solidFill>
                  <a:srgbClr val="444444"/>
                </a:solidFill>
              </a:rPr>
              <a:t>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리포트</a:t>
            </a:r>
            <a:r>
              <a:rPr lang="en-US" altLang="ko-KR" sz="1200">
                <a:solidFill>
                  <a:srgbClr val="444444"/>
                </a:solidFill>
              </a:rPr>
              <a:t>, </a:t>
            </a:r>
            <a:r>
              <a:rPr lang="ko-KR" altLang="en-US" sz="1200">
                <a:solidFill>
                  <a:srgbClr val="444444"/>
                </a:solidFill>
              </a:rPr>
              <a:t>리워드 등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en" altLang="ko-Kore-KR" sz="1200">
                <a:solidFill>
                  <a:srgbClr val="444444"/>
                </a:solidFill>
              </a:rPr>
              <a:t>LMS </a:t>
            </a:r>
            <a:r>
              <a:rPr lang="ko-KR" altLang="en-US" sz="1200">
                <a:solidFill>
                  <a:srgbClr val="444444"/>
                </a:solidFill>
              </a:rPr>
              <a:t>전반 구축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통합 테스트 검수</a:t>
            </a:r>
            <a:endParaRPr lang="ko-Kore-KR" altLang="en-US" sz="1400">
              <a:solidFill>
                <a:srgbClr val="444444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531560B6-B938-3640-B9E1-DE6F86A9C0B4}"/>
              </a:ext>
            </a:extLst>
          </p:cNvPr>
          <p:cNvSpPr/>
          <p:nvPr/>
        </p:nvSpPr>
        <p:spPr>
          <a:xfrm>
            <a:off x="9593521" y="1532937"/>
            <a:ext cx="1930400" cy="4572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DDDD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>
              <a:lnSpc>
                <a:spcPct val="125000"/>
              </a:lnSpc>
            </a:pPr>
            <a:r>
              <a:rPr lang="ko-KR" altLang="en-US" sz="1300" b="1">
                <a:solidFill>
                  <a:schemeClr val="accent5"/>
                </a:solidFill>
              </a:rPr>
              <a:t>서비스 정식 론칭</a:t>
            </a:r>
            <a:endParaRPr lang="en-US" altLang="ko-KR" sz="1300" b="1">
              <a:solidFill>
                <a:schemeClr val="accent5"/>
              </a:solidFill>
            </a:endParaRPr>
          </a:p>
          <a:p>
            <a:pPr algn="l">
              <a:lnSpc>
                <a:spcPct val="125000"/>
              </a:lnSpc>
            </a:pPr>
            <a:r>
              <a:rPr lang="ko-KR" altLang="en-US" sz="1400">
                <a:solidFill>
                  <a:srgbClr val="444444"/>
                </a:solidFill>
              </a:rPr>
              <a:t>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전 과목</a:t>
            </a:r>
            <a:r>
              <a:rPr lang="en-US" altLang="ko-KR" sz="1200">
                <a:solidFill>
                  <a:srgbClr val="444444"/>
                </a:solidFill>
              </a:rPr>
              <a:t>/</a:t>
            </a:r>
            <a:r>
              <a:rPr lang="ko-KR" altLang="en-US" sz="1200">
                <a:solidFill>
                  <a:srgbClr val="444444"/>
                </a:solidFill>
              </a:rPr>
              <a:t>전 기능
</a:t>
            </a:r>
            <a:r>
              <a:rPr lang="en-US" altLang="ko-KR" sz="1200">
                <a:solidFill>
                  <a:srgbClr val="444444"/>
                </a:solidFill>
              </a:rPr>
              <a:t>• </a:t>
            </a:r>
            <a:r>
              <a:rPr lang="ko-KR" altLang="en-US" sz="1200">
                <a:solidFill>
                  <a:srgbClr val="444444"/>
                </a:solidFill>
              </a:rPr>
              <a:t>풀 패키지 론칭</a:t>
            </a:r>
            <a:endParaRPr lang="ko-Kore-KR" altLang="en-US" sz="1200">
              <a:solidFill>
                <a:srgbClr val="444444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3FD343B-BE80-5C10-43C6-5DDED9DD2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917" y="866038"/>
            <a:ext cx="7553325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577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DD536-876F-F78C-1A93-838263789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" name="AccentBar"/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2" name="BottomBar"/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E613A2-89EE-6350-4148-7BBD5C8DDF18}"/>
              </a:ext>
            </a:extLst>
          </p:cNvPr>
          <p:cNvSpPr txBox="1"/>
          <p:nvPr/>
        </p:nvSpPr>
        <p:spPr>
          <a:xfrm>
            <a:off x="2068285" y="1150614"/>
            <a:ext cx="7829864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>
                <a:highlight>
                  <a:srgbClr val="FFFF00"/>
                </a:highlight>
              </a:rPr>
              <a:t>A</a:t>
            </a:r>
            <a:r>
              <a:rPr lang="ko-KR" altLang="en-US" sz="1600">
                <a:highlight>
                  <a:srgbClr val="FFFF00"/>
                </a:highlight>
              </a:rPr>
              <a:t>안</a:t>
            </a:r>
            <a:r>
              <a:rPr lang="en-US" altLang="ko-KR" sz="1600">
                <a:highlight>
                  <a:srgbClr val="FFFF00"/>
                </a:highlight>
              </a:rPr>
              <a:t>: AIDT, </a:t>
            </a:r>
            <a:r>
              <a:rPr lang="ko-KR" altLang="en-US" sz="1600" err="1">
                <a:highlight>
                  <a:srgbClr val="FFFF00"/>
                </a:highlight>
              </a:rPr>
              <a:t>비바샘</a:t>
            </a:r>
            <a:r>
              <a:rPr lang="ko-KR" altLang="en-US" sz="1600">
                <a:highlight>
                  <a:srgbClr val="FFFF00"/>
                </a:highlight>
              </a:rPr>
              <a:t> 등 기존 </a:t>
            </a:r>
            <a:r>
              <a:rPr lang="en-US" altLang="ko-KR" sz="1600">
                <a:highlight>
                  <a:srgbClr val="FFFF00"/>
                </a:highlight>
              </a:rPr>
              <a:t>CBS </a:t>
            </a:r>
            <a:r>
              <a:rPr lang="ko-KR" altLang="en-US" sz="1600">
                <a:highlight>
                  <a:srgbClr val="FFFF00"/>
                </a:highlight>
              </a:rPr>
              <a:t>문항 활용</a:t>
            </a:r>
            <a:endParaRPr lang="en-US" altLang="ko-KR" sz="1600">
              <a:highlight>
                <a:srgbClr val="FFFF00"/>
              </a:highlight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848EC25-52F2-BADD-B803-44F3346C1115}"/>
              </a:ext>
            </a:extLst>
          </p:cNvPr>
          <p:cNvSpPr/>
          <p:nvPr/>
        </p:nvSpPr>
        <p:spPr>
          <a:xfrm>
            <a:off x="542380" y="1190665"/>
            <a:ext cx="1434466" cy="33392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rgbClr val="FF7A00"/>
          </a:fillRef>
          <a:effectRef idx="0">
            <a:srgbClr val="FF7A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우선순위 진행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AA6412B9-0039-5CFC-E721-D7E3D5F5C0C6}"/>
              </a:ext>
            </a:extLst>
          </p:cNvPr>
          <p:cNvSpPr txBox="1">
            <a:spLocks/>
          </p:cNvSpPr>
          <p:nvPr/>
        </p:nvSpPr>
        <p:spPr>
          <a:xfrm>
            <a:off x="179028" y="1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solidFill>
                  <a:srgbClr val="FFFFFF"/>
                </a:solidFill>
              </a:rPr>
              <a:t>[2] </a:t>
            </a:r>
            <a:r>
              <a:rPr lang="ko-KR" altLang="en-US" sz="3200" b="1">
                <a:solidFill>
                  <a:srgbClr val="FFFFFF"/>
                </a:solidFill>
              </a:rPr>
              <a:t>문항 콘텐츠 기획안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13E1086-1801-1AE9-BC20-6A0A47713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128872"/>
              </p:ext>
            </p:extLst>
          </p:nvPr>
        </p:nvGraphicFramePr>
        <p:xfrm>
          <a:off x="542380" y="1709377"/>
          <a:ext cx="7582718" cy="3870510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234168">
                  <a:extLst>
                    <a:ext uri="{9D8B030D-6E8A-4147-A177-3AD203B41FA5}">
                      <a16:colId xmlns:a16="http://schemas.microsoft.com/office/drawing/2014/main" val="3110142930"/>
                    </a:ext>
                  </a:extLst>
                </a:gridCol>
                <a:gridCol w="2793531">
                  <a:extLst>
                    <a:ext uri="{9D8B030D-6E8A-4147-A177-3AD203B41FA5}">
                      <a16:colId xmlns:a16="http://schemas.microsoft.com/office/drawing/2014/main" val="3605716420"/>
                    </a:ext>
                  </a:extLst>
                </a:gridCol>
                <a:gridCol w="3555019">
                  <a:extLst>
                    <a:ext uri="{9D8B030D-6E8A-4147-A177-3AD203B41FA5}">
                      <a16:colId xmlns:a16="http://schemas.microsoft.com/office/drawing/2014/main" val="554120636"/>
                    </a:ext>
                  </a:extLst>
                </a:gridCol>
              </a:tblGrid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타겟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전 학년 교과서별 문항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547524"/>
                  </a:ext>
                </a:extLst>
              </a:tr>
              <a:tr h="54602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진행 현황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CBS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 문항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(CBS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기획운영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Cell)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게임 템플릿 변환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차 검토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(4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월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주차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30556"/>
                  </a:ext>
                </a:extLst>
              </a:tr>
              <a:tr h="5460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일반 문항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(CBS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기획운영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Cell)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게임 문항 </a:t>
                      </a:r>
                      <a:r>
                        <a:rPr lang="ko-KR" altLang="en-US" sz="1100" b="0" dirty="0" err="1">
                          <a:solidFill>
                            <a:sysClr val="windowText" lastClr="000000"/>
                          </a:solidFill>
                        </a:rPr>
                        <a:t>컨버팅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(4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월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주차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1933026"/>
                  </a:ext>
                </a:extLst>
              </a:tr>
              <a:tr h="5460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문항 검수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 (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전략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Cell)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예정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(4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월 말까지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024392"/>
                  </a:ext>
                </a:extLst>
              </a:tr>
              <a:tr h="54602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잔여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게임 내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지 선다 템플릿 유형 추가</a:t>
                      </a:r>
                      <a:endParaRPr lang="en-US" altLang="ko-KR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</a:rPr>
                        <a:t>일정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1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567074"/>
                  </a:ext>
                </a:extLst>
              </a:tr>
              <a:tr h="5460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AI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로 문항 검수 전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차 필터링 가능 여부 확인 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ysClr val="windowText" lastClr="000000"/>
                          </a:solidFill>
                        </a:rPr>
                        <a:t>기술연구소</a:t>
                      </a:r>
                      <a:r>
                        <a:rPr lang="en-US" altLang="ko-KR" sz="1100" b="0" dirty="0">
                          <a:solidFill>
                            <a:sysClr val="windowText" lastClr="000000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endParaRPr lang="ko-KR" altLang="en-US" sz="11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>
                          <a:solidFill>
                            <a:srgbClr val="FF0000"/>
                          </a:solidFill>
                        </a:rPr>
                        <a:t>일정</a:t>
                      </a:r>
                      <a:r>
                        <a:rPr lang="en-US" altLang="ko-KR" sz="110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1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683754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이슈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승민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CP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님 적어주세요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~!</a:t>
                      </a:r>
                    </a:p>
                    <a:p>
                      <a:pPr algn="ctr" latinLnBrk="1"/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위에 보완할 사항도 추가해요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033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3951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B12D-0D03-8584-0C54-8EE871B3B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" name="AccentBar">
            <a:extLst>
              <a:ext uri="{FF2B5EF4-FFF2-40B4-BE49-F238E27FC236}">
                <a16:creationId xmlns:a16="http://schemas.microsoft.com/office/drawing/2014/main" id="{312C7CE0-FB39-37B1-B18D-5A17DC1A07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2" name="BottomBar">
            <a:extLst>
              <a:ext uri="{FF2B5EF4-FFF2-40B4-BE49-F238E27FC236}">
                <a16:creationId xmlns:a16="http://schemas.microsoft.com/office/drawing/2014/main" id="{4676886F-F3BA-9E2A-386F-CB7AC35AEF80}"/>
              </a:ext>
            </a:extLst>
          </p:cNvPr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00C8F3-6381-2B71-9FBC-9F42BEA2255F}"/>
              </a:ext>
            </a:extLst>
          </p:cNvPr>
          <p:cNvSpPr txBox="1"/>
          <p:nvPr/>
        </p:nvSpPr>
        <p:spPr>
          <a:xfrm>
            <a:off x="2094411" y="1213295"/>
            <a:ext cx="782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highlight>
                  <a:srgbClr val="FFFF00"/>
                </a:highlight>
              </a:rPr>
              <a:t>B</a:t>
            </a:r>
            <a:r>
              <a:rPr lang="ko-KR" altLang="en-US" sz="1600">
                <a:highlight>
                  <a:srgbClr val="FFFF00"/>
                </a:highlight>
              </a:rPr>
              <a:t>안</a:t>
            </a:r>
            <a:r>
              <a:rPr lang="en-US" altLang="ko-KR" sz="1600">
                <a:highlight>
                  <a:srgbClr val="FFFF00"/>
                </a:highlight>
              </a:rPr>
              <a:t>: </a:t>
            </a:r>
            <a:r>
              <a:rPr lang="ko-KR" altLang="en-US" sz="1600" err="1">
                <a:highlight>
                  <a:srgbClr val="FFFF00"/>
                </a:highlight>
              </a:rPr>
              <a:t>공부력</a:t>
            </a:r>
            <a:r>
              <a:rPr lang="ko-KR" altLang="en-US" sz="1600">
                <a:highlight>
                  <a:srgbClr val="FFFF00"/>
                </a:highlight>
              </a:rPr>
              <a:t> 문항 활용</a:t>
            </a:r>
            <a:endParaRPr lang="en-US" altLang="ko-KR" sz="1600">
              <a:highlight>
                <a:srgbClr val="FFFF00"/>
              </a:highlight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9854273-98DC-1EBB-7C3F-FD3D901C25FA}"/>
              </a:ext>
            </a:extLst>
          </p:cNvPr>
          <p:cNvSpPr/>
          <p:nvPr/>
        </p:nvSpPr>
        <p:spPr>
          <a:xfrm>
            <a:off x="542380" y="1190665"/>
            <a:ext cx="1434466" cy="333923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rgbClr val="FF7A00"/>
          </a:fillRef>
          <a:effectRef idx="0">
            <a:srgbClr val="FF7A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우선순위 진행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71872D0-3A2E-B350-2588-653EEC997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926619"/>
              </p:ext>
            </p:extLst>
          </p:nvPr>
        </p:nvGraphicFramePr>
        <p:xfrm>
          <a:off x="542380" y="1709377"/>
          <a:ext cx="7582718" cy="3659765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234168">
                  <a:extLst>
                    <a:ext uri="{9D8B030D-6E8A-4147-A177-3AD203B41FA5}">
                      <a16:colId xmlns:a16="http://schemas.microsoft.com/office/drawing/2014/main" val="3110142930"/>
                    </a:ext>
                  </a:extLst>
                </a:gridCol>
                <a:gridCol w="3174275">
                  <a:extLst>
                    <a:ext uri="{9D8B030D-6E8A-4147-A177-3AD203B41FA5}">
                      <a16:colId xmlns:a16="http://schemas.microsoft.com/office/drawing/2014/main" val="3605716420"/>
                    </a:ext>
                  </a:extLst>
                </a:gridCol>
                <a:gridCol w="3174275">
                  <a:extLst>
                    <a:ext uri="{9D8B030D-6E8A-4147-A177-3AD203B41FA5}">
                      <a16:colId xmlns:a16="http://schemas.microsoft.com/office/drawing/2014/main" val="1147814693"/>
                    </a:ext>
                  </a:extLst>
                </a:gridCol>
              </a:tblGrid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타겟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초등 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1~6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학년 영어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한국사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어휘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한자</a:t>
                      </a:r>
                      <a:r>
                        <a:rPr lang="en-US" altLang="ko-KR" sz="1100" b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chemeClr val="tx1"/>
                          </a:solidFill>
                        </a:rPr>
                        <a:t>수학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547524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진행 현황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게임 템플릿과 일치 여부 확인중 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(</a:t>
                      </a:r>
                      <a:r>
                        <a:rPr lang="ko-KR" altLang="en-US" sz="11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게임 </a:t>
                      </a:r>
                      <a:r>
                        <a:rPr lang="en-US" altLang="ko-KR" sz="11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Cell)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일정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30556"/>
                  </a:ext>
                </a:extLst>
              </a:tr>
              <a:tr h="54602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잔여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err="1">
                          <a:solidFill>
                            <a:sysClr val="windowText" lastClr="000000"/>
                          </a:solidFill>
                        </a:rPr>
                        <a:t>공부력</a:t>
                      </a:r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 맞춤 템플릿 추가</a:t>
                      </a:r>
                      <a:r>
                        <a:rPr lang="en-US" altLang="ko-KR" sz="1100" b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일부 수정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일정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567074"/>
                  </a:ext>
                </a:extLst>
              </a:tr>
              <a:tr h="5460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메타 정보 등록 가능 여부 검토</a:t>
                      </a:r>
                      <a:endParaRPr lang="en-US" altLang="ko-KR" sz="11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일정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7366283"/>
                  </a:ext>
                </a:extLst>
              </a:tr>
              <a:tr h="546025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이미지</a:t>
                      </a:r>
                      <a:r>
                        <a:rPr lang="en-US" altLang="ko-KR" sz="1100" b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음원 등 리소스 재검토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일정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683754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이슈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err="1"/>
                        <a:t>공부력</a:t>
                      </a:r>
                      <a:r>
                        <a:rPr lang="ko-KR" altLang="en-US" sz="1100"/>
                        <a:t> 문항 활용 가능 여부 </a:t>
                      </a:r>
                      <a:r>
                        <a:rPr lang="ko-KR" altLang="en-US" sz="1100" err="1"/>
                        <a:t>컨펌</a:t>
                      </a:r>
                      <a:endParaRPr lang="en-US" altLang="ko-KR" sz="110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/>
                        <a:t>교과과정 맵핑 일정 확보 필요</a:t>
                      </a:r>
                      <a:endParaRPr lang="en-US" altLang="ko-KR" sz="1100"/>
                    </a:p>
                    <a:p>
                      <a:pPr algn="ctr" latinLnBrk="1"/>
                      <a:endParaRPr lang="en-US" altLang="ko-KR" sz="1100" b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승민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CP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님 적어주세요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~!</a:t>
                      </a:r>
                    </a:p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위에 보완할 사항도 추가해요 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각 일정도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033174"/>
                  </a:ext>
                </a:extLst>
              </a:tr>
            </a:tbl>
          </a:graphicData>
        </a:graphic>
      </p:graphicFrame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B523011-7C3A-3257-85FB-BEE6428C0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239" y="1713820"/>
            <a:ext cx="4171950" cy="32670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E6B5FCB-4CCB-AEEF-4DA3-F111C1DC681E}"/>
              </a:ext>
            </a:extLst>
          </p:cNvPr>
          <p:cNvSpPr txBox="1"/>
          <p:nvPr/>
        </p:nvSpPr>
        <p:spPr>
          <a:xfrm>
            <a:off x="8606517" y="1213365"/>
            <a:ext cx="5781675" cy="36933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이렇게 잔여 업무 중에 누구의 역할인지 표기도 해줘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7E5925F9-1235-2BFF-C2B7-A0FFD4761A05}"/>
              </a:ext>
            </a:extLst>
          </p:cNvPr>
          <p:cNvSpPr txBox="1">
            <a:spLocks/>
          </p:cNvSpPr>
          <p:nvPr/>
        </p:nvSpPr>
        <p:spPr>
          <a:xfrm>
            <a:off x="179028" y="1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solidFill>
                  <a:srgbClr val="FFFFFF"/>
                </a:solidFill>
              </a:rPr>
              <a:t>[2] </a:t>
            </a:r>
            <a:r>
              <a:rPr lang="ko-KR" altLang="en-US" sz="3200" b="1">
                <a:solidFill>
                  <a:srgbClr val="FFFFFF"/>
                </a:solidFill>
              </a:rPr>
              <a:t>문항 콘텐츠 기획안</a:t>
            </a:r>
          </a:p>
        </p:txBody>
      </p:sp>
    </p:spTree>
    <p:extLst>
      <p:ext uri="{BB962C8B-B14F-4D97-AF65-F5344CB8AC3E}">
        <p14:creationId xmlns:p14="http://schemas.microsoft.com/office/powerpoint/2010/main" val="3390807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4B8A2-C1A5-13C2-BDDF-CD367D9C5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" name="AccentBar">
            <a:extLst>
              <a:ext uri="{FF2B5EF4-FFF2-40B4-BE49-F238E27FC236}">
                <a16:creationId xmlns:a16="http://schemas.microsoft.com/office/drawing/2014/main" id="{2CCF4CDF-5D87-CC12-13EB-FA45180102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2" name="BottomBar">
            <a:extLst>
              <a:ext uri="{FF2B5EF4-FFF2-40B4-BE49-F238E27FC236}">
                <a16:creationId xmlns:a16="http://schemas.microsoft.com/office/drawing/2014/main" id="{A57AEA4A-FF59-9800-FD09-6F6BB2A44304}"/>
              </a:ext>
            </a:extLst>
          </p:cNvPr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15898-BE2D-DACC-8D99-7CAE36100077}"/>
              </a:ext>
            </a:extLst>
          </p:cNvPr>
          <p:cNvSpPr txBox="1"/>
          <p:nvPr/>
        </p:nvSpPr>
        <p:spPr>
          <a:xfrm>
            <a:off x="2094411" y="1213295"/>
            <a:ext cx="782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highlight>
                  <a:srgbClr val="FFFF00"/>
                </a:highlight>
              </a:rPr>
              <a:t>C</a:t>
            </a:r>
            <a:r>
              <a:rPr lang="ko-KR" altLang="en-US" sz="1600">
                <a:highlight>
                  <a:srgbClr val="FFFF00"/>
                </a:highlight>
              </a:rPr>
              <a:t>안</a:t>
            </a:r>
            <a:r>
              <a:rPr lang="en-US" altLang="ko-KR" sz="1600">
                <a:highlight>
                  <a:srgbClr val="FFFF00"/>
                </a:highlight>
              </a:rPr>
              <a:t>: </a:t>
            </a:r>
            <a:r>
              <a:rPr lang="ko-KR" altLang="en-US" sz="1600">
                <a:highlight>
                  <a:srgbClr val="FFFF00"/>
                </a:highlight>
              </a:rPr>
              <a:t>테마별 </a:t>
            </a:r>
            <a:r>
              <a:rPr lang="ko-KR" altLang="en-US" sz="1600" err="1">
                <a:highlight>
                  <a:srgbClr val="FFFF00"/>
                </a:highlight>
              </a:rPr>
              <a:t>세트지</a:t>
            </a:r>
            <a:r>
              <a:rPr lang="ko-KR" altLang="en-US" sz="1600">
                <a:highlight>
                  <a:srgbClr val="FFFF00"/>
                </a:highlight>
              </a:rPr>
              <a:t> 재구성</a:t>
            </a:r>
            <a:endParaRPr lang="en-US" altLang="ko-KR" sz="1600">
              <a:highlight>
                <a:srgbClr val="FFFF00"/>
              </a:highlight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2C0E0D7-DC1C-3931-65FC-F5E7F7A2E565}"/>
              </a:ext>
            </a:extLst>
          </p:cNvPr>
          <p:cNvSpPr/>
          <p:nvPr/>
        </p:nvSpPr>
        <p:spPr>
          <a:xfrm>
            <a:off x="542380" y="1190665"/>
            <a:ext cx="1434466" cy="33392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rgbClr val="FF7A00"/>
          </a:fillRef>
          <a:effectRef idx="0">
            <a:srgbClr val="FF7A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후순위 진행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45B0265-B973-AE42-473D-B22E1E9ED1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468931"/>
              </p:ext>
            </p:extLst>
          </p:nvPr>
        </p:nvGraphicFramePr>
        <p:xfrm>
          <a:off x="542380" y="1709377"/>
          <a:ext cx="7582718" cy="1638075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234168">
                  <a:extLst>
                    <a:ext uri="{9D8B030D-6E8A-4147-A177-3AD203B41FA5}">
                      <a16:colId xmlns:a16="http://schemas.microsoft.com/office/drawing/2014/main" val="3110142930"/>
                    </a:ext>
                  </a:extLst>
                </a:gridCol>
                <a:gridCol w="6348550">
                  <a:extLst>
                    <a:ext uri="{9D8B030D-6E8A-4147-A177-3AD203B41FA5}">
                      <a16:colId xmlns:a16="http://schemas.microsoft.com/office/drawing/2014/main" val="3605716420"/>
                    </a:ext>
                  </a:extLst>
                </a:gridCol>
              </a:tblGrid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타겟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내용 작성 필요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100" b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47524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후순위 사유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후순위로 진행하는 이유 적어주세요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~)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30556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이슈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승민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CP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님 적어주세요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~!</a:t>
                      </a:r>
                    </a:p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위에 보완할 사항도 추가해요 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각 일정도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0331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D53122F-79A7-E26A-470E-64AA4579414E}"/>
              </a:ext>
            </a:extLst>
          </p:cNvPr>
          <p:cNvSpPr txBox="1"/>
          <p:nvPr/>
        </p:nvSpPr>
        <p:spPr>
          <a:xfrm>
            <a:off x="4777656" y="77875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 </a:t>
            </a:r>
            <a:r>
              <a:rPr lang="ko-KR" altLang="en-US" err="1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컨플</a:t>
            </a:r>
            <a:r>
              <a:rPr lang="en-US" altLang="ko-KR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(</a:t>
            </a:r>
            <a:r>
              <a:rPr lang="ko-KR" altLang="en-US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다 하고 삭제</a:t>
            </a:r>
            <a:r>
              <a:rPr lang="en-US" altLang="ko-KR">
                <a:solidFill>
                  <a:srgbClr val="46788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https</a:t>
            </a:r>
            <a:r>
              <a:rPr lang="en-US" altLang="ko-KR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://vs365.atlassian.net/wiki/spaces/AppleTF/pages/353108011/0402</a:t>
            </a:r>
            <a:r>
              <a:rPr lang="en-US" altLang="ko-KR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E4272-5C19-223D-74B5-AAA0E865E0BD}"/>
              </a:ext>
            </a:extLst>
          </p:cNvPr>
          <p:cNvSpPr txBox="1"/>
          <p:nvPr/>
        </p:nvSpPr>
        <p:spPr>
          <a:xfrm>
            <a:off x="2094411" y="3690566"/>
            <a:ext cx="782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>
                <a:highlight>
                  <a:srgbClr val="FFFF00"/>
                </a:highlight>
              </a:rPr>
              <a:t>D</a:t>
            </a:r>
            <a:r>
              <a:rPr lang="ko-KR" altLang="en-US" sz="1600">
                <a:highlight>
                  <a:srgbClr val="FFFF00"/>
                </a:highlight>
              </a:rPr>
              <a:t>안</a:t>
            </a:r>
            <a:r>
              <a:rPr lang="en-US" altLang="ko-KR" sz="1600">
                <a:highlight>
                  <a:srgbClr val="FFFF00"/>
                </a:highlight>
              </a:rPr>
              <a:t>: AI </a:t>
            </a:r>
            <a:r>
              <a:rPr lang="ko-KR" altLang="en-US" sz="1600">
                <a:highlight>
                  <a:srgbClr val="FFFF00"/>
                </a:highlight>
              </a:rPr>
              <a:t>활용 신규 문항 제작</a:t>
            </a:r>
            <a:endParaRPr lang="en-US" altLang="ko-KR" sz="1600">
              <a:highlight>
                <a:srgbClr val="FFFF00"/>
              </a:highlight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BC63F35-4E82-3688-DA57-6026681253C6}"/>
              </a:ext>
            </a:extLst>
          </p:cNvPr>
          <p:cNvSpPr/>
          <p:nvPr/>
        </p:nvSpPr>
        <p:spPr>
          <a:xfrm>
            <a:off x="542380" y="3667936"/>
            <a:ext cx="1434466" cy="33392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rgbClr val="FF7A00"/>
          </a:fillRef>
          <a:effectRef idx="0">
            <a:srgbClr val="FF7A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후순위 진행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273A6D3-1803-4DEF-8D61-27D5DE1CFC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8313342"/>
              </p:ext>
            </p:extLst>
          </p:nvPr>
        </p:nvGraphicFramePr>
        <p:xfrm>
          <a:off x="542380" y="4186648"/>
          <a:ext cx="7582718" cy="1638075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234168">
                  <a:extLst>
                    <a:ext uri="{9D8B030D-6E8A-4147-A177-3AD203B41FA5}">
                      <a16:colId xmlns:a16="http://schemas.microsoft.com/office/drawing/2014/main" val="3110142930"/>
                    </a:ext>
                  </a:extLst>
                </a:gridCol>
                <a:gridCol w="6348550">
                  <a:extLst>
                    <a:ext uri="{9D8B030D-6E8A-4147-A177-3AD203B41FA5}">
                      <a16:colId xmlns:a16="http://schemas.microsoft.com/office/drawing/2014/main" val="3605716420"/>
                    </a:ext>
                  </a:extLst>
                </a:gridCol>
              </a:tblGrid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타겟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내용 작성 필요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100" b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547524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후순위 사유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후순위로 진행하는 이유 적어주세요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~)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930556"/>
                  </a:ext>
                </a:extLst>
              </a:tr>
              <a:tr h="5460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ysClr val="windowText" lastClr="000000"/>
                          </a:solidFill>
                        </a:rPr>
                        <a:t>이슈 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승민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CP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님 적어주세요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~!</a:t>
                      </a:r>
                    </a:p>
                    <a:p>
                      <a:pPr algn="ctr" latinLnBrk="1"/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위에 보완할 사항도 추가해요 </a:t>
                      </a:r>
                      <a:r>
                        <a:rPr lang="en-US" altLang="ko-KR" sz="1100" b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ko-KR" altLang="en-US" sz="1100" b="0">
                          <a:solidFill>
                            <a:srgbClr val="FF0000"/>
                          </a:solidFill>
                        </a:rPr>
                        <a:t>각 일정도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033174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C13EA2CC-01FF-7D53-41AF-9BBC79B9E998}"/>
              </a:ext>
            </a:extLst>
          </p:cNvPr>
          <p:cNvSpPr txBox="1">
            <a:spLocks/>
          </p:cNvSpPr>
          <p:nvPr/>
        </p:nvSpPr>
        <p:spPr>
          <a:xfrm>
            <a:off x="179028" y="1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solidFill>
                  <a:srgbClr val="FFFFFF"/>
                </a:solidFill>
              </a:rPr>
              <a:t>[2] </a:t>
            </a:r>
            <a:r>
              <a:rPr lang="ko-KR" altLang="en-US" sz="3200" b="1">
                <a:solidFill>
                  <a:srgbClr val="FFFFFF"/>
                </a:solidFill>
              </a:rPr>
              <a:t>문항 콘텐츠 기획안</a:t>
            </a:r>
          </a:p>
        </p:txBody>
      </p:sp>
    </p:spTree>
    <p:extLst>
      <p:ext uri="{BB962C8B-B14F-4D97-AF65-F5344CB8AC3E}">
        <p14:creationId xmlns:p14="http://schemas.microsoft.com/office/powerpoint/2010/main" val="195317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D68B3-98E4-7AB6-ABF5-9F78D788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1" name="AccentBar">
            <a:extLst>
              <a:ext uri="{FF2B5EF4-FFF2-40B4-BE49-F238E27FC236}">
                <a16:creationId xmlns:a16="http://schemas.microsoft.com/office/drawing/2014/main" id="{326CBA82-245C-F66E-11C7-262BC644C5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42" name="BottomBar">
            <a:extLst>
              <a:ext uri="{FF2B5EF4-FFF2-40B4-BE49-F238E27FC236}">
                <a16:creationId xmlns:a16="http://schemas.microsoft.com/office/drawing/2014/main" id="{06EC2855-4086-E87B-178D-6FDAB8F9B76A}"/>
              </a:ext>
            </a:extLst>
          </p:cNvPr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2CB8CC-A85F-B15E-9BC2-BE09665A24CF}"/>
              </a:ext>
            </a:extLst>
          </p:cNvPr>
          <p:cNvSpPr txBox="1"/>
          <p:nvPr/>
        </p:nvSpPr>
        <p:spPr>
          <a:xfrm>
            <a:off x="1050018" y="1431080"/>
            <a:ext cx="10698389" cy="92333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CBS *게임 브랜드* --&gt; {민간존 플랫폼 스토리지} --&gt; 게임 서비스에서 문항 key 호출</a:t>
            </a:r>
          </a:p>
          <a:p>
            <a:pPr algn="ctr"/>
            <a:endParaRPr lang="ko-KR" altLang="en-US" b="1">
              <a:solidFill>
                <a:srgbClr val="FF0000"/>
              </a:solidFill>
              <a:ea typeface="맑은 고딕"/>
            </a:endParaRPr>
          </a:p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이러한 데이터/인프라 흐름도 추가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4A6389-2666-6F43-3706-B30828DC9F33}"/>
              </a:ext>
            </a:extLst>
          </p:cNvPr>
          <p:cNvSpPr txBox="1"/>
          <p:nvPr/>
        </p:nvSpPr>
        <p:spPr>
          <a:xfrm>
            <a:off x="3247571" y="3229429"/>
            <a:ext cx="692149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[문항 처리 구조]</a:t>
            </a:r>
          </a:p>
          <a:p>
            <a:pPr>
              <a:buFont typeface=""/>
              <a:buChar char="•"/>
            </a:pPr>
            <a:r>
              <a:rPr lang="en-US"/>
              <a:t>모든 문항은 </a:t>
            </a:r>
            <a:r>
              <a:rPr lang="en-US" b="1"/>
              <a:t>CBS(문제은행)</a:t>
            </a:r>
            <a:r>
              <a:rPr lang="en-US"/>
              <a:t> 기반으로 관리</a:t>
            </a:r>
          </a:p>
          <a:p>
            <a:pPr>
              <a:buFont typeface=""/>
              <a:buChar char="•"/>
            </a:pPr>
            <a:r>
              <a:rPr lang="en-US"/>
              <a:t>6월 버전은 </a:t>
            </a:r>
            <a:r>
              <a:rPr lang="en-US" b="1"/>
              <a:t>공부력 문항</a:t>
            </a:r>
            <a:r>
              <a:rPr lang="en-US"/>
              <a:t> 사용</a:t>
            </a:r>
          </a:p>
          <a:p>
            <a:pPr>
              <a:buFont typeface=""/>
              <a:buChar char="•"/>
            </a:pPr>
            <a:r>
              <a:rPr lang="en-US"/>
              <a:t>신규 문항(예: 공부력 문항)도 </a:t>
            </a:r>
            <a:r>
              <a:rPr lang="en-US" b="1"/>
              <a:t>반드시 CBS 등록 후 사용</a:t>
            </a:r>
          </a:p>
          <a:p>
            <a:pPr>
              <a:buFont typeface=""/>
              <a:buChar char="•"/>
            </a:pPr>
            <a:r>
              <a:rPr lang="en-US" b="1"/>
              <a:t>CBS</a:t>
            </a:r>
            <a:r>
              <a:rPr lang="en-US"/>
              <a:t>에서 게임 뷰어로 검수</a:t>
            </a:r>
          </a:p>
          <a:p>
            <a:pPr marL="228600" indent="-228600"/>
            <a:r>
              <a:rPr lang="en-US" b="1"/>
              <a:t>문항 흐름</a:t>
            </a:r>
            <a:br>
              <a:rPr lang="en-US"/>
            </a:br>
            <a:r>
              <a:rPr lang="en-US"/>
              <a:t>CBS 입력 → 게임 DB 적재 → 게임에서 DB 기반 호출/서비스CBS 직접 호출 없이 </a:t>
            </a:r>
            <a:r>
              <a:rPr lang="en-US" b="1"/>
              <a:t>게임 DB를 단일 소스로 사용</a:t>
            </a:r>
            <a:endParaRPr lang="en-US" altLang="ko-KR"/>
          </a:p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D9E20D6-6D3C-B656-22C4-56D5AC7621A5}"/>
              </a:ext>
            </a:extLst>
          </p:cNvPr>
          <p:cNvSpPr txBox="1">
            <a:spLocks/>
          </p:cNvSpPr>
          <p:nvPr/>
        </p:nvSpPr>
        <p:spPr>
          <a:xfrm>
            <a:off x="179028" y="1"/>
            <a:ext cx="10515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solidFill>
                  <a:srgbClr val="FFFFFF"/>
                </a:solidFill>
              </a:rPr>
              <a:t>[2] </a:t>
            </a:r>
            <a:r>
              <a:rPr lang="ko-KR" altLang="en-US" sz="3200" b="1">
                <a:solidFill>
                  <a:srgbClr val="FFFFFF"/>
                </a:solidFill>
              </a:rPr>
              <a:t>문항 콘텐츠 기획안</a:t>
            </a:r>
          </a:p>
        </p:txBody>
      </p:sp>
    </p:spTree>
    <p:extLst>
      <p:ext uri="{BB962C8B-B14F-4D97-AF65-F5344CB8AC3E}">
        <p14:creationId xmlns:p14="http://schemas.microsoft.com/office/powerpoint/2010/main" val="863601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E78046-8ED7-20C6-55CB-5091C5273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1" name="AccentBar"/>
          <p:cNvSpPr>
            <a:spLocks noGrp="1"/>
          </p:cNvSpPr>
          <p:nvPr/>
        </p:nvSpPr>
        <p:spPr>
          <a:xfrm>
            <a:off x="0" y="0"/>
            <a:ext cx="12192000" cy="72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480BE35-BA16-9024-AB23-79096F55112C}"/>
              </a:ext>
            </a:extLst>
          </p:cNvPr>
          <p:cNvSpPr txBox="1">
            <a:spLocks/>
          </p:cNvSpPr>
          <p:nvPr/>
        </p:nvSpPr>
        <p:spPr>
          <a:xfrm>
            <a:off x="179028" y="0"/>
            <a:ext cx="10515600" cy="714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200" b="1">
                <a:solidFill>
                  <a:srgbClr val="FFFFFF"/>
                </a:solidFill>
                <a:ea typeface="맑은 고딕"/>
              </a:rPr>
              <a:t>[3] </a:t>
            </a:r>
            <a:r>
              <a:rPr lang="ko-KR" altLang="en-US" sz="3200" b="1">
                <a:solidFill>
                  <a:srgbClr val="FFFFFF"/>
                </a:solidFill>
                <a:ea typeface="맑은 고딕"/>
              </a:rPr>
              <a:t>사용자 플로우</a:t>
            </a:r>
            <a:endParaRPr lang="ko-KR" altLang="en-US" sz="3200" b="1">
              <a:solidFill>
                <a:srgbClr val="FFFFFF"/>
              </a:solidFill>
            </a:endParaRPr>
          </a:p>
        </p:txBody>
      </p:sp>
      <p:sp>
        <p:nvSpPr>
          <p:cNvPr id="9082" name="BottomBar"/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593C1-1E21-6348-C61C-C0CFBB57990D}"/>
              </a:ext>
            </a:extLst>
          </p:cNvPr>
          <p:cNvSpPr txBox="1"/>
          <p:nvPr/>
        </p:nvSpPr>
        <p:spPr>
          <a:xfrm>
            <a:off x="657225" y="1083886"/>
            <a:ext cx="34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서비스 접속 플로우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64AB40B-221D-CB21-6C67-91F2B0259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11" y="2209818"/>
            <a:ext cx="4605337" cy="32187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626B8B6-DA08-957E-102D-10F3624C1E31}"/>
              </a:ext>
            </a:extLst>
          </p:cNvPr>
          <p:cNvSpPr txBox="1"/>
          <p:nvPr/>
        </p:nvSpPr>
        <p:spPr>
          <a:xfrm>
            <a:off x="1926116" y="1780301"/>
            <a:ext cx="168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>
                <a:highlight>
                  <a:srgbClr val="FFFF00"/>
                </a:highlight>
              </a:rPr>
              <a:t>통합플랫폼</a:t>
            </a:r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A6F1517F-7248-C571-BA62-7708061EF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392" y="2371410"/>
            <a:ext cx="4876800" cy="2743200"/>
          </a:xfrm>
          <a:prstGeom prst="rect">
            <a:avLst/>
          </a:prstGeom>
          <a:noFill/>
          <a:ln>
            <a:solidFill>
              <a:schemeClr val="bg2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A12A8F-AF55-2F8A-730A-BDEB60157C72}"/>
              </a:ext>
            </a:extLst>
          </p:cNvPr>
          <p:cNvSpPr txBox="1"/>
          <p:nvPr/>
        </p:nvSpPr>
        <p:spPr>
          <a:xfrm>
            <a:off x="7043107" y="1811693"/>
            <a:ext cx="366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highlight>
                  <a:srgbClr val="FFFF00"/>
                </a:highlight>
              </a:rPr>
              <a:t>3D</a:t>
            </a:r>
            <a:r>
              <a:rPr lang="ko-KR" altLang="en-US">
                <a:highlight>
                  <a:srgbClr val="FFFF00"/>
                </a:highlight>
              </a:rPr>
              <a:t> 퀴즈 게임</a:t>
            </a:r>
            <a:r>
              <a:rPr lang="en-US" altLang="ko-KR">
                <a:highlight>
                  <a:srgbClr val="FFFF00"/>
                </a:highlight>
              </a:rPr>
              <a:t>(</a:t>
            </a:r>
            <a:r>
              <a:rPr lang="ko-KR" altLang="en-US">
                <a:highlight>
                  <a:srgbClr val="FFFF00"/>
                </a:highlight>
              </a:rPr>
              <a:t>별도 도메인</a:t>
            </a:r>
            <a:r>
              <a:rPr lang="en-US" altLang="ko-KR">
                <a:highlight>
                  <a:srgbClr val="FFFF00"/>
                </a:highlight>
              </a:rPr>
              <a:t>)</a:t>
            </a:r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1D5ECD-F73F-231D-5BAF-AE9B29059F82}"/>
              </a:ext>
            </a:extLst>
          </p:cNvPr>
          <p:cNvSpPr txBox="1"/>
          <p:nvPr/>
        </p:nvSpPr>
        <p:spPr>
          <a:xfrm>
            <a:off x="6631667" y="5250516"/>
            <a:ext cx="45815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이후 서비스 내부에서</a:t>
            </a:r>
            <a:endParaRPr lang="en-US" altLang="ko-KR" sz="1400"/>
          </a:p>
          <a:p>
            <a:pPr algn="ctr"/>
            <a:r>
              <a:rPr lang="ko-KR" altLang="en-US" sz="1400"/>
              <a:t>학생</a:t>
            </a:r>
            <a:r>
              <a:rPr lang="en-US" altLang="ko-KR" sz="1400"/>
              <a:t>(</a:t>
            </a:r>
            <a:r>
              <a:rPr lang="ko-KR" altLang="en-US" sz="1400"/>
              <a:t>게스트 초대</a:t>
            </a:r>
            <a:r>
              <a:rPr lang="en-US" altLang="ko-KR" sz="1400"/>
              <a:t>)</a:t>
            </a:r>
            <a:r>
              <a:rPr lang="ko-KR" altLang="en-US" sz="1400"/>
              <a:t>과 </a:t>
            </a:r>
            <a:r>
              <a:rPr lang="ko-KR" altLang="en-US" sz="1400" err="1"/>
              <a:t>인터랙션하며</a:t>
            </a:r>
            <a:r>
              <a:rPr lang="ko-KR" altLang="en-US" sz="1400"/>
              <a:t> 진행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E5BA0A1-EFA2-59F3-37AB-707631682D46}"/>
              </a:ext>
            </a:extLst>
          </p:cNvPr>
          <p:cNvCxnSpPr/>
          <p:nvPr/>
        </p:nvCxnSpPr>
        <p:spPr>
          <a:xfrm>
            <a:off x="4965700" y="3771900"/>
            <a:ext cx="15113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9D5CF5-438C-62EC-602D-744F7CA7F8C2}"/>
              </a:ext>
            </a:extLst>
          </p:cNvPr>
          <p:cNvSpPr txBox="1"/>
          <p:nvPr/>
        </p:nvSpPr>
        <p:spPr>
          <a:xfrm>
            <a:off x="3889853" y="3372807"/>
            <a:ext cx="3662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highlight>
                  <a:srgbClr val="00FF00"/>
                </a:highlight>
              </a:rPr>
              <a:t>SSO </a:t>
            </a:r>
            <a:r>
              <a:rPr lang="ko-KR" altLang="en-US">
                <a:highlight>
                  <a:srgbClr val="00FF00"/>
                </a:highlight>
              </a:rPr>
              <a:t>통합 로그인</a:t>
            </a:r>
          </a:p>
        </p:txBody>
      </p:sp>
    </p:spTree>
    <p:extLst>
      <p:ext uri="{BB962C8B-B14F-4D97-AF65-F5344CB8AC3E}">
        <p14:creationId xmlns:p14="http://schemas.microsoft.com/office/powerpoint/2010/main" val="1824692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319AB8-299D-51B4-112E-7884BFF1B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7AF189C-465B-CD6B-CCD1-1502250D0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86" y="723626"/>
            <a:ext cx="9619106" cy="541074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5AE4307-9C84-D60B-0C88-3281C504C1E7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55C086-F2CD-05F4-76B7-200618F1B145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520D90E-EF7B-1D77-6045-26DECDAD6363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156A48-ABD6-8957-B264-C2CD7620FD59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2B67995A-4F0D-7EFE-1137-3F23B0E12F74}"/>
              </a:ext>
            </a:extLst>
          </p:cNvPr>
          <p:cNvSpPr/>
          <p:nvPr/>
        </p:nvSpPr>
        <p:spPr>
          <a:xfrm rot="8100000">
            <a:off x="7131499" y="4814044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9F4426A-3ABE-48BC-3B5E-8EEAA157B52C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 선택하기만 활성화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좌측 상단에 메뉴 버튼을 눌러 다양한 기능 페이지로 이동 가능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C3CA77-ABB3-75FD-2A96-AD54ABA06989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623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F8ADF-81E3-DE81-3BD8-809F42DD1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8D459CB-324B-DE6D-650D-E896C6CB0B52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5D637C-541F-DCA6-79F8-DAB8C7B4EDB9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B4DA2E8-6B5D-E555-DE7C-2400D42A0033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C75BC6-923E-0731-22DD-34FD6FCE73DF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A61398-5343-9D75-E0FB-AAC9F7A3601E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83F5E160-8013-2678-780C-A880843D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47" y="724504"/>
            <a:ext cx="9617546" cy="5409870"/>
          </a:xfrm>
          <a:prstGeom prst="rect">
            <a:avLst/>
          </a:prstGeom>
        </p:spPr>
      </p:pic>
      <p:sp>
        <p:nvSpPr>
          <p:cNvPr id="62" name="화살표: 아래쪽 61">
            <a:extLst>
              <a:ext uri="{FF2B5EF4-FFF2-40B4-BE49-F238E27FC236}">
                <a16:creationId xmlns:a16="http://schemas.microsoft.com/office/drawing/2014/main" id="{30794D08-A5E8-86A1-9862-B38E2F1E1191}"/>
              </a:ext>
            </a:extLst>
          </p:cNvPr>
          <p:cNvSpPr/>
          <p:nvPr/>
        </p:nvSpPr>
        <p:spPr>
          <a:xfrm rot="8100000">
            <a:off x="9172950" y="3793318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F370671B-3F1D-F593-4286-B482F495A63D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돋보기 버튼을 눌러 문항 확인 가능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문항은 </a:t>
            </a:r>
            <a:r>
              <a:rPr lang="en-US" altLang="ko-KR" sz="1100">
                <a:solidFill>
                  <a:schemeClr val="bg1"/>
                </a:solidFill>
              </a:rPr>
              <a:t>(</a:t>
            </a:r>
            <a:r>
              <a:rPr lang="ko-KR" altLang="en-US" sz="1100">
                <a:solidFill>
                  <a:schemeClr val="bg1"/>
                </a:solidFill>
              </a:rPr>
              <a:t>개념 문제</a:t>
            </a:r>
            <a:r>
              <a:rPr lang="en-US" altLang="ko-KR" sz="1100">
                <a:solidFill>
                  <a:schemeClr val="bg1"/>
                </a:solidFill>
              </a:rPr>
              <a:t>, </a:t>
            </a:r>
            <a:r>
              <a:rPr lang="ko-KR" altLang="en-US" sz="1100">
                <a:solidFill>
                  <a:schemeClr val="bg1"/>
                </a:solidFill>
              </a:rPr>
              <a:t>몰입 문제</a:t>
            </a:r>
            <a:r>
              <a:rPr lang="en-US" altLang="ko-KR" sz="1100">
                <a:solidFill>
                  <a:schemeClr val="bg1"/>
                </a:solidFill>
              </a:rPr>
              <a:t>, </a:t>
            </a:r>
            <a:r>
              <a:rPr lang="ko-KR" altLang="en-US" sz="1100">
                <a:solidFill>
                  <a:schemeClr val="bg1"/>
                </a:solidFill>
              </a:rPr>
              <a:t>심화 문제</a:t>
            </a:r>
            <a:r>
              <a:rPr lang="en-US" altLang="ko-KR" sz="1100">
                <a:solidFill>
                  <a:schemeClr val="bg1"/>
                </a:solidFill>
              </a:rPr>
              <a:t>)</a:t>
            </a:r>
            <a:r>
              <a:rPr lang="ko-KR" altLang="en-US" sz="1100">
                <a:solidFill>
                  <a:schemeClr val="bg1"/>
                </a:solidFill>
              </a:rPr>
              <a:t>가 있음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4676365-D012-36AF-F1A9-054376D49625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C68B6-B49C-F09C-6E37-1AB320799A49}"/>
              </a:ext>
            </a:extLst>
          </p:cNvPr>
          <p:cNvSpPr txBox="1"/>
          <p:nvPr/>
        </p:nvSpPr>
        <p:spPr>
          <a:xfrm>
            <a:off x="3164568" y="3036207"/>
            <a:ext cx="6613070" cy="2308324"/>
          </a:xfrm>
          <a:prstGeom prst="rect">
            <a:avLst/>
          </a:prstGeom>
          <a:solidFill>
            <a:srgbClr val="FFFF00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</a:rPr>
              <a:t>승민</a:t>
            </a:r>
            <a:r>
              <a:rPr lang="en-US" altLang="ko-KR" b="1">
                <a:solidFill>
                  <a:srgbClr val="FF0000"/>
                </a:solidFill>
              </a:rPr>
              <a:t>CP</a:t>
            </a:r>
            <a:r>
              <a:rPr lang="ko-KR" altLang="en-US" b="1">
                <a:solidFill>
                  <a:srgbClr val="FF0000"/>
                </a:solidFill>
              </a:rPr>
              <a:t>님 각 화면에서 미정이거나</a:t>
            </a:r>
            <a:endParaRPr lang="en-US" altLang="ko-KR" b="1">
              <a:solidFill>
                <a:srgbClr val="FF0000"/>
              </a:solidFill>
            </a:endParaRPr>
          </a:p>
          <a:p>
            <a:pPr algn="ctr"/>
            <a:r>
              <a:rPr lang="ko-KR" altLang="en-US" b="1">
                <a:solidFill>
                  <a:srgbClr val="FF0000"/>
                </a:solidFill>
              </a:rPr>
              <a:t>수정되어야 하는 사항은 적어주세요</a:t>
            </a:r>
          </a:p>
          <a:p>
            <a:pPr algn="ctr"/>
            <a:endParaRPr lang="ko-KR" altLang="en-US" b="1">
              <a:solidFill>
                <a:srgbClr val="FF0000"/>
              </a:solidFill>
              <a:ea typeface="맑은 고딕"/>
            </a:endParaRPr>
          </a:p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필요 시, 화면을 그려도 되고</a:t>
            </a:r>
          </a:p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레퍼런스 이미지 (예: 넷플릭스, 카훗)을 붙이기</a:t>
            </a:r>
          </a:p>
          <a:p>
            <a:pPr algn="ctr"/>
            <a:endParaRPr lang="ko-KR" altLang="en-US" b="1">
              <a:solidFill>
                <a:srgbClr val="FF0000"/>
              </a:solidFill>
              <a:ea typeface="맑은 고딕"/>
            </a:endParaRPr>
          </a:p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결론적으로 기획적인 플로우 필요함</a:t>
            </a:r>
          </a:p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(예) 교재 카드 클릭 &gt; 단원 선택 &gt; 세트지 리스트 등등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41761C4-6577-8481-481D-EB34EBC50F1F}"/>
              </a:ext>
            </a:extLst>
          </p:cNvPr>
          <p:cNvSpPr txBox="1"/>
          <p:nvPr/>
        </p:nvSpPr>
        <p:spPr>
          <a:xfrm>
            <a:off x="3580946" y="1095436"/>
            <a:ext cx="5781675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</a:ln>
        </p:spPr>
        <p:txBody>
          <a:bodyPr wrap="square" lIns="91440" tIns="45720" rIns="91440" bIns="45720" rtlCol="0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b="1">
                <a:solidFill>
                  <a:srgbClr val="FF0000"/>
                </a:solidFill>
                <a:ea typeface="맑은 고딕"/>
              </a:rPr>
              <a:t>이후 플로우는 </a:t>
            </a:r>
            <a:r>
              <a:rPr lang="ko-KR" altLang="en-US" b="1" err="1">
                <a:solidFill>
                  <a:srgbClr val="FF0000"/>
                </a:solidFill>
                <a:ea typeface="맑은 고딕"/>
              </a:rPr>
              <a:t>윤CP님도</a:t>
            </a:r>
            <a:r>
              <a:rPr lang="ko-KR" altLang="en-US" b="1">
                <a:solidFill>
                  <a:srgbClr val="FF0000"/>
                </a:solidFill>
                <a:ea typeface="맑은 고딕"/>
              </a:rPr>
              <a:t> 지겹게 봐서 아실 듯 일단 여까지 끊고 </a:t>
            </a:r>
            <a:r>
              <a:rPr lang="ko-KR" altLang="en-US" b="1" err="1">
                <a:solidFill>
                  <a:srgbClr val="FF0000"/>
                </a:solidFill>
                <a:ea typeface="맑은 고딕"/>
              </a:rPr>
              <a:t>상황봐서</a:t>
            </a:r>
            <a:r>
              <a:rPr lang="ko-KR" altLang="en-US" b="1">
                <a:solidFill>
                  <a:srgbClr val="FF0000"/>
                </a:solidFill>
                <a:ea typeface="맑은 고딕"/>
              </a:rPr>
              <a:t> 원하면 이어서 보여드리기</a:t>
            </a:r>
          </a:p>
        </p:txBody>
      </p:sp>
    </p:spTree>
    <p:extLst>
      <p:ext uri="{BB962C8B-B14F-4D97-AF65-F5344CB8AC3E}">
        <p14:creationId xmlns:p14="http://schemas.microsoft.com/office/powerpoint/2010/main" val="235653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8C763-3718-85B8-9582-14A10B88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1D384A16-972D-0BA1-D2C1-364826D29957}"/>
              </a:ext>
            </a:extLst>
          </p:cNvPr>
          <p:cNvSpPr/>
          <p:nvPr/>
        </p:nvSpPr>
        <p:spPr>
          <a:xfrm>
            <a:off x="-1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AEDE51-15C1-2890-D058-423E13D80E7B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CE899C8-AF33-FCC6-BFF2-105849FBE49D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CBCCA7-8FF4-163D-99CE-1EEFFEDC6F0B}"/>
              </a:ext>
            </a:extLst>
          </p:cNvPr>
          <p:cNvSpPr txBox="1"/>
          <p:nvPr/>
        </p:nvSpPr>
        <p:spPr>
          <a:xfrm>
            <a:off x="3048549" y="2901783"/>
            <a:ext cx="6094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</a:rPr>
              <a:t>메인 플로우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7AE7FF-1AB6-F638-7498-20494397709D}"/>
              </a:ext>
            </a:extLst>
          </p:cNvPr>
          <p:cNvSpPr txBox="1"/>
          <p:nvPr/>
        </p:nvSpPr>
        <p:spPr>
          <a:xfrm>
            <a:off x="3048549" y="3656163"/>
            <a:ext cx="60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(</a:t>
            </a:r>
            <a:r>
              <a:rPr lang="ko-KR" altLang="en-US" sz="2400">
                <a:solidFill>
                  <a:schemeClr val="bg1"/>
                </a:solidFill>
              </a:rPr>
              <a:t>선생님 화면</a:t>
            </a:r>
            <a:r>
              <a:rPr lang="en-US" altLang="ko-KR" sz="2400">
                <a:solidFill>
                  <a:schemeClr val="bg1"/>
                </a:solidFill>
              </a:rPr>
              <a:t>)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C54A99-077D-38EE-9831-9230E10CC486}"/>
              </a:ext>
            </a:extLst>
          </p:cNvPr>
          <p:cNvSpPr txBox="1"/>
          <p:nvPr/>
        </p:nvSpPr>
        <p:spPr>
          <a:xfrm>
            <a:off x="3609975" y="2362846"/>
            <a:ext cx="475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00"/>
                </a:solidFill>
              </a:rPr>
              <a:t>260407 </a:t>
            </a:r>
            <a:r>
              <a:rPr lang="ko-KR" altLang="en-US" b="1">
                <a:solidFill>
                  <a:srgbClr val="FFFF00"/>
                </a:solidFill>
              </a:rPr>
              <a:t>기준 게임 </a:t>
            </a:r>
            <a:r>
              <a:rPr lang="en-US" altLang="ko-KR" b="1">
                <a:solidFill>
                  <a:srgbClr val="FFFF00"/>
                </a:solidFill>
              </a:rPr>
              <a:t>Cell </a:t>
            </a:r>
            <a:r>
              <a:rPr lang="ko-KR" altLang="en-US" b="1">
                <a:solidFill>
                  <a:srgbClr val="FFFF00"/>
                </a:solidFill>
              </a:rPr>
              <a:t>최신 기획안</a:t>
            </a:r>
          </a:p>
        </p:txBody>
      </p:sp>
    </p:spTree>
    <p:extLst>
      <p:ext uri="{BB962C8B-B14F-4D97-AF65-F5344CB8AC3E}">
        <p14:creationId xmlns:p14="http://schemas.microsoft.com/office/powerpoint/2010/main" val="2015581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1F26-B7E4-D4CF-4758-AC6B0E03B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8CC679-BF5E-6494-A854-0E187D17A49D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BE7405-25FA-00FC-6975-F43D65547845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F850CD-0CDF-C8F8-59FD-915606687007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11CB2B-40A6-73E5-41EF-853A4460FFED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E2B93388-5282-9F75-C868-6D07A19B353E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8F88771-99EF-883E-0B73-D6A72F54C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47" y="724504"/>
            <a:ext cx="9617546" cy="5409870"/>
          </a:xfrm>
          <a:prstGeom prst="rect">
            <a:avLst/>
          </a:prstGeom>
        </p:spPr>
      </p:pic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93E3196E-C283-E7B5-EC67-5372ED902695}"/>
              </a:ext>
            </a:extLst>
          </p:cNvPr>
          <p:cNvSpPr/>
          <p:nvPr/>
        </p:nvSpPr>
        <p:spPr>
          <a:xfrm rot="8100000">
            <a:off x="9194216" y="1815663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8776FFE-5009-2CD2-DB4C-68DC17EE9467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좌우 버튼을 눌러 문제를 빠르게 확인할 수 있음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문제에 대한 평가를 할 수 있음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61A7A32-388F-3D5B-223E-FCC25DFCA3CF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5075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45215-E3AC-92F3-A93B-EE326771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18FBFCA-F107-1690-A6B0-2D118C2F0BEB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E92B04-ED0A-E6E9-70E6-A4A0086B5253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9A2EB6-96A2-E521-E5C6-CF77E140887F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1A6E7EB-A7B1-3664-E1D0-4E0C4063A83C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A33245-2BF1-A916-D440-36CC67D54172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3A3D424B-1223-FC1C-1B0A-67075ABF4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03" y="724667"/>
            <a:ext cx="9617256" cy="5409707"/>
          </a:xfrm>
          <a:prstGeom prst="rect">
            <a:avLst/>
          </a:prstGeom>
        </p:spPr>
      </p:pic>
      <p:sp>
        <p:nvSpPr>
          <p:cNvPr id="65" name="화살표: 아래쪽 64">
            <a:extLst>
              <a:ext uri="{FF2B5EF4-FFF2-40B4-BE49-F238E27FC236}">
                <a16:creationId xmlns:a16="http://schemas.microsoft.com/office/drawing/2014/main" id="{03460B93-6853-56A2-3B38-73FDCBA906BF}"/>
              </a:ext>
            </a:extLst>
          </p:cNvPr>
          <p:cNvSpPr/>
          <p:nvPr/>
        </p:nvSpPr>
        <p:spPr>
          <a:xfrm rot="8100000">
            <a:off x="6334058" y="5260612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DD0C5061-F0AE-5953-C126-913CED9C28DF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문제는 </a:t>
            </a:r>
            <a:r>
              <a:rPr lang="ko-KR" altLang="en-US" sz="1100" err="1">
                <a:solidFill>
                  <a:schemeClr val="bg1"/>
                </a:solidFill>
              </a:rPr>
              <a:t>세트지</a:t>
            </a:r>
            <a:r>
              <a:rPr lang="ko-KR" altLang="en-US" sz="1100">
                <a:solidFill>
                  <a:schemeClr val="bg1"/>
                </a:solidFill>
              </a:rPr>
              <a:t> 단위로 평가할 수 있음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문제에 대한 피드백을 수집하여 문제를 개선하는데 활용함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문제에 대한 피드백을 </a:t>
            </a:r>
            <a:r>
              <a:rPr lang="en-US" altLang="ko-KR" sz="1100">
                <a:solidFill>
                  <a:schemeClr val="bg1"/>
                </a:solidFill>
              </a:rPr>
              <a:t>ai</a:t>
            </a:r>
            <a:r>
              <a:rPr lang="ko-KR" altLang="en-US" sz="1100">
                <a:solidFill>
                  <a:schemeClr val="bg1"/>
                </a:solidFill>
              </a:rPr>
              <a:t> 문항 개선에 활용함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CC94D13-24A2-1814-84A3-A8C8DEE6FB44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006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AC4E-9F83-5DC2-654C-A6759805B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80AA888-DB99-2442-8BB3-CA919884C748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45A912-5A2C-5425-BBC0-6CB74D296E2F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D98CEA1-21D8-DDDD-E051-A4C078465E46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F091B0F-4FB9-12AD-85F2-C41C6019A4C5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942073-FA90-FBEE-3CCD-50D607CED41A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FAE33A-F2D7-37DF-A636-89870D2C6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47" y="724504"/>
            <a:ext cx="9617546" cy="5409870"/>
          </a:xfrm>
          <a:prstGeom prst="rect">
            <a:avLst/>
          </a:prstGeom>
        </p:spPr>
      </p:pic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DB8A7886-9961-2B3B-1DD1-6BFB90DA2A32}"/>
              </a:ext>
            </a:extLst>
          </p:cNvPr>
          <p:cNvSpPr/>
          <p:nvPr/>
        </p:nvSpPr>
        <p:spPr>
          <a:xfrm rot="8100000">
            <a:off x="10108616" y="3782685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8BAF48F-CA91-49AC-1FB0-028D7368F814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한 번 확인한 문제는 제목이 진하게 표시됨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선택을 누르면 화면이 닫힘</a:t>
            </a:r>
            <a:endParaRPr lang="en-US" altLang="ko-KR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822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0877E-4C0F-0636-4EA7-9EE023DCB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F428CB1-E9F5-EFE1-3823-41B1013FDF96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6881EF-EF8D-CD34-18C3-21DB517DDFDC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B878E5-CE64-D57A-AA8A-B2A04EE2650B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0F8E68C-3EC3-E72C-4BAA-AC893758B369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A5FCBF-6D04-B10A-2F81-E0183A8EF809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11A59CE-7EE4-E9BE-1B59-12C5A82E9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85" y="723626"/>
            <a:ext cx="9619107" cy="5410748"/>
          </a:xfrm>
          <a:prstGeom prst="rect">
            <a:avLst/>
          </a:prstGeom>
        </p:spPr>
      </p:pic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30B33FCA-BCA8-4797-F344-F8D7F6AD58FD}"/>
              </a:ext>
            </a:extLst>
          </p:cNvPr>
          <p:cNvSpPr/>
          <p:nvPr/>
        </p:nvSpPr>
        <p:spPr>
          <a:xfrm rot="8100000">
            <a:off x="7088970" y="5515792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E5DCC3E-B340-ABA8-0576-B4EBB879C82A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게임 만들기 버튼이 활성화 되고 애니메이션 됨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7C4D65-A389-C050-B045-04032ABEBDB7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851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A9254-0885-3363-2AE5-565EFF3CD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CF27C30-D90A-4EEC-F9B9-14F5F0919CAE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B7C689-A793-8C86-8F7E-2D68EA219C88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33BF6A0-2C25-5008-5934-7EFA0D99C348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A4D533-4A32-9273-0843-B5900F471F1D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3C3BD76-4562-495F-7403-EAB10462C4F6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E37E9122-52AA-A32C-8F5E-200313B88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894" y="723626"/>
            <a:ext cx="9633098" cy="5418618"/>
          </a:xfrm>
          <a:prstGeom prst="rect">
            <a:avLst/>
          </a:prstGeom>
        </p:spPr>
      </p:pic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194E0194-E0AF-9A1D-8E4D-2D80B4676AB2}"/>
              </a:ext>
            </a:extLst>
          </p:cNvPr>
          <p:cNvSpPr/>
          <p:nvPr/>
        </p:nvSpPr>
        <p:spPr>
          <a:xfrm rot="8100000">
            <a:off x="6695565" y="4771514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8B34539-57D2-8DE0-D219-2DDA3A40958F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QR </a:t>
            </a:r>
            <a:r>
              <a:rPr lang="ko-KR" altLang="en-US" sz="1100">
                <a:solidFill>
                  <a:schemeClr val="bg1"/>
                </a:solidFill>
              </a:rPr>
              <a:t>띄우기 버튼을 눌려 팝업을 출력함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1B985A4-997E-9BAC-D2C6-3DD4D113DAC4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605561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72184-AAD0-2EF6-8DD5-C204C4C8A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815010DC-67CB-4785-277F-FCC4825868D9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CF33496-9523-C446-162B-84AEEC9C17E5}"/>
              </a:ext>
            </a:extLst>
          </p:cNvPr>
          <p:cNvSpPr/>
          <p:nvPr/>
        </p:nvSpPr>
        <p:spPr>
          <a:xfrm>
            <a:off x="1335419" y="888086"/>
            <a:ext cx="5409125" cy="301020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DB71C5-D30D-66C7-8CF2-52CAE3E94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67" y="3276051"/>
            <a:ext cx="2691278" cy="252681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52F777C-1F69-6FAC-4D35-42EB29D53001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BEE7EC-0DE7-C482-5A23-2F3F43C668A4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01383E6-2372-E9AE-634F-3782FD5ABE50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492B00C-6B18-A1CA-B12F-1BB5D8E71E6B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DAF7126-8ACB-4B33-C6E5-27A6EA46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465" y="3716804"/>
            <a:ext cx="1972549" cy="110955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7327B237-2D94-7A6D-ABA5-EF7242EFDB16}"/>
              </a:ext>
            </a:extLst>
          </p:cNvPr>
          <p:cNvSpPr/>
          <p:nvPr/>
        </p:nvSpPr>
        <p:spPr>
          <a:xfrm>
            <a:off x="1436580" y="3970655"/>
            <a:ext cx="5169172" cy="38547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새 창으로 </a:t>
            </a:r>
            <a:r>
              <a:rPr lang="en-US" altLang="ko-KR" sz="1100">
                <a:solidFill>
                  <a:schemeClr val="bg1"/>
                </a:solidFill>
              </a:rPr>
              <a:t>QR </a:t>
            </a:r>
            <a:r>
              <a:rPr lang="ko-KR" altLang="en-US" sz="1100">
                <a:solidFill>
                  <a:schemeClr val="bg1"/>
                </a:solidFill>
              </a:rPr>
              <a:t>코드 출력 </a:t>
            </a:r>
            <a:r>
              <a:rPr lang="en-US" altLang="ko-KR" sz="1100">
                <a:solidFill>
                  <a:schemeClr val="bg1"/>
                </a:solidFill>
              </a:rPr>
              <a:t>(UNITY)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98095E4-70C7-E15B-621A-37C96CAED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580" y="986761"/>
            <a:ext cx="5169172" cy="281556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9A05C3F-A3C2-F100-C2DA-993C41B51E84}"/>
              </a:ext>
            </a:extLst>
          </p:cNvPr>
          <p:cNvSpPr/>
          <p:nvPr/>
        </p:nvSpPr>
        <p:spPr>
          <a:xfrm>
            <a:off x="7978365" y="5447634"/>
            <a:ext cx="2691279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선생님이 </a:t>
            </a:r>
            <a:r>
              <a:rPr lang="en-US" altLang="ko-KR" sz="1100">
                <a:solidFill>
                  <a:schemeClr val="bg1"/>
                </a:solidFill>
              </a:rPr>
              <a:t>QR</a:t>
            </a:r>
            <a:r>
              <a:rPr lang="ko-KR" altLang="en-US" sz="1100">
                <a:solidFill>
                  <a:schemeClr val="bg1"/>
                </a:solidFill>
              </a:rPr>
              <a:t>화면 띄우기를 누르는 상황 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97A313DD-1841-C9E0-DB30-1D1F5882FB89}"/>
              </a:ext>
            </a:extLst>
          </p:cNvPr>
          <p:cNvSpPr/>
          <p:nvPr/>
        </p:nvSpPr>
        <p:spPr>
          <a:xfrm rot="12600000">
            <a:off x="6986881" y="3644210"/>
            <a:ext cx="917275" cy="210616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0BE746D-EF15-4D5B-B838-1F37ABBFEE97}"/>
              </a:ext>
            </a:extLst>
          </p:cNvPr>
          <p:cNvSpPr/>
          <p:nvPr/>
        </p:nvSpPr>
        <p:spPr>
          <a:xfrm>
            <a:off x="1335334" y="568452"/>
            <a:ext cx="1288003" cy="2302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교실 전자칠판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6FEFD067-35AE-9A8E-E531-E3E084654F11}"/>
              </a:ext>
            </a:extLst>
          </p:cNvPr>
          <p:cNvSpPr/>
          <p:nvPr/>
        </p:nvSpPr>
        <p:spPr>
          <a:xfrm>
            <a:off x="8295036" y="3365346"/>
            <a:ext cx="1288003" cy="2302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선생님 노트북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86A1B2-A433-D280-4914-112DBBCC5E1F}"/>
              </a:ext>
            </a:extLst>
          </p:cNvPr>
          <p:cNvSpPr/>
          <p:nvPr/>
        </p:nvSpPr>
        <p:spPr>
          <a:xfrm>
            <a:off x="7172679" y="3199417"/>
            <a:ext cx="722686" cy="2445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팝업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1DE5C25-6383-A4A4-8234-388F43010159}"/>
              </a:ext>
            </a:extLst>
          </p:cNvPr>
          <p:cNvSpPr/>
          <p:nvPr/>
        </p:nvSpPr>
        <p:spPr>
          <a:xfrm>
            <a:off x="3958671" y="0"/>
            <a:ext cx="124990" cy="8880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32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442AF-2414-A4E5-7876-6DC9BE10C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772BD5-F30C-F94D-12AC-D04206C757FE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7D42B9D-A21A-35D7-3C7E-7FC4A0982FBA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5926A2D-CDAA-8E61-835D-C1973185C722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E4569C-5344-EB04-EF5E-84C448EDD07F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B241CA-58DC-3218-7C89-EF8709320E76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494F29B-C382-6FA8-B3FD-9022377A5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88" y="723626"/>
            <a:ext cx="9619106" cy="541074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A4696B-8C11-A335-254E-31D7B1E7295C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QR </a:t>
            </a:r>
            <a:r>
              <a:rPr lang="ko-KR" altLang="en-US" sz="1100">
                <a:solidFill>
                  <a:schemeClr val="bg1"/>
                </a:solidFill>
              </a:rPr>
              <a:t>을 보고 학생들이 접속함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31B2745-6252-A685-2014-4DD518064FA1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877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232AE-0021-40AE-6BDC-7B60E193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CD522D9-D7FD-03BA-0177-5D2439658E0D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BE72B6-32E0-DCB8-2A89-7E5C323C7AA5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D66E74-2BAA-E6BA-6524-F83ADCC085D8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F8BB3E4-E9C0-AE26-3707-748D3AC8DC85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9657EFEF-D5FB-294A-E5B1-DA3E0430FA31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9EB95B5F-9EE1-C0B2-4B5C-66346ECE0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884" y="723627"/>
            <a:ext cx="9619107" cy="5410748"/>
          </a:xfrm>
          <a:prstGeom prst="rect">
            <a:avLst/>
          </a:prstGeom>
        </p:spPr>
      </p:pic>
      <p:sp>
        <p:nvSpPr>
          <p:cNvPr id="45" name="화살표: 아래쪽 44">
            <a:extLst>
              <a:ext uri="{FF2B5EF4-FFF2-40B4-BE49-F238E27FC236}">
                <a16:creationId xmlns:a16="http://schemas.microsoft.com/office/drawing/2014/main" id="{6DCA9F21-646A-C98A-71D2-18F86633122A}"/>
              </a:ext>
            </a:extLst>
          </p:cNvPr>
          <p:cNvSpPr/>
          <p:nvPr/>
        </p:nvSpPr>
        <p:spPr>
          <a:xfrm rot="8100000">
            <a:off x="9885333" y="3489257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C30F46E-1798-69B3-B685-37667B2DFF49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bg1"/>
                </a:solidFill>
              </a:rPr>
              <a:t>2</a:t>
            </a:r>
            <a:r>
              <a:rPr lang="ko-KR" altLang="en-US" sz="1100">
                <a:solidFill>
                  <a:schemeClr val="bg1"/>
                </a:solidFill>
              </a:rPr>
              <a:t>명 이상의  학생이 접속을 하면 게임시작 버튼이 활성화 됨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아이들이 하고 싶어 하는 게임은 하트의 숫자로 표시됨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96BA60E-E7B9-A0FB-67B3-55E460C767C2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68619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EF011-278D-9EF0-35AC-292196C5B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1F6D13B-EF29-152E-D445-64C841140C53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2C9798-0BB6-4938-D108-D9B6B83637B5}"/>
              </a:ext>
            </a:extLst>
          </p:cNvPr>
          <p:cNvSpPr/>
          <p:nvPr/>
        </p:nvSpPr>
        <p:spPr>
          <a:xfrm>
            <a:off x="1335419" y="888086"/>
            <a:ext cx="5409125" cy="301020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AD6E819-2EB5-2F08-CBDB-EBABBCEC8D9F}"/>
              </a:ext>
            </a:extLst>
          </p:cNvPr>
          <p:cNvSpPr/>
          <p:nvPr/>
        </p:nvSpPr>
        <p:spPr>
          <a:xfrm>
            <a:off x="1335334" y="568452"/>
            <a:ext cx="1288003" cy="2302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교실 전자칠판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3F5070F-2331-88CF-4EE3-2DF45848AD17}"/>
              </a:ext>
            </a:extLst>
          </p:cNvPr>
          <p:cNvSpPr/>
          <p:nvPr/>
        </p:nvSpPr>
        <p:spPr>
          <a:xfrm>
            <a:off x="3958671" y="0"/>
            <a:ext cx="124990" cy="8880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BDAEDEA-830D-0D30-51B1-6B27644B2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67" y="3276051"/>
            <a:ext cx="2691278" cy="252681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E1AACA-F8D8-09B2-DBAF-2B22F5D74917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8574897-885F-2652-704A-8156A039D3E6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1C0B1F-2831-20E1-53AA-F2FD3960845C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BA18E3B-11E7-5843-2D58-AE99521DC90D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AAA4B02-7BF5-A700-D695-BB6C5266C946}"/>
              </a:ext>
            </a:extLst>
          </p:cNvPr>
          <p:cNvSpPr/>
          <p:nvPr/>
        </p:nvSpPr>
        <p:spPr>
          <a:xfrm>
            <a:off x="1404598" y="3978970"/>
            <a:ext cx="5169172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아이들이 게임을 플레이하고 있는 화면을 볼 수 있다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D69B24D-35F3-8E6E-F1BF-8C53B4F6DFA0}"/>
              </a:ext>
            </a:extLst>
          </p:cNvPr>
          <p:cNvSpPr/>
          <p:nvPr/>
        </p:nvSpPr>
        <p:spPr>
          <a:xfrm>
            <a:off x="7978365" y="5447634"/>
            <a:ext cx="2691279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전체 학생들의 게임 플레이 현황</a:t>
            </a:r>
            <a:endParaRPr lang="en-US" altLang="ko-KR" sz="110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4453A3E-AE69-243B-1EF3-92354BEB5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579" y="1031653"/>
            <a:ext cx="5169173" cy="271146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A155CED-1864-3D40-78BB-6FF75052C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036" y="3684884"/>
            <a:ext cx="2046236" cy="120288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868777F-C82E-FF2A-5F5D-10A54D8849A8}"/>
              </a:ext>
            </a:extLst>
          </p:cNvPr>
          <p:cNvSpPr/>
          <p:nvPr/>
        </p:nvSpPr>
        <p:spPr>
          <a:xfrm>
            <a:off x="8295036" y="3365346"/>
            <a:ext cx="1288003" cy="2302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선생님 노트북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62F666EB-2BBC-989C-8BF8-DB7B67A6D38E}"/>
              </a:ext>
            </a:extLst>
          </p:cNvPr>
          <p:cNvSpPr/>
          <p:nvPr/>
        </p:nvSpPr>
        <p:spPr>
          <a:xfrm rot="12600000">
            <a:off x="6986881" y="3644210"/>
            <a:ext cx="917275" cy="210616"/>
          </a:xfrm>
          <a:prstGeom prst="rightArrow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B85B181-4C9D-3C76-D2AF-5FC7A1A449F8}"/>
              </a:ext>
            </a:extLst>
          </p:cNvPr>
          <p:cNvSpPr/>
          <p:nvPr/>
        </p:nvSpPr>
        <p:spPr>
          <a:xfrm>
            <a:off x="7172679" y="3199417"/>
            <a:ext cx="722686" cy="24456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팝업</a:t>
            </a:r>
            <a:endParaRPr lang="en-US" altLang="ko-KR" sz="11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92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E610-C97E-2E00-F967-E46880EB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5A8393E-AE31-8BD4-CACB-D88CB562A136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8531AA-264E-5661-975C-16120B7AD5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86" y="723626"/>
            <a:ext cx="9619106" cy="541074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EE8928D1-1E64-4A32-EB4C-91254B777835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598730D-31CE-823A-2384-DE3D18F5E607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ACDF922-7CFD-CC51-05AE-BE173CB87492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830F65-F063-F179-7025-1753C06789B4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4CF3F02D-3BD9-9ADA-81E5-E183CF0F3953}"/>
              </a:ext>
            </a:extLst>
          </p:cNvPr>
          <p:cNvSpPr/>
          <p:nvPr/>
        </p:nvSpPr>
        <p:spPr>
          <a:xfrm rot="8100000">
            <a:off x="3347726" y="3646653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553FE9-8F28-7E78-592E-1713A1941424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 풀이 데이터를 분석하여 </a:t>
            </a:r>
            <a:r>
              <a:rPr lang="ko-KR" altLang="en-US" sz="1100" err="1">
                <a:solidFill>
                  <a:schemeClr val="bg1"/>
                </a:solidFill>
              </a:rPr>
              <a:t>찍기의심</a:t>
            </a:r>
            <a:r>
              <a:rPr lang="en-US" altLang="ko-KR" sz="1100">
                <a:solidFill>
                  <a:schemeClr val="bg1"/>
                </a:solidFill>
              </a:rPr>
              <a:t>, </a:t>
            </a:r>
            <a:r>
              <a:rPr lang="ko-KR" altLang="en-US" sz="1100" err="1">
                <a:solidFill>
                  <a:schemeClr val="bg1"/>
                </a:solidFill>
              </a:rPr>
              <a:t>연속오답</a:t>
            </a:r>
            <a:r>
              <a:rPr lang="en-US" altLang="ko-KR" sz="1100">
                <a:solidFill>
                  <a:schemeClr val="bg1"/>
                </a:solidFill>
              </a:rPr>
              <a:t>,</a:t>
            </a:r>
            <a:r>
              <a:rPr lang="ko-KR" altLang="en-US" sz="1100">
                <a:solidFill>
                  <a:schemeClr val="bg1"/>
                </a:solidFill>
              </a:rPr>
              <a:t> 낮은 정답 등을 표시 해 줌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학생들이 문제를 풀어 나가는 상황을 실시간으로 </a:t>
            </a:r>
            <a:r>
              <a:rPr lang="en-US" altLang="ko-KR" sz="1100">
                <a:solidFill>
                  <a:schemeClr val="bg1"/>
                </a:solidFill>
              </a:rPr>
              <a:t>O X </a:t>
            </a:r>
            <a:r>
              <a:rPr lang="ko-KR" altLang="en-US" sz="1100">
                <a:solidFill>
                  <a:schemeClr val="bg1"/>
                </a:solidFill>
              </a:rPr>
              <a:t>로 표시해줌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종이 비행기에 메시지를 넣어 학생에게 전달할 수 있음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8271D1B-3571-3380-9E65-B7113AFFB82E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2858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ABA8-19F5-CF2C-F217-AB7F2238E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58B193C-3D7A-DC2E-B0EA-C11551650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44" y="724505"/>
            <a:ext cx="9617547" cy="540987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E3954A3-6C16-8CCF-FE94-B7F1CF3D1485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85B5C5B-2925-AC99-923F-16A4C8E7E229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ED94F2D-0929-9B10-D577-4A77E47E3410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34E753-F643-30F0-A41A-3A8B249B489B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BDC5E423-04C1-8885-99B6-E358452EC269}"/>
              </a:ext>
            </a:extLst>
          </p:cNvPr>
          <p:cNvSpPr/>
          <p:nvPr/>
        </p:nvSpPr>
        <p:spPr>
          <a:xfrm rot="8100000">
            <a:off x="9120897" y="5115624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E05A0-5363-5344-B5FD-48860E4D6837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err="1">
                <a:solidFill>
                  <a:schemeClr val="bg1"/>
                </a:solidFill>
              </a:rPr>
              <a:t>이모티콘을</a:t>
            </a:r>
            <a:r>
              <a:rPr lang="ko-KR" altLang="en-US" sz="1100">
                <a:solidFill>
                  <a:schemeClr val="bg1"/>
                </a:solidFill>
              </a:rPr>
              <a:t> 선택하고 메시지를 선택하면 학생에게 응원 메시지를 보낼 수 있음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학생들에게 선생님이 보낸 응원 메시지는 상단 게임 플레이 화면에 출력됨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 err="1">
                <a:solidFill>
                  <a:schemeClr val="bg1"/>
                </a:solidFill>
              </a:rPr>
              <a:t>이모티콘은</a:t>
            </a:r>
            <a:r>
              <a:rPr lang="ko-KR" altLang="en-US" sz="1100">
                <a:solidFill>
                  <a:schemeClr val="bg1"/>
                </a:solidFill>
              </a:rPr>
              <a:t> 차후에 선생님이 캐릭터를 선택할 수 있도록 개선할 예정 </a:t>
            </a:r>
            <a:r>
              <a:rPr lang="en-US" altLang="ko-KR" sz="1100">
                <a:solidFill>
                  <a:schemeClr val="bg1"/>
                </a:solidFill>
              </a:rPr>
              <a:t>(</a:t>
            </a:r>
            <a:r>
              <a:rPr lang="ko-KR" altLang="en-US" sz="1100">
                <a:solidFill>
                  <a:schemeClr val="bg1"/>
                </a:solidFill>
              </a:rPr>
              <a:t>메시지 직접 입력 추가 중</a:t>
            </a:r>
            <a:r>
              <a:rPr lang="en-US" altLang="ko-KR" sz="110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98F299-530A-E5F1-3B02-ECCC77BDB684}"/>
              </a:ext>
            </a:extLst>
          </p:cNvPr>
          <p:cNvSpPr/>
          <p:nvPr/>
        </p:nvSpPr>
        <p:spPr>
          <a:xfrm>
            <a:off x="2608815" y="2078780"/>
            <a:ext cx="7046743" cy="17564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93031AE-18D0-AE61-C37B-3470AE975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8306" y="2488294"/>
            <a:ext cx="1002658" cy="11997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D1925DC-7124-43EB-D92A-2E456244A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444" y="2488294"/>
            <a:ext cx="994717" cy="11997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2C5D1026-A223-4CC6-2014-1BD3CEDBA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81829" y="2488294"/>
            <a:ext cx="1066302" cy="119978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4E004ABE-7A34-6CEA-6D75-A090FFC1F9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7024" y="2488294"/>
            <a:ext cx="923703" cy="1199786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3FDA090-7470-6953-D49F-977F020A37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3489" y="2488294"/>
            <a:ext cx="928648" cy="119978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D2A85D6-B1C5-8480-0741-7D1991106100}"/>
              </a:ext>
            </a:extLst>
          </p:cNvPr>
          <p:cNvSpPr txBox="1"/>
          <p:nvPr/>
        </p:nvSpPr>
        <p:spPr>
          <a:xfrm>
            <a:off x="5643607" y="2178443"/>
            <a:ext cx="9585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j-ea"/>
                <a:ea typeface="+mj-ea"/>
              </a:rPr>
              <a:t>한 게임 더</a:t>
            </a:r>
            <a:r>
              <a:rPr lang="en-US" altLang="ko-KR" sz="1100" b="1">
                <a:solidFill>
                  <a:schemeClr val="tx1"/>
                </a:solidFill>
                <a:latin typeface="+mj-ea"/>
                <a:ea typeface="+mj-ea"/>
              </a:rPr>
              <a:t>?</a:t>
            </a:r>
            <a:endParaRPr lang="ko-KR" altLang="en-US" sz="1100" b="1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E52EA575-D431-17FF-2EF0-E42EC009AA08}"/>
              </a:ext>
            </a:extLst>
          </p:cNvPr>
          <p:cNvSpPr/>
          <p:nvPr/>
        </p:nvSpPr>
        <p:spPr>
          <a:xfrm>
            <a:off x="5545461" y="2115494"/>
            <a:ext cx="1170835" cy="1683008"/>
          </a:xfrm>
          <a:prstGeom prst="roundRect">
            <a:avLst/>
          </a:prstGeom>
          <a:noFill/>
          <a:ln w="9525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309AE7E-E4EB-79AB-F6CB-8E1B9F925652}"/>
              </a:ext>
            </a:extLst>
          </p:cNvPr>
          <p:cNvSpPr/>
          <p:nvPr/>
        </p:nvSpPr>
        <p:spPr>
          <a:xfrm>
            <a:off x="4087512" y="2115494"/>
            <a:ext cx="1170835" cy="1683008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E89D715-62F7-444F-CC73-99C0E48100C9}"/>
              </a:ext>
            </a:extLst>
          </p:cNvPr>
          <p:cNvSpPr/>
          <p:nvPr/>
        </p:nvSpPr>
        <p:spPr>
          <a:xfrm>
            <a:off x="2629563" y="2115494"/>
            <a:ext cx="1170835" cy="1683008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DCBC53A2-3883-C729-B2A9-246381A2DA97}"/>
              </a:ext>
            </a:extLst>
          </p:cNvPr>
          <p:cNvSpPr/>
          <p:nvPr/>
        </p:nvSpPr>
        <p:spPr>
          <a:xfrm>
            <a:off x="7003410" y="2115494"/>
            <a:ext cx="1170835" cy="1683008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DBD172EA-FAC2-BB86-915E-623787BA4830}"/>
              </a:ext>
            </a:extLst>
          </p:cNvPr>
          <p:cNvSpPr/>
          <p:nvPr/>
        </p:nvSpPr>
        <p:spPr>
          <a:xfrm>
            <a:off x="8461360" y="2115494"/>
            <a:ext cx="1170835" cy="1683008"/>
          </a:xfrm>
          <a:prstGeom prst="roundRect">
            <a:avLst/>
          </a:prstGeom>
          <a:noFill/>
          <a:ln w="952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10D486-6851-43D6-DB15-8E047361DEDB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8439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99E07-AF8D-971C-3927-AA380B251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B12419-AB14-7173-A323-D3D1168C988E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F0A8242-E3FA-5CBB-E330-9F805DBD1577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B5288D1-7AC3-D189-A80E-72FDC7F7CA41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D33BB44-8B32-A6C0-4649-285AE813CC19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B69008-6BDB-DA73-1827-B8021FBC7846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15223749-EA8B-08CE-8224-9892747C991E}"/>
              </a:ext>
            </a:extLst>
          </p:cNvPr>
          <p:cNvSpPr/>
          <p:nvPr/>
        </p:nvSpPr>
        <p:spPr>
          <a:xfrm rot="8100000">
            <a:off x="9640784" y="5281878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0C4790B-F4D6-7EC1-1833-2F319743827C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학생 개별로 이모티콘 메시지를 보낼 수도 있다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45973A8-DB19-4FB8-EAEB-5F6B626B7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155" y="950605"/>
            <a:ext cx="9449685" cy="4956789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9AC871A6-E4F1-DB9A-8142-2475CC7400AB}"/>
              </a:ext>
            </a:extLst>
          </p:cNvPr>
          <p:cNvGrpSpPr/>
          <p:nvPr/>
        </p:nvGrpSpPr>
        <p:grpSpPr>
          <a:xfrm>
            <a:off x="1581356" y="1273832"/>
            <a:ext cx="2007663" cy="2169574"/>
            <a:chOff x="1420145" y="1416082"/>
            <a:chExt cx="1880958" cy="203265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CFAC5E-B72C-FA6E-D979-CEEC862510A0}"/>
                </a:ext>
              </a:extLst>
            </p:cNvPr>
            <p:cNvSpPr txBox="1"/>
            <p:nvPr/>
          </p:nvSpPr>
          <p:spPr>
            <a:xfrm>
              <a:off x="1663909" y="1416082"/>
              <a:ext cx="1282793" cy="3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800" b="1">
                  <a:solidFill>
                    <a:schemeClr val="bg1"/>
                  </a:solidFill>
                  <a:latin typeface="+mj-ea"/>
                  <a:ea typeface="+mj-ea"/>
                </a:rPr>
                <a:t>한 게임 더</a:t>
              </a:r>
              <a:r>
                <a:rPr lang="en-US" altLang="ko-KR" sz="1800" b="1">
                  <a:solidFill>
                    <a:schemeClr val="bg1"/>
                  </a:solidFill>
                  <a:latin typeface="+mj-ea"/>
                  <a:ea typeface="+mj-ea"/>
                </a:rPr>
                <a:t>?</a:t>
              </a:r>
              <a:endParaRPr lang="ko-KR" altLang="en-US" sz="18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  <p:pic>
          <p:nvPicPr>
            <p:cNvPr id="36" name="그림 35">
              <a:extLst>
                <a:ext uri="{FF2B5EF4-FFF2-40B4-BE49-F238E27FC236}">
                  <a16:creationId xmlns:a16="http://schemas.microsoft.com/office/drawing/2014/main" id="{0632ECD9-21D8-88A4-FB2A-8738D90B6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37266"/>
            <a:stretch>
              <a:fillRect/>
            </a:stretch>
          </p:blipFill>
          <p:spPr>
            <a:xfrm>
              <a:off x="1420145" y="1924212"/>
              <a:ext cx="1880958" cy="1524521"/>
            </a:xfrm>
            <a:prstGeom prst="rect">
              <a:avLst/>
            </a:prstGeom>
          </p:spPr>
        </p:pic>
      </p:grp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C21EC50C-BC4A-EF46-A3D2-5E761582B00C}"/>
              </a:ext>
            </a:extLst>
          </p:cNvPr>
          <p:cNvSpPr/>
          <p:nvPr/>
        </p:nvSpPr>
        <p:spPr>
          <a:xfrm>
            <a:off x="999014" y="2909790"/>
            <a:ext cx="744279" cy="314793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528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CA0C0-F36B-09FC-18EA-FE720B6A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86DF9CF-4603-BC37-EE08-12052D1159A6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7611ECE-6C85-7823-6E72-7EA771ACD227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C56173E-A814-B0DF-C17F-E6CC64F47FBA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AD09DCE-CF0C-F2CC-7DC7-0F3254FD5867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DBECBB6-6A86-9BB7-8991-DDF29C52D1DB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DA95586-EF6E-59C5-4B3C-3F046AD08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86" y="723627"/>
            <a:ext cx="9619106" cy="5410748"/>
          </a:xfrm>
          <a:prstGeom prst="rect">
            <a:avLst/>
          </a:prstGeom>
        </p:spPr>
      </p:pic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53C62E6C-C0D9-BFE5-3390-9A7CCAB8B56E}"/>
              </a:ext>
            </a:extLst>
          </p:cNvPr>
          <p:cNvSpPr/>
          <p:nvPr/>
        </p:nvSpPr>
        <p:spPr>
          <a:xfrm rot="8100000">
            <a:off x="9343071" y="1284035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5D5483-14AD-248E-FD7E-40DA8A9D8265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전체 이모티콘 메시지 보내기가 가능함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문제를 분석하기 위해서는 문제 분석 버튼을 누르면 됨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796F51D0-0D7F-F4D8-6795-72409C2430C6}"/>
              </a:ext>
            </a:extLst>
          </p:cNvPr>
          <p:cNvSpPr/>
          <p:nvPr/>
        </p:nvSpPr>
        <p:spPr>
          <a:xfrm rot="8100000">
            <a:off x="3395496" y="5735836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857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CCBDF-9B6D-A797-7929-EAA83176B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93932AF1-803B-CA98-DC99-FEE533288874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3933120-5A88-B4B7-406B-EC5B64EC31AF}"/>
              </a:ext>
            </a:extLst>
          </p:cNvPr>
          <p:cNvSpPr/>
          <p:nvPr/>
        </p:nvSpPr>
        <p:spPr>
          <a:xfrm>
            <a:off x="1335419" y="888086"/>
            <a:ext cx="5409125" cy="301020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1292E41-9CB6-DE79-6DB2-A07A55A8FB0B}"/>
              </a:ext>
            </a:extLst>
          </p:cNvPr>
          <p:cNvSpPr/>
          <p:nvPr/>
        </p:nvSpPr>
        <p:spPr>
          <a:xfrm>
            <a:off x="1335334" y="568452"/>
            <a:ext cx="1288003" cy="2302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교실 전자칠판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9961BF0-B0E3-09FE-BD81-E4D2BAE02E49}"/>
              </a:ext>
            </a:extLst>
          </p:cNvPr>
          <p:cNvSpPr/>
          <p:nvPr/>
        </p:nvSpPr>
        <p:spPr>
          <a:xfrm>
            <a:off x="3958671" y="0"/>
            <a:ext cx="124990" cy="8880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BBCB993-78F1-79CB-7A8A-C179B4297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67" y="3276051"/>
            <a:ext cx="2691278" cy="252681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85FEC89-BF6A-42D2-43B3-55A828159510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22F8A3-96EC-D0BC-8CA8-27ECD3D6A02A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1C2EFB-8B86-9258-6754-5C25FBD2F959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5A80F2D-D5FC-C2D6-0A2F-AD207053D574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0C85850-2E22-222D-2EE1-6811FCA4D229}"/>
              </a:ext>
            </a:extLst>
          </p:cNvPr>
          <p:cNvSpPr/>
          <p:nvPr/>
        </p:nvSpPr>
        <p:spPr>
          <a:xfrm>
            <a:off x="1404598" y="3978970"/>
            <a:ext cx="5169172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아이들이 게임을 플레이하고 있는 화면을 볼 수 있다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B5FFF2E-FA17-7E49-0C1A-C245DCD921AE}"/>
              </a:ext>
            </a:extLst>
          </p:cNvPr>
          <p:cNvSpPr/>
          <p:nvPr/>
        </p:nvSpPr>
        <p:spPr>
          <a:xfrm>
            <a:off x="7978365" y="5447634"/>
            <a:ext cx="2691279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전체 학생들의 게임 플레이 현황</a:t>
            </a:r>
            <a:endParaRPr lang="en-US" altLang="ko-KR" sz="1100">
              <a:solidFill>
                <a:schemeClr val="bg1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E40E37B-5159-B78D-3BAC-FF9406B3D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579" y="1031653"/>
            <a:ext cx="5169173" cy="271146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3A93332-1A90-7E21-2979-36873A38D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036" y="3684884"/>
            <a:ext cx="2046236" cy="1202880"/>
          </a:xfrm>
          <a:prstGeom prst="rect">
            <a:avLst/>
          </a:prstGeom>
        </p:spPr>
      </p:pic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13C2AD8-A8E2-6273-2EF5-93CE76DCDEAA}"/>
              </a:ext>
            </a:extLst>
          </p:cNvPr>
          <p:cNvSpPr/>
          <p:nvPr/>
        </p:nvSpPr>
        <p:spPr>
          <a:xfrm>
            <a:off x="8295036" y="3365346"/>
            <a:ext cx="1288003" cy="230244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/>
              <a:t>선생님 노트북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B66392B5-9EA9-8502-1770-CC78AC8D17C7}"/>
              </a:ext>
            </a:extLst>
          </p:cNvPr>
          <p:cNvGrpSpPr/>
          <p:nvPr/>
        </p:nvGrpSpPr>
        <p:grpSpPr>
          <a:xfrm>
            <a:off x="1498815" y="1027374"/>
            <a:ext cx="1320585" cy="1360012"/>
            <a:chOff x="1475955" y="1064066"/>
            <a:chExt cx="2296373" cy="2364933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A6DD0D92-1B3D-9CB8-5962-AF28D2FCA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36111"/>
            <a:stretch>
              <a:fillRect/>
            </a:stretch>
          </p:blipFill>
          <p:spPr>
            <a:xfrm>
              <a:off x="1475955" y="1546859"/>
              <a:ext cx="2296373" cy="188214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0A3228B-6F8E-DFBB-CFA9-9C47675AB32A}"/>
                </a:ext>
              </a:extLst>
            </p:cNvPr>
            <p:cNvSpPr txBox="1"/>
            <p:nvPr/>
          </p:nvSpPr>
          <p:spPr>
            <a:xfrm>
              <a:off x="1795964" y="1064066"/>
              <a:ext cx="1656353" cy="4816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200" b="1" err="1">
                  <a:solidFill>
                    <a:schemeClr val="bg1"/>
                  </a:solidFill>
                  <a:latin typeface="+mj-ea"/>
                  <a:ea typeface="+mj-ea"/>
                </a:rPr>
                <a:t>잘했어</a:t>
              </a:r>
              <a:r>
                <a:rPr lang="en-US" altLang="ko-KR" sz="1200" b="1">
                  <a:solidFill>
                    <a:schemeClr val="bg1"/>
                  </a:solidFill>
                  <a:latin typeface="+mj-ea"/>
                  <a:ea typeface="+mj-ea"/>
                </a:rPr>
                <a:t>!</a:t>
              </a:r>
              <a:endParaRPr lang="ko-KR" altLang="en-US" sz="1200" b="1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1050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466C7-C670-39A8-800C-FB4A7BF8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36B29D2-FEB7-C9A6-B480-1B9444E7A8DC}"/>
              </a:ext>
            </a:extLst>
          </p:cNvPr>
          <p:cNvSpPr/>
          <p:nvPr/>
        </p:nvSpPr>
        <p:spPr>
          <a:xfrm>
            <a:off x="0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A3B9A7-5E67-DA16-3CF8-7ACAE7628600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D96F48-778C-5235-4C89-9D90633EA768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0A7C74-DA3C-8F79-AFDF-866F5E088E15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27BED5-55CE-1D79-E834-EDE1099F1075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5068C31-A4E6-94EE-A43E-C5A9F72F4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86" y="723626"/>
            <a:ext cx="9619108" cy="5410748"/>
          </a:xfrm>
          <a:prstGeom prst="rect">
            <a:avLst/>
          </a:prstGeom>
        </p:spPr>
      </p:pic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54F5059B-FD1E-BC10-A6CA-81A561E2A9A5}"/>
              </a:ext>
            </a:extLst>
          </p:cNvPr>
          <p:cNvSpPr/>
          <p:nvPr/>
        </p:nvSpPr>
        <p:spPr>
          <a:xfrm rot="8100000">
            <a:off x="9683314" y="1092650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80806D9-EA00-6840-CC4C-8FF434554A1F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해당 문제의 </a:t>
            </a:r>
            <a:r>
              <a:rPr lang="ko-KR" altLang="en-US" sz="1100" err="1">
                <a:solidFill>
                  <a:schemeClr val="bg1"/>
                </a:solidFill>
              </a:rPr>
              <a:t>정답률</a:t>
            </a:r>
            <a:r>
              <a:rPr lang="en-US" altLang="ko-KR" sz="1100">
                <a:solidFill>
                  <a:schemeClr val="bg1"/>
                </a:solidFill>
              </a:rPr>
              <a:t>, </a:t>
            </a:r>
            <a:r>
              <a:rPr lang="ko-KR" altLang="en-US" sz="1100">
                <a:solidFill>
                  <a:schemeClr val="bg1"/>
                </a:solidFill>
              </a:rPr>
              <a:t>틀린 학생의 이름</a:t>
            </a:r>
            <a:r>
              <a:rPr lang="en-US" altLang="ko-KR" sz="1100">
                <a:solidFill>
                  <a:schemeClr val="bg1"/>
                </a:solidFill>
              </a:rPr>
              <a:t>, </a:t>
            </a:r>
            <a:r>
              <a:rPr lang="ko-KR" altLang="en-US" sz="1100">
                <a:solidFill>
                  <a:schemeClr val="bg1"/>
                </a:solidFill>
              </a:rPr>
              <a:t>평균 문제 풀이 시간을 볼 수 있음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 err="1">
                <a:solidFill>
                  <a:schemeClr val="bg1"/>
                </a:solidFill>
              </a:rPr>
              <a:t>정답률이</a:t>
            </a:r>
            <a:r>
              <a:rPr lang="ko-KR" altLang="en-US" sz="1100">
                <a:solidFill>
                  <a:schemeClr val="bg1"/>
                </a:solidFill>
              </a:rPr>
              <a:t> </a:t>
            </a:r>
            <a:r>
              <a:rPr lang="en-US" altLang="ko-KR" sz="1100">
                <a:solidFill>
                  <a:schemeClr val="bg1"/>
                </a:solidFill>
              </a:rPr>
              <a:t>80</a:t>
            </a:r>
            <a:r>
              <a:rPr lang="ko-KR" altLang="en-US" sz="1100">
                <a:solidFill>
                  <a:schemeClr val="bg1"/>
                </a:solidFill>
              </a:rPr>
              <a:t>이상이면 정상</a:t>
            </a:r>
            <a:r>
              <a:rPr lang="en-US" altLang="ko-KR" sz="1100">
                <a:solidFill>
                  <a:schemeClr val="bg1"/>
                </a:solidFill>
              </a:rPr>
              <a:t>, 70~79</a:t>
            </a:r>
            <a:r>
              <a:rPr lang="ko-KR" altLang="en-US" sz="1100">
                <a:solidFill>
                  <a:schemeClr val="bg1"/>
                </a:solidFill>
              </a:rPr>
              <a:t>이면 주의</a:t>
            </a:r>
            <a:r>
              <a:rPr lang="en-US" altLang="ko-KR" sz="1100">
                <a:solidFill>
                  <a:schemeClr val="bg1"/>
                </a:solidFill>
              </a:rPr>
              <a:t>,69</a:t>
            </a:r>
            <a:r>
              <a:rPr lang="ko-KR" altLang="en-US" sz="1100">
                <a:solidFill>
                  <a:schemeClr val="bg1"/>
                </a:solidFill>
              </a:rPr>
              <a:t>이하이면 위험으로 표시</a:t>
            </a:r>
            <a:endParaRPr lang="en-US" altLang="ko-KR" sz="1100">
              <a:solidFill>
                <a:schemeClr val="bg1"/>
              </a:solidFill>
            </a:endParaRP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문제를 확인한 후 오답신고나 문제 평가로 선생님의 의견을 전달 할 수 있음</a:t>
            </a:r>
            <a:endParaRPr lang="en-US" altLang="ko-KR" sz="110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F43A029-3DAA-6B9B-4894-EB0671591212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1564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648F1-5D26-ACC6-375E-1629CEFCF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2505D4-7FC6-0B55-9E00-C925C160816D}"/>
              </a:ext>
            </a:extLst>
          </p:cNvPr>
          <p:cNvSpPr/>
          <p:nvPr/>
        </p:nvSpPr>
        <p:spPr>
          <a:xfrm>
            <a:off x="-1" y="314793"/>
            <a:ext cx="12191999" cy="65432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D3DE311-84ED-1760-052D-D204DE0533E0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DDECE8-CBFE-2F95-24AB-0EBB74B6501A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선생님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82B036-CD88-C2B5-3720-803E13FB1083}"/>
              </a:ext>
            </a:extLst>
          </p:cNvPr>
          <p:cNvSpPr txBox="1"/>
          <p:nvPr/>
        </p:nvSpPr>
        <p:spPr>
          <a:xfrm>
            <a:off x="3048549" y="2901783"/>
            <a:ext cx="609490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>
                <a:solidFill>
                  <a:schemeClr val="bg1"/>
                </a:solidFill>
              </a:rPr>
              <a:t>메인 플로우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C8B899-938E-0FE7-48A3-41E34701711E}"/>
              </a:ext>
            </a:extLst>
          </p:cNvPr>
          <p:cNvSpPr txBox="1"/>
          <p:nvPr/>
        </p:nvSpPr>
        <p:spPr>
          <a:xfrm>
            <a:off x="3048549" y="3656163"/>
            <a:ext cx="60949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(</a:t>
            </a:r>
            <a:r>
              <a:rPr lang="ko-KR" altLang="en-US" sz="2400">
                <a:solidFill>
                  <a:schemeClr val="bg1"/>
                </a:solidFill>
              </a:rPr>
              <a:t>학생 화면</a:t>
            </a:r>
            <a:r>
              <a:rPr lang="en-US" altLang="ko-KR" sz="2400">
                <a:solidFill>
                  <a:schemeClr val="bg1"/>
                </a:solidFill>
              </a:rPr>
              <a:t>_</a:t>
            </a:r>
            <a:r>
              <a:rPr lang="ko-KR" altLang="en-US" sz="2400">
                <a:solidFill>
                  <a:schemeClr val="bg1"/>
                </a:solidFill>
              </a:rPr>
              <a:t>게스트 계정</a:t>
            </a:r>
            <a:r>
              <a:rPr lang="en-US" altLang="ko-KR" sz="2400">
                <a:solidFill>
                  <a:schemeClr val="bg1"/>
                </a:solidFill>
              </a:rPr>
              <a:t>)</a:t>
            </a:r>
            <a:endParaRPr lang="ko-KR" altLang="en-US" sz="24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66C78-8087-F137-FBBE-C44722215A71}"/>
              </a:ext>
            </a:extLst>
          </p:cNvPr>
          <p:cNvSpPr txBox="1"/>
          <p:nvPr/>
        </p:nvSpPr>
        <p:spPr>
          <a:xfrm>
            <a:off x="3609975" y="2362846"/>
            <a:ext cx="475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FF00"/>
                </a:solidFill>
              </a:rPr>
              <a:t>260407 </a:t>
            </a:r>
            <a:r>
              <a:rPr lang="ko-KR" altLang="en-US" b="1">
                <a:solidFill>
                  <a:srgbClr val="FFFF00"/>
                </a:solidFill>
              </a:rPr>
              <a:t>기준 게임 </a:t>
            </a:r>
            <a:r>
              <a:rPr lang="en-US" altLang="ko-KR" b="1">
                <a:solidFill>
                  <a:srgbClr val="FFFF00"/>
                </a:solidFill>
              </a:rPr>
              <a:t>Cell </a:t>
            </a:r>
            <a:r>
              <a:rPr lang="ko-KR" altLang="en-US" b="1">
                <a:solidFill>
                  <a:srgbClr val="FFFF00"/>
                </a:solidFill>
              </a:rPr>
              <a:t>최신 기획안</a:t>
            </a:r>
          </a:p>
        </p:txBody>
      </p:sp>
    </p:spTree>
    <p:extLst>
      <p:ext uri="{BB962C8B-B14F-4D97-AF65-F5344CB8AC3E}">
        <p14:creationId xmlns:p14="http://schemas.microsoft.com/office/powerpoint/2010/main" val="33248942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CAB97-DF1E-04E6-6FAC-E2B5DDDAC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6BB0573-1CD6-DE29-A5B1-C9F0954B32E1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EC63721-C9CF-C9FE-0036-90F5F0675A8E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2FC9B5-8515-0EA7-4F55-659E3C7D7B84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A18FC7-DB3F-AA68-1F18-010AE6B4CA85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F02395-0959-0C45-8C80-37B76F4C1F72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웹 페이지를 즐겨찾기 해 놓으면 방코드만 넣으면 바로 입장 가능하다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D28657A-3E7F-7AEB-EB17-23BFD5DA6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84" y="723626"/>
            <a:ext cx="9619108" cy="541074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5539776-70FE-E216-D088-13FC0BF6C542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45901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722F3-6319-1391-B264-7E435F309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33C3D6D-C88E-B30C-AE7E-0B1E54ECE03C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217B21-C867-D21E-A9E8-8A7293016F12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BF933C-3A8D-D67F-1C58-B02EB39C31EF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5FFF9DF-CE82-243F-B11A-2E1A44DE9750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4D3972-D440-36FC-EDA1-87805B8F9038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캐릭터를 선택하고 내가 사용할 이름을 넣는다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421778-70BA-5720-C944-38725219F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03" y="723626"/>
            <a:ext cx="9615989" cy="5408994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06196839-873A-D3CF-0683-E80D8D24B069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96785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89145E-530B-9588-9C2E-6C7DFF9E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F428F1BE-1DEA-ED12-6C34-E027A5EA50DE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B64C9C-A1A1-0576-EB8B-59CE1C8ACBD2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48D26A-ECC4-4071-24F6-71DCBD83D701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537C2C5-3696-7D3A-024A-16F571BAB929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03511CA-6792-23D7-032A-8DE40A7F903F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하고싶은 게임에 투표할 수 있다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캐릭터를 고르거나 이름을 입력하는 친구도 입장한 학생으로 표시 되고 선태 중으로 표시 된다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214AFD-B735-4E9F-C6BF-514B4052F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447" y="724504"/>
            <a:ext cx="9617546" cy="5409870"/>
          </a:xfrm>
          <a:prstGeom prst="rect">
            <a:avLst/>
          </a:prstGeom>
        </p:spPr>
      </p:pic>
      <p:sp>
        <p:nvSpPr>
          <p:cNvPr id="2" name="하트 1">
            <a:extLst>
              <a:ext uri="{FF2B5EF4-FFF2-40B4-BE49-F238E27FC236}">
                <a16:creationId xmlns:a16="http://schemas.microsoft.com/office/drawing/2014/main" id="{7E057F71-2ABC-C36B-E11E-D7892933EC59}"/>
              </a:ext>
            </a:extLst>
          </p:cNvPr>
          <p:cNvSpPr/>
          <p:nvPr/>
        </p:nvSpPr>
        <p:spPr>
          <a:xfrm>
            <a:off x="3094075" y="3115339"/>
            <a:ext cx="180753" cy="148856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하트 5">
            <a:extLst>
              <a:ext uri="{FF2B5EF4-FFF2-40B4-BE49-F238E27FC236}">
                <a16:creationId xmlns:a16="http://schemas.microsoft.com/office/drawing/2014/main" id="{9FDD61C0-2DE5-4F7B-6615-1FEFABD15282}"/>
              </a:ext>
            </a:extLst>
          </p:cNvPr>
          <p:cNvSpPr/>
          <p:nvPr/>
        </p:nvSpPr>
        <p:spPr>
          <a:xfrm>
            <a:off x="3120656" y="2905441"/>
            <a:ext cx="180753" cy="148856"/>
          </a:xfrm>
          <a:prstGeom prst="hear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2207FF3-9B30-CE0E-C945-AF8ED807AFA3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8408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BAF8B-669E-89AD-77DF-6C56FA89D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CB1A58A2-CF8F-411C-6A58-0D296D0C33A8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32CFC9-5F12-8BC0-D369-7419240F7249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549A06-F491-0D43-98BA-A901EB429682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68DAD0-F2CE-88CA-C37F-FDF341FC94B9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2570E8B-7A47-6DBA-0734-DA0BAC0A4E3F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대기 시간이 있고 게임 시작된다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DE0736-D157-EC84-4498-A83CBA9EA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86" y="723626"/>
            <a:ext cx="9619107" cy="5410748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27BBA842-5946-919D-0134-F21680F2868B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65112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19793-02A0-C11C-55F3-66D34908A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5C1EEEC-65E0-B117-C955-2A7B7199A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03" y="723626"/>
            <a:ext cx="9615990" cy="541074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C74840C-4858-F690-104C-B88F1A253A32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FD89B3-6616-5791-6021-70A685E07D52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23CECA3-9C24-A433-818B-DFA854D9B853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아래쪽 17">
            <a:extLst>
              <a:ext uri="{FF2B5EF4-FFF2-40B4-BE49-F238E27FC236}">
                <a16:creationId xmlns:a16="http://schemas.microsoft.com/office/drawing/2014/main" id="{C7362AFD-1E12-34ED-734F-561943D2039B}"/>
              </a:ext>
            </a:extLst>
          </p:cNvPr>
          <p:cNvSpPr/>
          <p:nvPr/>
        </p:nvSpPr>
        <p:spPr>
          <a:xfrm rot="8100000">
            <a:off x="9640784" y="5281878"/>
            <a:ext cx="310552" cy="33828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C7528F-66D1-01FC-7191-8A708623EFDA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게임을 진행한다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CEC32E8-58C1-F3E9-7E7B-804EF7D09262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</p:spTree>
    <p:extLst>
      <p:ext uri="{BB962C8B-B14F-4D97-AF65-F5344CB8AC3E}">
        <p14:creationId xmlns:p14="http://schemas.microsoft.com/office/powerpoint/2010/main" val="19346693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C3CE3-7C0A-8E08-E5C4-98D5F644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49B3C5F-5C61-E45F-4D1E-D03807901608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2867BC-2A37-2F2A-ACE8-9393E9AC56EF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E6D3223-9C74-9263-04C9-324C7B6EA4FD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6F977BC-DDB6-B012-FC16-C0F3FC5060E6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D38221-0839-4838-B190-1AF87671CD16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게임 결과에 따라서 다양한 캐릭터 카드를 받을 수 있다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노력 </a:t>
            </a:r>
            <a:r>
              <a:rPr lang="en-US" altLang="ko-KR" sz="1100">
                <a:solidFill>
                  <a:schemeClr val="bg1"/>
                </a:solidFill>
              </a:rPr>
              <a:t>/ </a:t>
            </a:r>
            <a:r>
              <a:rPr lang="ko-KR" altLang="en-US" sz="1100">
                <a:solidFill>
                  <a:schemeClr val="bg1"/>
                </a:solidFill>
              </a:rPr>
              <a:t>잘하고 있어 </a:t>
            </a:r>
            <a:r>
              <a:rPr lang="en-US" altLang="ko-KR" sz="1100">
                <a:solidFill>
                  <a:schemeClr val="bg1"/>
                </a:solidFill>
              </a:rPr>
              <a:t>/ </a:t>
            </a:r>
            <a:r>
              <a:rPr lang="ko-KR" altLang="en-US" sz="1100">
                <a:solidFill>
                  <a:schemeClr val="bg1"/>
                </a:solidFill>
              </a:rPr>
              <a:t>최고야 </a:t>
            </a:r>
            <a:r>
              <a:rPr lang="en-US" altLang="ko-KR" sz="1100">
                <a:solidFill>
                  <a:schemeClr val="bg1"/>
                </a:solidFill>
              </a:rPr>
              <a:t>/ </a:t>
            </a:r>
            <a:r>
              <a:rPr lang="ko-KR" altLang="en-US" sz="1100">
                <a:solidFill>
                  <a:schemeClr val="bg1"/>
                </a:solidFill>
              </a:rPr>
              <a:t>완벽해 등의 카드가 있다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ko-KR" altLang="en-US" sz="1100">
                <a:solidFill>
                  <a:schemeClr val="bg1"/>
                </a:solidFill>
                <a:ea typeface="맑은 고딕"/>
              </a:rPr>
              <a:t>선택한 캐릭터에 따라 다른 카드를 볼 수 있다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. </a:t>
            </a:r>
            <a:r>
              <a:rPr lang="en-US" altLang="ko-KR" sz="1100" err="1">
                <a:solidFill>
                  <a:schemeClr val="bg1"/>
                </a:solidFill>
                <a:ea typeface="맑은 고딕"/>
              </a:rPr>
              <a:t>카드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100" err="1">
                <a:solidFill>
                  <a:schemeClr val="bg1"/>
                </a:solidFill>
                <a:ea typeface="맑은 고딕"/>
              </a:rPr>
              <a:t>수집을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100" err="1">
                <a:solidFill>
                  <a:schemeClr val="bg1"/>
                </a:solidFill>
                <a:ea typeface="맑은 고딕"/>
              </a:rPr>
              <a:t>하기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100" err="1">
                <a:solidFill>
                  <a:schemeClr val="bg1"/>
                </a:solidFill>
                <a:ea typeface="맑은 고딕"/>
              </a:rPr>
              <a:t>위해서는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100" err="1">
                <a:solidFill>
                  <a:schemeClr val="bg1"/>
                </a:solidFill>
                <a:ea typeface="맑은 고딕"/>
              </a:rPr>
              <a:t>회원가입을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 </a:t>
            </a:r>
            <a:r>
              <a:rPr lang="en-US" altLang="ko-KR" sz="1100" err="1">
                <a:solidFill>
                  <a:schemeClr val="bg1"/>
                </a:solidFill>
                <a:ea typeface="맑은 고딕"/>
              </a:rPr>
              <a:t>해야한다</a:t>
            </a:r>
            <a:r>
              <a:rPr lang="en-US" altLang="ko-KR" sz="1100">
                <a:solidFill>
                  <a:schemeClr val="bg1"/>
                </a:solidFill>
                <a:ea typeface="맑은 고딕"/>
              </a:rPr>
              <a:t>.</a:t>
            </a:r>
            <a:endParaRPr lang="en-US" altLang="ko-KR" sz="1100">
              <a:solidFill>
                <a:schemeClr val="bg1"/>
              </a:solidFill>
              <a:ea typeface="맑은 고딕"/>
              <a:cs typeface="Arial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7CF05EC-8D5C-4F54-B07C-909C74F42437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5" name="그림 4" descr="텍스트, 만화 영화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9AB9CA9-FD10-E6BA-0C30-2C02D5DF2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389" y="724829"/>
            <a:ext cx="9617928" cy="540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47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AB9412-DCE9-BCE1-DEDA-E1E57BE9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E400C3EE-CECE-7845-5733-6AF47E593578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9DEBE7A-4BE6-3385-FB06-9CAE0F1BB6BA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6867895-074B-2770-805D-30E0E3269368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5214645-E724-ADD9-D62F-2024897049BA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21A14F-366C-E745-98CD-B939412D6B72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등수는 </a:t>
            </a:r>
            <a:r>
              <a:rPr lang="en-US" altLang="ko-KR" sz="1100">
                <a:solidFill>
                  <a:schemeClr val="bg1"/>
                </a:solidFill>
              </a:rPr>
              <a:t>5</a:t>
            </a:r>
            <a:r>
              <a:rPr lang="ko-KR" altLang="en-US" sz="1100">
                <a:solidFill>
                  <a:schemeClr val="bg1"/>
                </a:solidFill>
              </a:rPr>
              <a:t>등까지 보여준다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ko-KR" altLang="en-US" sz="1100" err="1">
                <a:solidFill>
                  <a:schemeClr val="bg1"/>
                </a:solidFill>
              </a:rPr>
              <a:t>팀전은</a:t>
            </a:r>
            <a:r>
              <a:rPr lang="ko-KR" altLang="en-US" sz="1100">
                <a:solidFill>
                  <a:schemeClr val="bg1"/>
                </a:solidFill>
              </a:rPr>
              <a:t> 이긴 팀원만 전원을 보여준다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ko-KR" altLang="en-US" sz="1100" err="1">
                <a:solidFill>
                  <a:schemeClr val="bg1"/>
                </a:solidFill>
              </a:rPr>
              <a:t>측하해</a:t>
            </a:r>
            <a:r>
              <a:rPr lang="ko-KR" altLang="en-US" sz="1100">
                <a:solidFill>
                  <a:schemeClr val="bg1"/>
                </a:solidFill>
              </a:rPr>
              <a:t> </a:t>
            </a:r>
            <a:r>
              <a:rPr lang="ko-KR" altLang="en-US" sz="1100" err="1">
                <a:solidFill>
                  <a:schemeClr val="bg1"/>
                </a:solidFill>
              </a:rPr>
              <a:t>잘했어</a:t>
            </a:r>
            <a:r>
              <a:rPr lang="ko-KR" altLang="en-US" sz="1100">
                <a:solidFill>
                  <a:schemeClr val="bg1"/>
                </a:solidFill>
              </a:rPr>
              <a:t> 버튼을 누르면 시상식 화면에 이름과 같이 표시 된다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  <a:p>
            <a:pPr algn="ctr"/>
            <a:r>
              <a:rPr lang="ko-KR" altLang="en-US" sz="1100">
                <a:solidFill>
                  <a:schemeClr val="bg1"/>
                </a:solidFill>
              </a:rPr>
              <a:t>축하해는 본인 이름이 표시되고 </a:t>
            </a:r>
            <a:r>
              <a:rPr lang="ko-KR" altLang="en-US" sz="1100" err="1">
                <a:solidFill>
                  <a:schemeClr val="bg1"/>
                </a:solidFill>
              </a:rPr>
              <a:t>잘했어는</a:t>
            </a:r>
            <a:r>
              <a:rPr lang="ko-KR" altLang="en-US" sz="1100">
                <a:solidFill>
                  <a:schemeClr val="bg1"/>
                </a:solidFill>
              </a:rPr>
              <a:t> 이름이 표시 되지 않는다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A40318A-5C9D-70C2-E6BD-DAE61979F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887" y="723626"/>
            <a:ext cx="9619106" cy="541074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C4CB26-95AD-D3CB-4D66-FCD62C4DF38E}"/>
              </a:ext>
            </a:extLst>
          </p:cNvPr>
          <p:cNvSpPr txBox="1"/>
          <p:nvPr/>
        </p:nvSpPr>
        <p:spPr>
          <a:xfrm>
            <a:off x="9966037" y="5347854"/>
            <a:ext cx="5172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err="1">
                <a:solidFill>
                  <a:schemeClr val="bg1"/>
                </a:solidFill>
              </a:rPr>
              <a:t>김남준</a:t>
            </a:r>
            <a:endParaRPr lang="ko-KR" altLang="en-US" sz="80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440126-B114-882D-64EF-7522E54CFF13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361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30FFD-15B9-E6AD-FF00-0BC3DFFA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811DF72F-34DA-F1A9-C984-EC97E0C808BB}"/>
              </a:ext>
            </a:extLst>
          </p:cNvPr>
          <p:cNvSpPr/>
          <p:nvPr/>
        </p:nvSpPr>
        <p:spPr>
          <a:xfrm>
            <a:off x="1663908" y="0"/>
            <a:ext cx="10528091" cy="31479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438C5F5-F95D-A9F1-31D1-1C8228B36246}"/>
              </a:ext>
            </a:extLst>
          </p:cNvPr>
          <p:cNvSpPr/>
          <p:nvPr/>
        </p:nvSpPr>
        <p:spPr>
          <a:xfrm>
            <a:off x="1" y="0"/>
            <a:ext cx="1663907" cy="314793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/>
              <a:t>학생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B54F127-FFDE-3762-EB79-5769F0F4AC11}"/>
              </a:ext>
            </a:extLst>
          </p:cNvPr>
          <p:cNvSpPr/>
          <p:nvPr/>
        </p:nvSpPr>
        <p:spPr>
          <a:xfrm>
            <a:off x="10903994" y="0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25B2969-03DA-1640-E2DA-C7512A8CD9BF}"/>
              </a:ext>
            </a:extLst>
          </p:cNvPr>
          <p:cNvSpPr/>
          <p:nvPr/>
        </p:nvSpPr>
        <p:spPr>
          <a:xfrm>
            <a:off x="0" y="6134374"/>
            <a:ext cx="1288003" cy="7236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2E92B26-4B9A-0AC1-BC67-A23E5272738C}"/>
              </a:ext>
            </a:extLst>
          </p:cNvPr>
          <p:cNvSpPr/>
          <p:nvPr/>
        </p:nvSpPr>
        <p:spPr>
          <a:xfrm>
            <a:off x="1475955" y="6230858"/>
            <a:ext cx="9240086" cy="530658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err="1">
                <a:solidFill>
                  <a:schemeClr val="bg1"/>
                </a:solidFill>
              </a:rPr>
              <a:t>팀전과</a:t>
            </a:r>
            <a:r>
              <a:rPr lang="ko-KR" altLang="en-US" sz="1100">
                <a:solidFill>
                  <a:schemeClr val="bg1"/>
                </a:solidFill>
              </a:rPr>
              <a:t> </a:t>
            </a:r>
            <a:r>
              <a:rPr lang="ko-KR" altLang="en-US" sz="1100" err="1">
                <a:solidFill>
                  <a:schemeClr val="bg1"/>
                </a:solidFill>
              </a:rPr>
              <a:t>다팀전은</a:t>
            </a:r>
            <a:r>
              <a:rPr lang="ko-KR" altLang="en-US" sz="1100">
                <a:solidFill>
                  <a:schemeClr val="bg1"/>
                </a:solidFill>
              </a:rPr>
              <a:t> 이긴 팀만 보여준다</a:t>
            </a:r>
            <a:r>
              <a:rPr lang="en-US" altLang="ko-KR" sz="110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4F6EB0-6B70-EE8C-1E5C-B593F085C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003" y="723626"/>
            <a:ext cx="9615989" cy="540899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5D8FF3A-3AA2-824A-096B-A242F13760BC}"/>
              </a:ext>
            </a:extLst>
          </p:cNvPr>
          <p:cNvSpPr txBox="1"/>
          <p:nvPr/>
        </p:nvSpPr>
        <p:spPr>
          <a:xfrm>
            <a:off x="9966037" y="5347854"/>
            <a:ext cx="51723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err="1">
                <a:solidFill>
                  <a:schemeClr val="bg1"/>
                </a:solidFill>
              </a:rPr>
              <a:t>김남준</a:t>
            </a:r>
            <a:endParaRPr lang="ko-KR" altLang="en-US" sz="800">
              <a:solidFill>
                <a:schemeClr val="bg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03BA06-0D94-C5CD-F392-9B7FF4A5CD6C}"/>
              </a:ext>
            </a:extLst>
          </p:cNvPr>
          <p:cNvSpPr/>
          <p:nvPr/>
        </p:nvSpPr>
        <p:spPr>
          <a:xfrm>
            <a:off x="11513488" y="6435513"/>
            <a:ext cx="678508" cy="417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rgbClr val="FF000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WEB</a:t>
            </a:r>
            <a:endParaRPr lang="ko-KR" altLang="en-US" b="1">
              <a:solidFill>
                <a:srgbClr val="FF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973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ar"/>
          <p:cNvSpPr>
            <a:spLocks noGrp="1"/>
          </p:cNvSpPr>
          <p:nvPr/>
        </p:nvSpPr>
        <p:spPr>
          <a:xfrm>
            <a:off x="0" y="0"/>
            <a:ext cx="12192000" cy="900000"/>
          </a:xfrm>
          <a:prstGeom prst="rect">
            <a:avLst/>
          </a:prstGeom>
          <a:gradFill>
            <a:gsLst>
              <a:gs pos="0">
                <a:srgbClr val="FF7A00"/>
              </a:gs>
              <a:gs pos="100000">
                <a:srgbClr val="15608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itleText"/>
          <p:cNvSpPr>
            <a:spLocks noGrp="1"/>
          </p:cNvSpPr>
          <p:nvPr/>
        </p:nvSpPr>
        <p:spPr>
          <a:xfrm>
            <a:off x="400000" y="100000"/>
            <a:ext cx="11400000" cy="7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/>
            <a:r>
              <a:rPr lang="ko-KR" altLang="en-US" sz="2800" b="1">
                <a:solidFill>
                  <a:srgbClr val="FFFFFF"/>
                </a:solidFill>
              </a:rPr>
              <a:t>이슈사항 / 추가 논의사항</a:t>
            </a:r>
          </a:p>
        </p:txBody>
      </p:sp>
      <p:sp>
        <p:nvSpPr>
          <p:cNvPr id="12" name="ContentHint"/>
          <p:cNvSpPr>
            <a:spLocks noGrp="1"/>
          </p:cNvSpPr>
          <p:nvPr/>
        </p:nvSpPr>
        <p:spPr>
          <a:xfrm>
            <a:off x="400000" y="1100000"/>
            <a:ext cx="11400000" cy="5000000"/>
          </a:xfrm>
          <a:prstGeom prst="rect">
            <a:avLst/>
          </a:prstGeom>
          <a:solidFill>
            <a:srgbClr val="F5F8FC"/>
          </a:solidFill>
          <a:ln w="18000">
            <a:solidFill>
              <a:srgbClr val="C8D8E8"/>
            </a:solidFill>
          </a:ln>
        </p:spPr>
        <p:txBody>
          <a:bodyPr lIns="182880" tIns="182880" rIns="182880" bIns="182880" anchor="t"/>
          <a:lstStyle/>
          <a:p>
            <a:pPr algn="l"/>
            <a:r>
              <a:rPr lang="ko-KR" altLang="en-US" sz="1600">
                <a:solidFill>
                  <a:srgbClr val="FF0000"/>
                </a:solidFill>
              </a:rPr>
              <a:t>승민</a:t>
            </a:r>
            <a:r>
              <a:rPr lang="en-US" altLang="ko-KR" sz="1600">
                <a:solidFill>
                  <a:srgbClr val="FF0000"/>
                </a:solidFill>
              </a:rPr>
              <a:t>CP</a:t>
            </a:r>
            <a:r>
              <a:rPr lang="ko-KR" altLang="en-US" sz="1600">
                <a:solidFill>
                  <a:srgbClr val="FF0000"/>
                </a:solidFill>
              </a:rPr>
              <a:t>님</a:t>
            </a:r>
            <a:r>
              <a:rPr lang="en-US" altLang="ko-KR" sz="1600">
                <a:solidFill>
                  <a:srgbClr val="FF0000"/>
                </a:solidFill>
              </a:rPr>
              <a:t>~ </a:t>
            </a:r>
            <a:r>
              <a:rPr lang="ko-KR" altLang="en-US" sz="1600">
                <a:solidFill>
                  <a:srgbClr val="FF0000"/>
                </a:solidFill>
              </a:rPr>
              <a:t>여기에 추가 논의사항이나 이슈사항을 작성해 주세요</a:t>
            </a:r>
            <a:r>
              <a:rPr lang="en-US" altLang="ko-KR" sz="1600">
                <a:solidFill>
                  <a:srgbClr val="FF0000"/>
                </a:solidFill>
              </a:rPr>
              <a:t>~!~!</a:t>
            </a:r>
          </a:p>
          <a:p>
            <a:pPr algn="l"/>
            <a:r>
              <a:rPr lang="en-US" altLang="ko-KR" sz="1600">
                <a:solidFill>
                  <a:srgbClr val="FF0000"/>
                </a:solidFill>
              </a:rPr>
              <a:t>(</a:t>
            </a:r>
            <a:r>
              <a:rPr lang="ko-KR" altLang="en-US" sz="1600">
                <a:solidFill>
                  <a:srgbClr val="FF0000"/>
                </a:solidFill>
              </a:rPr>
              <a:t>얘는 나중에 삭제할 장표인데 내용 보고 위 쪽에 녹여도 될 것 같아요</a:t>
            </a:r>
            <a:r>
              <a:rPr lang="en-US" altLang="ko-KR" sz="1600">
                <a:solidFill>
                  <a:srgbClr val="FF0000"/>
                </a:solidFill>
              </a:rPr>
              <a:t>~)</a:t>
            </a:r>
            <a:endParaRPr lang="ko-KR" altLang="en-US" sz="1600">
              <a:solidFill>
                <a:srgbClr val="FF0000"/>
              </a:solidFill>
            </a:endParaRPr>
          </a:p>
        </p:txBody>
      </p:sp>
      <p:sp>
        <p:nvSpPr>
          <p:cNvPr id="13" name="BottomBar"/>
          <p:cNvSpPr>
            <a:spLocks noGrp="1"/>
          </p:cNvSpPr>
          <p:nvPr/>
        </p:nvSpPr>
        <p:spPr>
          <a:xfrm>
            <a:off x="0" y="6480000"/>
            <a:ext cx="12192000" cy="378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Gra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156082">
                  <a:lumMod val="75000"/>
                </a:srgbClr>
              </a:gs>
            </a:gsLst>
            <a:lin ang="15000000" scaled="0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Left"/>
          <p:cNvSpPr>
            <a:spLocks noGrp="1"/>
          </p:cNvSpPr>
          <p:nvPr/>
        </p:nvSpPr>
        <p:spPr>
          <a:xfrm>
            <a:off x="820000" y="2400000"/>
            <a:ext cx="18000" cy="200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MainText"/>
          <p:cNvSpPr>
            <a:spLocks noGrp="1"/>
          </p:cNvSpPr>
          <p:nvPr/>
        </p:nvSpPr>
        <p:spPr>
          <a:xfrm>
            <a:off x="900000" y="2300000"/>
            <a:ext cx="10000000" cy="18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/>
            <a:r>
              <a:rPr lang="ko-KR" altLang="en-US" sz="6000" b="1">
                <a:solidFill>
                  <a:srgbClr val="FFFFFF"/>
                </a:solidFill>
              </a:rPr>
              <a:t>감사합니다.</a:t>
            </a:r>
          </a:p>
        </p:txBody>
      </p:sp>
      <p:sp>
        <p:nvSpPr>
          <p:cNvPr id="13" name="SubText"/>
          <p:cNvSpPr>
            <a:spLocks noGrp="1"/>
          </p:cNvSpPr>
          <p:nvPr/>
        </p:nvSpPr>
        <p:spPr>
          <a:xfrm>
            <a:off x="900000" y="41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/>
          <a:p>
            <a:pPr algn="l"/>
            <a:r>
              <a:rPr lang="en-US" altLang="ko-KR" sz="2000">
                <a:solidFill>
                  <a:srgbClr val="C8D8E8"/>
                </a:solidFill>
              </a:rPr>
              <a:t>에듀테크플랫폼기획 Core | 3D 퀴즈 게임 보고 | 2026.04.16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99685B-9209-40CD-8F36-BF924AB5446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00fb1cf-bd72-4a3c-88ef-7b1cab9ee99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a5b8b3-df39-40d9-8cab-9802e8a8e65c">
      <Terms xmlns="http://schemas.microsoft.com/office/infopath/2007/PartnerControls"/>
    </lcf76f155ced4ddcb4097134ff3c332f>
    <TaxCatchAll xmlns="f96eddc3-ed2c-4501-9373-e747caac084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39C7EB3E8EDF4499865B5FEFADA6687" ma:contentTypeVersion="16" ma:contentTypeDescription="새 문서를 만듭니다." ma:contentTypeScope="" ma:versionID="bb1a2fc2626e17380f40d21a9fb1c0af">
  <xsd:schema xmlns:xsd="http://www.w3.org/2001/XMLSchema" xmlns:xs="http://www.w3.org/2001/XMLSchema" xmlns:p="http://schemas.microsoft.com/office/2006/metadata/properties" xmlns:ns2="36a5b8b3-df39-40d9-8cab-9802e8a8e65c" xmlns:ns3="f96eddc3-ed2c-4501-9373-e747caac0849" targetNamespace="http://schemas.microsoft.com/office/2006/metadata/properties" ma:root="true" ma:fieldsID="a00530cedb95b3427bbd5d9754af5ab5" ns2:_="" ns3:_="">
    <xsd:import namespace="36a5b8b3-df39-40d9-8cab-9802e8a8e65c"/>
    <xsd:import namespace="f96eddc3-ed2c-4501-9373-e747caac08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5b8b3-df39-40d9-8cab-9802e8a8e6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1af7e10e-6c05-47e7-9f2a-c37a57261e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eddc3-ed2c-4501-9373-e747caac084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af54ab5b-ee88-4a4d-b778-57ef1dd970cf}" ma:internalName="TaxCatchAll" ma:showField="CatchAllData" ma:web="f96eddc3-ed2c-4501-9373-e747caac08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8FCF9C-0D6E-4A1D-ACD0-4C2E7D124D08}">
  <ds:schemaRefs>
    <ds:schemaRef ds:uri="http://purl.org/dc/terms/"/>
    <ds:schemaRef ds:uri="f96eddc3-ed2c-4501-9373-e747caac0849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36a5b8b3-df39-40d9-8cab-9802e8a8e65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E062C28-3132-4700-82C1-C76C2374352E}">
  <ds:schemaRefs>
    <ds:schemaRef ds:uri="36a5b8b3-df39-40d9-8cab-9802e8a8e65c"/>
    <ds:schemaRef ds:uri="f96eddc3-ed2c-4501-9373-e747caac084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320A219-0F56-4817-89B6-3A39198321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1555</Words>
  <Application>Microsoft Office PowerPoint</Application>
  <PresentationFormat>와이드스크린</PresentationFormat>
  <Paragraphs>305</Paragraphs>
  <Slides>39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4" baseType="lpstr">
      <vt:lpstr>HY견고딕</vt:lpstr>
      <vt:lpstr>맑은 고딕</vt:lpstr>
      <vt:lpstr>맑은 고딕</vt:lpstr>
      <vt:lpstr>Arial</vt:lpstr>
      <vt:lpstr>Office 테마</vt:lpstr>
      <vt:lpstr>에듀테크플랫폼기획 Core 3D 퀴즈 게임 보고</vt:lpstr>
      <vt:lpstr>목차</vt:lpstr>
      <vt:lpstr>TO. 승민CP님</vt:lpstr>
      <vt:lpstr>[1] 프로젝트 범위 및 일정</vt:lpstr>
      <vt:lpstr>[1] 프로젝트 범위 및 일정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문승민 에듀테크플랫폼서비스기획 Cell</cp:lastModifiedBy>
  <cp:revision>11</cp:revision>
  <dcterms:created xsi:type="dcterms:W3CDTF">2026-04-08T09:58:58Z</dcterms:created>
  <dcterms:modified xsi:type="dcterms:W3CDTF">2026-04-14T11:49:47Z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0x010100D39C7EB3E8EDF4499865B5FEFADA6687</vt:lpwstr>
  </property>
  <property fmtid="{D5CDD505-2E9C-101B-9397-08002B2CF9AE}" pid="3" name="MediaServiceImageTags">
    <vt:lpwstr/>
  </property>
</Properties>
</file>